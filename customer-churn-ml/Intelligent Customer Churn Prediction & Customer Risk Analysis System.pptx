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Quattrocento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gbST3EyFcolv3lTUHdW/GJdKa3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QuattrocentoSans-bold.fntdata"/><Relationship Id="rId23"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boldItalic.fntdata"/><Relationship Id="rId25" Type="http://schemas.openxmlformats.org/officeDocument/2006/relationships/font" Target="fonts/QuattrocentoSans-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Welcome everyone — this is my AI/ML internship project: the Intelligent Customer Churn Prediction and Customer Risk Analysis System.</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My name is Neha Pandey, and I worked on this as an AI/ML Developer Intern. In the next few minutes I'll walk you through the full journey: the problem, the data, the models, and the final customer risk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Project title ② My role as AI/ML intern ③ What the audience will see</a:t>
            </a:r>
            <a:endParaRPr/>
          </a:p>
          <a:p>
            <a:pPr indent="0" lvl="0" marL="0" rtl="0" algn="l">
              <a:spcBef>
                <a:spcPts val="0"/>
              </a:spcBef>
              <a:spcAft>
                <a:spcPts val="0"/>
              </a:spcAft>
              <a:buNone/>
            </a:pPr>
            <a:r>
              <a:rPr lang="zh-CN" sz="1800"/>
              <a:t>Duration: 0.5 minutes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Now, let me tell you what I actually worked on day to day.</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During my internship, I worked on a Customer Churn Prediction project. The main idea was simple: find customers who may leave a company, using customer information like monthly charges, tenure, usage, login frequency, support tickets, complaints, and satisfaction scores.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[Data] I trained Machine Learning models on this data, so the project ultimately answers the question: "Which customers are more likely to leave?" [Pause]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Churn prediction project focus ② The customer data I used ③ The core question answered</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With that context, here is the problem I set out to solve.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Companies have many customers, so it is very difficult to manually identify which customers may leave. So I wanted to build a system that could analyze customer data, find churn-related patterns, predict the possibility of a customer leaving, and divide customers into different risk levels.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Notice the shift — from a manual, effort-based process to an automated, data-driven one.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Manual identification does not scale ② Four system goals ③ From manual to automated</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Based on that problem, these were my ten objectives for the project.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My goal was to cover the complete pipeline: understand the dataset, clean the data, analyze customer behavior, find important churn-related factors, create useful features, train different ML models, compare their performance, predict churn probability, assign risk levels, and finally generate a customer risk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So no matter what comes next, it all traces back to one of these ten steps.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Ten objectives across the full pipeline ② From data understanding to final report ③ The pipeline is end-to-end</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Let me now describe the data I worked with.</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The dataset contained 10,000 customer records and 18 original columns, mixing numerical and categorical data. Key columns included age, tenure, monthly charges, total charges, login frequency, support tickets, complaints, usage hours, and customer satisfaction.</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[Data] The target column was Churn, where 0 means the customer stayed and 1 means the customer left. [Pause]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10,000 records, 18 columns ② Mix of numerical and categorical data ③ Churn is the binary target (0 = stayed, 1 = left)</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Here is the workflow that ties all the steps together — this is the spine of the whole project.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moved through eleven stages: starting with customer data, then data cleaning, data analysis, feature engineering, encoding, train/test split, ML models, model evaluation, churn prediction, risk classification, and finally the customer risk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You can read this as a single funnel — raw data enters at the top, a business-ready risk report comes out at the bottom.</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Eleven sequential stages ② Every step feeds the next ③ Raw data in, risk report out</a:t>
            </a:r>
            <a:endParaRPr/>
          </a:p>
          <a:p>
            <a:pPr indent="0" lvl="0" marL="0" rtl="0" algn="l">
              <a:spcBef>
                <a:spcPts val="0"/>
              </a:spcBef>
              <a:spcAft>
                <a:spcPts val="0"/>
              </a:spcAft>
              <a:buNone/>
            </a:pPr>
            <a:r>
              <a:rPr lang="zh-CN" sz="1800"/>
              <a:t>Duration: 1.5 minutes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Before any modeling, the first real task was making the data trustworthy.</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checked missing values, duplicate Customer IDs, invalid values, and data types, and I handled missing numerical values. [Data] Only after this cleaning step was the data ready for analysis and model training.</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It is unglamorous work, but everything downstream depends on it.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Five cleaning checks ② Handled missing numerical values ③ Clean data is the foundation for modeling</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With clean data in hand, I explored it visually to understand customer behavior.</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created three charts: the customer churn distribution, churn versus monthly charges, and a correlation heatmap. [Data] The most important finding was that monthly charges showed a strong relationship with churn — as monthly charges rise, the churn rate climbs noticeably.</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That single observation shaped the next steps of the project.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Three exploratory charts ② Monthly Charges strongly linked to churn ③ Insight drives later modeling choices</a:t>
            </a:r>
            <a:endParaRPr/>
          </a:p>
          <a:p>
            <a:pPr indent="0" lvl="0" marL="0" rtl="0" algn="l">
              <a:spcBef>
                <a:spcPts val="0"/>
              </a:spcBef>
              <a:spcAft>
                <a:spcPts val="0"/>
              </a:spcAft>
              <a:buNone/>
            </a:pPr>
            <a:r>
              <a:rPr lang="zh-CN" sz="1800"/>
              <a:t>Duration: 1.5 minutes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The EDA pointed the way to smarter features, so I engineered five new ones.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created Customer Lifetime Value as monthly charges times tenure, an Engagement Score based on login frequency, usage, and recent activity, a Support Risk score based on tickets and complaints, an Inactivity Flag for customers who have not logged in recently, and an overall Risk Score derived from customer behavior indicators.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These features turned raw columns into signals the model could actually learn from.</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Five engineered features ② Each captures a distinct behavior signal ③ Raw columns become meaningful predictors</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Now the core of the project — testing the models.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tested three classification models: Logistic Regression, Decision Tree, and Random Forest. [Data] Logistic Regression reached 91.35% accuracy and a 92.60% F1 score, Decision Tree reached 85.90% and 87.70%, and Random Forest reached 92.05% accuracy and a 93.25% F1 score.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Random Forest came out on top, so I used it for the next stage of the project.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Three models tested ② Random Forest scored highest on accuracy and F1 ③ Random Forest selected for the final stage</a:t>
            </a:r>
            <a:endParaRPr/>
          </a:p>
          <a:p>
            <a:pPr indent="0" lvl="0" marL="0" rtl="0" algn="l">
              <a:spcBef>
                <a:spcPts val="0"/>
              </a:spcBef>
              <a:spcAft>
                <a:spcPts val="0"/>
              </a:spcAft>
              <a:buNone/>
            </a:pPr>
            <a:r>
              <a:rPr lang="zh-CN" sz="1800"/>
              <a:t>Duration: 1.5 minutes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8" name="Google Shape;63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Since Random Forest performed best, I then asked: which features actually drove its decisions?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The model showed higher importance for monthly charges, total charges, tenure, usage hours, last login days, customer satisfaction, age, login frequency, support tickets, and complaints. [Data] Monthly Charges had the single highest feature importance.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That confirmed what the EDA had suggested earlier — pricing is the strongest churn signal here.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Ten ranked features ② Monthly Charges ranked highest ③ Confirms the earlier EDA insight</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3" name="Google Shape;70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With a trained model, I could turn raw probabilities into something a business can act on.</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The model gives each customer a churn probability, which I divided into three levels: 0 to 30% is Low risk, 31 to 70% is Medium risk, and 71 to 100% is High risk. [Data] For example, CUST10001 at 97% is High risk, CUST10002 at 39% is Medium, and CUST10003 at 5% is Low.</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So instead of a number, the business gets a clear action label.</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Three probability bands ② Green / orange / red risk levels ③ Example customers mapped to each level</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All of that comes together in the final output — the customer risk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generated a CSV report containing the Customer ID, the actual churn, the churn probability, and the risk level. [Data] For example: CUST10001 shows churn 1 at 97% High; CUST10002 shows churn 0 at 39% Medium; and CUST10003 shows churn 0 at 5% Low.</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The output file is customer_risk_report.csv — a reusable artifact, not just a one-off result.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CSV report with four fields ② Example rows for the three risk levels ③ Output file: customer_risk_report.csv</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So why does this matter for the business?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The prediction can help a company identify high-risk customers, give attention to customers who may leave, understand customer behavior, plan retention offers, and make decisions using customer data. [Pause] Concretely: if a customer has a high churn probability, the company can check their issues and try to retain them.</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The model becomes a proactive tool, not just a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Five business applications ② Proactive retention focus ③ From prediction to action</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Stepping back, let me share what this project taught me as an intern.</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learned how to work with a real ML workflow, how to clean and prepare data, how to perform EDA, how categorical data is converted into numerical data, and how to split data into training and testing sets. I also learned how different ML models work, how to evaluate them using accuracy, precision, recall and F1 score, how to generate predictions from a trained model, and how ML output can be turned into a useful business report.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[Pause] In short — the full lifecycle, not just one isolated skill.</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Nine practical learnings ② Covers the full ML lifecycle ③ Culminates in business-ready output</a:t>
            </a:r>
            <a:endParaRPr/>
          </a:p>
          <a:p>
            <a:pPr indent="0" lvl="0" marL="0" rtl="0" algn="l">
              <a:spcBef>
                <a:spcPts val="0"/>
              </a:spcBef>
              <a:spcAft>
                <a:spcPts val="0"/>
              </a:spcAft>
              <a:buNone/>
            </a:pPr>
            <a:r>
              <a:rPr lang="zh-CN" sz="1800"/>
              <a:t>Duration: 1 minute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4" name="Google Shape;97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Finally, here is where I would take this project next.</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There is clear room to extend it: a simple Streamlit dashboard, a customer-wise prediction page, automated retention suggestions, database integration, real-time prediction, and cloud deployment. [Pause] These steps would turn the current prototype into a deployable, always-on tool.</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Six extension ideas ② From prototype to product ③ Focus on real-time and deployment</a:t>
            </a:r>
            <a:endParaRPr/>
          </a:p>
          <a:p>
            <a:pPr indent="0" lvl="0" marL="0" rtl="0" algn="l">
              <a:spcBef>
                <a:spcPts val="0"/>
              </a:spcBef>
              <a:spcAft>
                <a:spcPts val="0"/>
              </a:spcAft>
              <a:buNone/>
            </a:pPr>
            <a:r>
              <a:rPr lang="zh-CN" sz="1800"/>
              <a:t>Duration: 0.5 minutes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5" name="Google Shape;104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CN" sz="1800"/>
              <a:t>[Transition] Let me bring it all together.</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I worked on the complete process of customer churn prediction — from data cleaning and analysis to Machine Learning and customer risk classification. The final system can predict churn probability and divide customers into Low, Medium, and High risk categories. [Pause]</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Thank you for your time — I'm happy to take any questions.</a:t>
            </a:r>
            <a:endParaRPr/>
          </a:p>
          <a:p>
            <a:pPr indent="0" lvl="0" marL="0" rtl="0" algn="l">
              <a:spcBef>
                <a:spcPts val="0"/>
              </a:spcBef>
              <a:spcAft>
                <a:spcPts val="0"/>
              </a:spcAft>
              <a:buNone/>
            </a:pPr>
            <a:r>
              <a:t/>
            </a:r>
            <a:endParaRPr sz="1800"/>
          </a:p>
          <a:p>
            <a:pPr indent="0" lvl="0" marL="0" rtl="0" algn="l">
              <a:spcBef>
                <a:spcPts val="0"/>
              </a:spcBef>
              <a:spcAft>
                <a:spcPts val="0"/>
              </a:spcAft>
              <a:buNone/>
            </a:pPr>
            <a:r>
              <a:rPr lang="zh-CN" sz="1800"/>
              <a:t>Key points: ① Full end-to-end process delivered ② System outputs three risk categories ③ Thank you and Q&amp;A</a:t>
            </a:r>
            <a:endParaRPr/>
          </a:p>
          <a:p>
            <a:pPr indent="0" lvl="0" marL="0" rtl="0" algn="l">
              <a:spcBef>
                <a:spcPts val="0"/>
              </a:spcBef>
              <a:spcAft>
                <a:spcPts val="0"/>
              </a:spcAft>
              <a:buNone/>
            </a:pPr>
            <a:r>
              <a:rPr lang="zh-CN" sz="1800"/>
              <a:t>Duration: 0.5 minutes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
          <p:cNvSpPr/>
          <p:nvPr/>
        </p:nvSpPr>
        <p:spPr>
          <a:xfrm>
            <a:off x="0" y="0"/>
            <a:ext cx="12192000" cy="6858000"/>
          </a:xfrm>
          <a:prstGeom prst="rect">
            <a:avLst/>
          </a:prstGeom>
          <a:gradFill>
            <a:gsLst>
              <a:gs pos="0">
                <a:srgbClr val="1565C0">
                  <a:alpha val="10196"/>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p:nvPr/>
        </p:nvSpPr>
        <p:spPr>
          <a:xfrm>
            <a:off x="0" y="-61250"/>
            <a:ext cx="12192000" cy="6858000"/>
          </a:xfrm>
          <a:prstGeom prst="rect">
            <a:avLst/>
          </a:prstGeom>
          <a:gradFill>
            <a:gsLst>
              <a:gs pos="0">
                <a:srgbClr val="FF8F00">
                  <a:alpha val="7843"/>
                </a:srgbClr>
              </a:gs>
              <a:gs pos="100000">
                <a:srgbClr val="FF8F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p:nvPr/>
        </p:nvSpPr>
        <p:spPr>
          <a:xfrm>
            <a:off x="0" y="0"/>
            <a:ext cx="12192000" cy="76200"/>
          </a:xfrm>
          <a:prstGeom prst="rect">
            <a:avLst/>
          </a:prstGeom>
          <a:gradFill>
            <a:gsLst>
              <a:gs pos="0">
                <a:srgbClr val="1565C0"/>
              </a:gs>
              <a:gs pos="100000">
                <a:srgbClr val="FF8F0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
          <p:cNvGrpSpPr/>
          <p:nvPr/>
        </p:nvGrpSpPr>
        <p:grpSpPr>
          <a:xfrm>
            <a:off x="786467" y="1714500"/>
            <a:ext cx="10619065" cy="2686050"/>
            <a:chOff x="786467" y="1714500"/>
            <a:chExt cx="10619065" cy="2686050"/>
          </a:xfrm>
        </p:grpSpPr>
        <p:sp>
          <p:nvSpPr>
            <p:cNvPr id="89" name="Google Shape;89;p1"/>
            <p:cNvSpPr/>
            <p:nvPr/>
          </p:nvSpPr>
          <p:spPr>
            <a:xfrm>
              <a:off x="5829300" y="1714500"/>
              <a:ext cx="533400" cy="533400"/>
            </a:xfrm>
            <a:custGeom>
              <a:rect b="b" l="l" r="r" t="t"/>
              <a:pathLst>
                <a:path extrusionOk="0" h="533400" w="533400">
                  <a:moveTo>
                    <a:pt x="133350" y="0"/>
                  </a:moveTo>
                  <a:lnTo>
                    <a:pt x="400050" y="0"/>
                  </a:lnTo>
                  <a:cubicBezTo>
                    <a:pt x="473697" y="0"/>
                    <a:pt x="533400" y="59703"/>
                    <a:pt x="533400" y="133350"/>
                  </a:cubicBezTo>
                  <a:lnTo>
                    <a:pt x="533400" y="400050"/>
                  </a:lnTo>
                  <a:cubicBezTo>
                    <a:pt x="533400" y="473697"/>
                    <a:pt x="473697" y="533400"/>
                    <a:pt x="400050" y="533400"/>
                  </a:cubicBezTo>
                  <a:lnTo>
                    <a:pt x="133350" y="533400"/>
                  </a:lnTo>
                  <a:cubicBezTo>
                    <a:pt x="59703" y="533400"/>
                    <a:pt x="0" y="473697"/>
                    <a:pt x="0" y="400050"/>
                  </a:cubicBezTo>
                  <a:lnTo>
                    <a:pt x="0" y="133350"/>
                  </a:lnTo>
                  <a:cubicBezTo>
                    <a:pt x="0" y="59703"/>
                    <a:pt x="59703" y="0"/>
                    <a:pt x="133350" y="0"/>
                  </a:cubicBezTo>
                  <a:close/>
                </a:path>
              </a:pathLst>
            </a:cu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1"/>
            <p:cNvGrpSpPr/>
            <p:nvPr/>
          </p:nvGrpSpPr>
          <p:grpSpPr>
            <a:xfrm>
              <a:off x="5995988" y="1881188"/>
              <a:ext cx="200025" cy="200025"/>
              <a:chOff x="5995988" y="1881188"/>
              <a:chExt cx="200025" cy="200025"/>
            </a:xfrm>
          </p:grpSpPr>
          <p:sp>
            <p:nvSpPr>
              <p:cNvPr id="91" name="Google Shape;91;p1"/>
              <p:cNvSpPr/>
              <p:nvPr/>
            </p:nvSpPr>
            <p:spPr>
              <a:xfrm>
                <a:off x="5995988" y="1881188"/>
                <a:ext cx="200025" cy="200025"/>
              </a:xfrm>
              <a:custGeom>
                <a:rect b="b" l="l" r="r" t="t"/>
                <a:pathLst>
                  <a:path extrusionOk="0" h="200025" w="200025">
                    <a:moveTo>
                      <a:pt x="0" y="0"/>
                    </a:moveTo>
                    <a:lnTo>
                      <a:pt x="0" y="200025"/>
                    </a:lnTo>
                    <a:lnTo>
                      <a:pt x="200025" y="200025"/>
                    </a:lnTo>
                    <a:lnTo>
                      <a:pt x="200025" y="171450"/>
                    </a:lnTo>
                    <a:lnTo>
                      <a:pt x="28575" y="171450"/>
                    </a:lnTo>
                    <a:lnTo>
                      <a:pt x="28575" y="0"/>
                    </a:lnTo>
                    <a:lnTo>
                      <a:pt x="0" y="0"/>
                    </a:lnTo>
                    <a:close/>
                  </a:path>
                </a:pathLst>
              </a:custGeom>
              <a:solidFill>
                <a:srgbClr val="1565C0"/>
              </a:solidFill>
              <a:ln>
                <a:noFill/>
              </a:ln>
            </p:spPr>
          </p:sp>
          <p:sp>
            <p:nvSpPr>
              <p:cNvPr id="92" name="Google Shape;92;p1"/>
              <p:cNvSpPr/>
              <p:nvPr/>
            </p:nvSpPr>
            <p:spPr>
              <a:xfrm>
                <a:off x="6053138" y="1909762"/>
                <a:ext cx="142875" cy="114300"/>
              </a:xfrm>
              <a:custGeom>
                <a:rect b="b" l="l" r="r" t="t"/>
                <a:pathLst>
                  <a:path extrusionOk="0" h="114300" w="142875">
                    <a:moveTo>
                      <a:pt x="0" y="57150"/>
                    </a:moveTo>
                    <a:lnTo>
                      <a:pt x="28575" y="28575"/>
                    </a:lnTo>
                    <a:lnTo>
                      <a:pt x="71438" y="71438"/>
                    </a:lnTo>
                    <a:lnTo>
                      <a:pt x="142875" y="0"/>
                    </a:lnTo>
                    <a:lnTo>
                      <a:pt x="142875" y="114300"/>
                    </a:lnTo>
                    <a:lnTo>
                      <a:pt x="0" y="114300"/>
                    </a:lnTo>
                    <a:lnTo>
                      <a:pt x="0" y="57150"/>
                    </a:lnTo>
                    <a:close/>
                  </a:path>
                </a:pathLst>
              </a:custGeom>
              <a:solidFill>
                <a:srgbClr val="1565C0"/>
              </a:solidFill>
              <a:ln>
                <a:noFill/>
              </a:ln>
            </p:spPr>
          </p:sp>
        </p:grpSp>
        <p:sp>
          <p:nvSpPr>
            <p:cNvPr id="93" name="Google Shape;93;p1"/>
            <p:cNvSpPr txBox="1"/>
            <p:nvPr/>
          </p:nvSpPr>
          <p:spPr>
            <a:xfrm>
              <a:off x="4430735" y="2548890"/>
              <a:ext cx="3330531" cy="3657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800" u="none" cap="none" strike="noStrike">
                  <a:solidFill>
                    <a:srgbClr val="1565C0"/>
                  </a:solidFill>
                  <a:latin typeface="Quattrocento Sans"/>
                  <a:ea typeface="Quattrocento Sans"/>
                  <a:cs typeface="Quattrocento Sans"/>
                  <a:sym typeface="Quattrocento Sans"/>
                </a:rPr>
                <a:t>AI/ML Internship Project</a:t>
              </a:r>
              <a:endParaRPr/>
            </a:p>
          </p:txBody>
        </p:sp>
        <p:sp>
          <p:nvSpPr>
            <p:cNvPr id="94" name="Google Shape;94;p1"/>
            <p:cNvSpPr txBox="1"/>
            <p:nvPr/>
          </p:nvSpPr>
          <p:spPr>
            <a:xfrm>
              <a:off x="786467" y="3043238"/>
              <a:ext cx="10619065" cy="762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3750" u="none" cap="none" strike="noStrike">
                  <a:solidFill>
                    <a:srgbClr val="1F2933"/>
                  </a:solidFill>
                  <a:latin typeface="Quattrocento Sans"/>
                  <a:ea typeface="Quattrocento Sans"/>
                  <a:cs typeface="Quattrocento Sans"/>
                  <a:sym typeface="Quattrocento Sans"/>
                </a:rPr>
                <a:t>Intelligent Customer Churn Prediction</a:t>
              </a:r>
              <a:endParaRPr/>
            </a:p>
          </p:txBody>
        </p:sp>
        <p:sp>
          <p:nvSpPr>
            <p:cNvPr id="95" name="Google Shape;95;p1"/>
            <p:cNvSpPr txBox="1"/>
            <p:nvPr/>
          </p:nvSpPr>
          <p:spPr>
            <a:xfrm>
              <a:off x="1534061" y="3614738"/>
              <a:ext cx="9123878" cy="762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3750" u="none" cap="none" strike="noStrike">
                  <a:solidFill>
                    <a:srgbClr val="1F2933"/>
                  </a:solidFill>
                  <a:latin typeface="Quattrocento Sans"/>
                  <a:ea typeface="Quattrocento Sans"/>
                  <a:cs typeface="Quattrocento Sans"/>
                  <a:sym typeface="Quattrocento Sans"/>
                </a:rPr>
                <a:t>&amp; Customer Risk Analysis System</a:t>
              </a:r>
              <a:endParaRPr/>
            </a:p>
          </p:txBody>
        </p:sp>
        <p:sp>
          <p:nvSpPr>
            <p:cNvPr id="96" name="Google Shape;96;p1"/>
            <p:cNvSpPr/>
            <p:nvPr/>
          </p:nvSpPr>
          <p:spPr>
            <a:xfrm>
              <a:off x="5143500" y="4362450"/>
              <a:ext cx="1905000" cy="38100"/>
            </a:xfrm>
            <a:custGeom>
              <a:rect b="b" l="l" r="r" t="t"/>
              <a:pathLst>
                <a:path extrusionOk="0" h="38100" w="1905000">
                  <a:moveTo>
                    <a:pt x="19050" y="0"/>
                  </a:moveTo>
                  <a:lnTo>
                    <a:pt x="1885950" y="0"/>
                  </a:lnTo>
                  <a:cubicBezTo>
                    <a:pt x="1896471" y="0"/>
                    <a:pt x="1905000" y="8529"/>
                    <a:pt x="1905000" y="19050"/>
                  </a:cubicBezTo>
                  <a:lnTo>
                    <a:pt x="1905000" y="19050"/>
                  </a:lnTo>
                  <a:cubicBezTo>
                    <a:pt x="1905000" y="29571"/>
                    <a:pt x="1896471" y="38100"/>
                    <a:pt x="18859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1565C0"/>
                </a:gs>
                <a:gs pos="100000">
                  <a:srgbClr val="42A5F5"/>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
          <p:cNvSpPr txBox="1"/>
          <p:nvPr/>
        </p:nvSpPr>
        <p:spPr>
          <a:xfrm>
            <a:off x="3461456" y="4807268"/>
            <a:ext cx="5269200" cy="415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Presented by:</a:t>
            </a:r>
            <a:r>
              <a:rPr b="1" i="0" lang="zh-CN" sz="1350" u="none" cap="none" strike="noStrike">
                <a:solidFill>
                  <a:srgbClr val="1F2933"/>
                </a:solidFill>
                <a:latin typeface="Quattrocento Sans"/>
                <a:ea typeface="Quattrocento Sans"/>
                <a:cs typeface="Quattrocento Sans"/>
                <a:sym typeface="Quattrocento Sans"/>
              </a:rPr>
              <a:t>Neha Pandey</a:t>
            </a:r>
            <a:endParaRPr b="0" i="0" sz="1350" u="none" cap="none" strike="noStrike">
              <a:solidFill>
                <a:srgbClr val="9AA5B1"/>
              </a:solidFill>
              <a:latin typeface="Quattrocento Sans"/>
              <a:ea typeface="Quattrocento Sans"/>
              <a:cs typeface="Quattrocento Sans"/>
              <a:sym typeface="Quattrocento Sans"/>
            </a:endParaRPr>
          </a:p>
          <a:p>
            <a:pPr indent="0" lvl="0" marL="0" marR="0" rtl="0" algn="ct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Role:</a:t>
            </a:r>
            <a:r>
              <a:rPr b="1" i="0" lang="zh-CN" sz="1350" u="none" cap="none" strike="noStrike">
                <a:solidFill>
                  <a:srgbClr val="1F2933"/>
                </a:solidFill>
                <a:latin typeface="Quattrocento Sans"/>
                <a:ea typeface="Quattrocento Sans"/>
                <a:cs typeface="Quattrocento Sans"/>
                <a:sym typeface="Quattrocento Sans"/>
              </a:rPr>
              <a:t>AI/ML  Intern</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0" y="0"/>
            <a:ext cx="12192000" cy="6858000"/>
          </a:xfrm>
          <a:prstGeom prst="rect">
            <a:avLst/>
          </a:prstGeom>
          <a:gradFill>
            <a:gsLst>
              <a:gs pos="0">
                <a:srgbClr val="1565C0">
                  <a:alpha val="5882"/>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 name="Google Shape;104;p3"/>
          <p:cNvGrpSpPr/>
          <p:nvPr/>
        </p:nvGrpSpPr>
        <p:grpSpPr>
          <a:xfrm>
            <a:off x="541020" y="483870"/>
            <a:ext cx="3226156" cy="487680"/>
            <a:chOff x="541020" y="483870"/>
            <a:chExt cx="3226156" cy="487680"/>
          </a:xfrm>
        </p:grpSpPr>
        <p:sp>
          <p:nvSpPr>
            <p:cNvPr id="105" name="Google Shape;105;p3"/>
            <p:cNvSpPr txBox="1"/>
            <p:nvPr/>
          </p:nvSpPr>
          <p:spPr>
            <a:xfrm>
              <a:off x="541020" y="483870"/>
              <a:ext cx="3226156"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About the Project</a:t>
              </a:r>
              <a:endParaRPr/>
            </a:p>
          </p:txBody>
        </p:sp>
        <p:sp>
          <p:nvSpPr>
            <p:cNvPr id="106" name="Google Shape;106;p3"/>
            <p:cNvSpPr/>
            <p:nvPr/>
          </p:nvSpPr>
          <p:spPr>
            <a:xfrm>
              <a:off x="571500" y="8953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 name="Google Shape;107;p3"/>
          <p:cNvGrpSpPr/>
          <p:nvPr/>
        </p:nvGrpSpPr>
        <p:grpSpPr>
          <a:xfrm>
            <a:off x="550545" y="1676400"/>
            <a:ext cx="2877026" cy="2524125"/>
            <a:chOff x="550545" y="1676400"/>
            <a:chExt cx="2877026" cy="2524125"/>
          </a:xfrm>
        </p:grpSpPr>
        <p:sp>
          <p:nvSpPr>
            <p:cNvPr id="108" name="Google Shape;108;p3"/>
            <p:cNvSpPr/>
            <p:nvPr/>
          </p:nvSpPr>
          <p:spPr>
            <a:xfrm>
              <a:off x="571500" y="1676400"/>
              <a:ext cx="533400" cy="533400"/>
            </a:xfrm>
            <a:custGeom>
              <a:rect b="b" l="l" r="r" t="t"/>
              <a:pathLst>
                <a:path extrusionOk="0" h="533400" w="533400">
                  <a:moveTo>
                    <a:pt x="133350" y="0"/>
                  </a:moveTo>
                  <a:lnTo>
                    <a:pt x="400050" y="0"/>
                  </a:lnTo>
                  <a:cubicBezTo>
                    <a:pt x="473697" y="0"/>
                    <a:pt x="533400" y="59703"/>
                    <a:pt x="533400" y="133350"/>
                  </a:cubicBezTo>
                  <a:lnTo>
                    <a:pt x="533400" y="400050"/>
                  </a:lnTo>
                  <a:cubicBezTo>
                    <a:pt x="533400" y="473697"/>
                    <a:pt x="473697" y="533400"/>
                    <a:pt x="400050" y="533400"/>
                  </a:cubicBezTo>
                  <a:lnTo>
                    <a:pt x="133350" y="533400"/>
                  </a:lnTo>
                  <a:cubicBezTo>
                    <a:pt x="59703" y="533400"/>
                    <a:pt x="0" y="473697"/>
                    <a:pt x="0" y="400050"/>
                  </a:cubicBezTo>
                  <a:lnTo>
                    <a:pt x="0" y="133350"/>
                  </a:lnTo>
                  <a:cubicBezTo>
                    <a:pt x="0" y="59703"/>
                    <a:pt x="59703" y="0"/>
                    <a:pt x="133350" y="0"/>
                  </a:cubicBezTo>
                  <a:close/>
                </a:path>
              </a:pathLst>
            </a:cu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3"/>
            <p:cNvGrpSpPr/>
            <p:nvPr/>
          </p:nvGrpSpPr>
          <p:grpSpPr>
            <a:xfrm>
              <a:off x="723900" y="1828800"/>
              <a:ext cx="228600" cy="228600"/>
              <a:chOff x="723900" y="1828800"/>
              <a:chExt cx="228600" cy="228600"/>
            </a:xfrm>
          </p:grpSpPr>
          <p:sp>
            <p:nvSpPr>
              <p:cNvPr id="110" name="Google Shape;110;p3"/>
              <p:cNvSpPr/>
              <p:nvPr/>
            </p:nvSpPr>
            <p:spPr>
              <a:xfrm>
                <a:off x="809625" y="1914525"/>
                <a:ext cx="57150" cy="57150"/>
              </a:xfrm>
              <a:custGeom>
                <a:rect b="b" l="l" r="r" t="t"/>
                <a:pathLst>
                  <a:path extrusionOk="0" h="57150" w="57150">
                    <a:moveTo>
                      <a:pt x="0" y="57150"/>
                    </a:moveTo>
                    <a:lnTo>
                      <a:pt x="0" y="0"/>
                    </a:lnTo>
                    <a:lnTo>
                      <a:pt x="57150" y="0"/>
                    </a:lnTo>
                    <a:lnTo>
                      <a:pt x="57150" y="57150"/>
                    </a:lnTo>
                    <a:lnTo>
                      <a:pt x="0" y="57150"/>
                    </a:lnTo>
                    <a:close/>
                  </a:path>
                </a:pathLst>
              </a:custGeom>
              <a:solidFill>
                <a:srgbClr val="1565C0"/>
              </a:solidFill>
              <a:ln>
                <a:noFill/>
              </a:ln>
            </p:spPr>
          </p:sp>
          <p:sp>
            <p:nvSpPr>
              <p:cNvPr id="111" name="Google Shape;111;p3"/>
              <p:cNvSpPr/>
              <p:nvPr/>
            </p:nvSpPr>
            <p:spPr>
              <a:xfrm>
                <a:off x="723900" y="1828800"/>
                <a:ext cx="228600" cy="228600"/>
              </a:xfrm>
              <a:custGeom>
                <a:rect b="b" l="l" r="r" t="t"/>
                <a:pathLst>
                  <a:path extrusionOk="0" h="228600" w="228600">
                    <a:moveTo>
                      <a:pt x="42862" y="28575"/>
                    </a:moveTo>
                    <a:lnTo>
                      <a:pt x="42862" y="0"/>
                    </a:lnTo>
                    <a:lnTo>
                      <a:pt x="71438" y="0"/>
                    </a:lnTo>
                    <a:lnTo>
                      <a:pt x="71438" y="28575"/>
                    </a:lnTo>
                    <a:lnTo>
                      <a:pt x="100012" y="28575"/>
                    </a:lnTo>
                    <a:lnTo>
                      <a:pt x="100012" y="0"/>
                    </a:lnTo>
                    <a:lnTo>
                      <a:pt x="128588" y="0"/>
                    </a:lnTo>
                    <a:lnTo>
                      <a:pt x="128588" y="28575"/>
                    </a:lnTo>
                    <a:lnTo>
                      <a:pt x="157162" y="28575"/>
                    </a:lnTo>
                    <a:lnTo>
                      <a:pt x="157162" y="0"/>
                    </a:lnTo>
                    <a:lnTo>
                      <a:pt x="185738" y="0"/>
                    </a:lnTo>
                    <a:lnTo>
                      <a:pt x="185738" y="28575"/>
                    </a:lnTo>
                    <a:lnTo>
                      <a:pt x="200025" y="28575"/>
                    </a:lnTo>
                    <a:lnTo>
                      <a:pt x="200025" y="42862"/>
                    </a:lnTo>
                    <a:lnTo>
                      <a:pt x="228600" y="42862"/>
                    </a:lnTo>
                    <a:lnTo>
                      <a:pt x="228600" y="71438"/>
                    </a:lnTo>
                    <a:lnTo>
                      <a:pt x="200025" y="71438"/>
                    </a:lnTo>
                    <a:lnTo>
                      <a:pt x="200025" y="100012"/>
                    </a:lnTo>
                    <a:lnTo>
                      <a:pt x="228600" y="100012"/>
                    </a:lnTo>
                    <a:lnTo>
                      <a:pt x="228600" y="128588"/>
                    </a:lnTo>
                    <a:lnTo>
                      <a:pt x="200025" y="128588"/>
                    </a:lnTo>
                    <a:lnTo>
                      <a:pt x="200025" y="157162"/>
                    </a:lnTo>
                    <a:lnTo>
                      <a:pt x="228600" y="157162"/>
                    </a:lnTo>
                    <a:lnTo>
                      <a:pt x="228600" y="185738"/>
                    </a:lnTo>
                    <a:lnTo>
                      <a:pt x="200025" y="185738"/>
                    </a:lnTo>
                    <a:lnTo>
                      <a:pt x="200025" y="200025"/>
                    </a:lnTo>
                    <a:lnTo>
                      <a:pt x="185738" y="200025"/>
                    </a:lnTo>
                    <a:lnTo>
                      <a:pt x="185738" y="228600"/>
                    </a:lnTo>
                    <a:lnTo>
                      <a:pt x="157162" y="228600"/>
                    </a:lnTo>
                    <a:lnTo>
                      <a:pt x="157162" y="200025"/>
                    </a:lnTo>
                    <a:lnTo>
                      <a:pt x="128588" y="200025"/>
                    </a:lnTo>
                    <a:lnTo>
                      <a:pt x="128588" y="228600"/>
                    </a:lnTo>
                    <a:lnTo>
                      <a:pt x="100012" y="228600"/>
                    </a:lnTo>
                    <a:lnTo>
                      <a:pt x="100012" y="200025"/>
                    </a:lnTo>
                    <a:lnTo>
                      <a:pt x="71438" y="200025"/>
                    </a:lnTo>
                    <a:lnTo>
                      <a:pt x="71438" y="228600"/>
                    </a:lnTo>
                    <a:lnTo>
                      <a:pt x="42862" y="228600"/>
                    </a:lnTo>
                    <a:lnTo>
                      <a:pt x="42862" y="200025"/>
                    </a:lnTo>
                    <a:lnTo>
                      <a:pt x="28575" y="200025"/>
                    </a:lnTo>
                    <a:lnTo>
                      <a:pt x="28575" y="185738"/>
                    </a:lnTo>
                    <a:lnTo>
                      <a:pt x="0" y="185738"/>
                    </a:lnTo>
                    <a:lnTo>
                      <a:pt x="0" y="157162"/>
                    </a:lnTo>
                    <a:lnTo>
                      <a:pt x="28575" y="157162"/>
                    </a:lnTo>
                    <a:lnTo>
                      <a:pt x="28575" y="128588"/>
                    </a:lnTo>
                    <a:lnTo>
                      <a:pt x="0" y="128588"/>
                    </a:lnTo>
                    <a:lnTo>
                      <a:pt x="0" y="100012"/>
                    </a:lnTo>
                    <a:lnTo>
                      <a:pt x="28575" y="100012"/>
                    </a:lnTo>
                    <a:lnTo>
                      <a:pt x="28575" y="71438"/>
                    </a:lnTo>
                    <a:lnTo>
                      <a:pt x="0" y="71438"/>
                    </a:lnTo>
                    <a:lnTo>
                      <a:pt x="0" y="42862"/>
                    </a:lnTo>
                    <a:lnTo>
                      <a:pt x="28575" y="42862"/>
                    </a:lnTo>
                    <a:lnTo>
                      <a:pt x="28575" y="28575"/>
                    </a:lnTo>
                    <a:lnTo>
                      <a:pt x="42862" y="28575"/>
                    </a:lnTo>
                    <a:close/>
                    <a:moveTo>
                      <a:pt x="57150" y="57150"/>
                    </a:moveTo>
                    <a:lnTo>
                      <a:pt x="57150" y="171450"/>
                    </a:lnTo>
                    <a:lnTo>
                      <a:pt x="171450" y="171450"/>
                    </a:lnTo>
                    <a:lnTo>
                      <a:pt x="171450" y="57150"/>
                    </a:lnTo>
                    <a:lnTo>
                      <a:pt x="57150" y="57150"/>
                    </a:lnTo>
                    <a:close/>
                  </a:path>
                </a:pathLst>
              </a:custGeom>
              <a:solidFill>
                <a:srgbClr val="1565C0"/>
              </a:solidFill>
              <a:ln>
                <a:noFill/>
              </a:ln>
            </p:spPr>
          </p:sp>
        </p:grpSp>
        <p:sp>
          <p:nvSpPr>
            <p:cNvPr id="112" name="Google Shape;112;p3"/>
            <p:cNvSpPr txBox="1"/>
            <p:nvPr/>
          </p:nvSpPr>
          <p:spPr>
            <a:xfrm>
              <a:off x="550545" y="2412682"/>
              <a:ext cx="2407756"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1565C0"/>
                  </a:solidFill>
                  <a:latin typeface="Quattrocento Sans"/>
                  <a:ea typeface="Quattrocento Sans"/>
                  <a:cs typeface="Quattrocento Sans"/>
                  <a:sym typeface="Quattrocento Sans"/>
                </a:rPr>
                <a:t>What did I work on?</a:t>
              </a:r>
              <a:endParaRPr/>
            </a:p>
          </p:txBody>
        </p:sp>
        <p:sp>
          <p:nvSpPr>
            <p:cNvPr id="113" name="Google Shape;113;p3"/>
            <p:cNvSpPr txBox="1"/>
            <p:nvPr/>
          </p:nvSpPr>
          <p:spPr>
            <a:xfrm>
              <a:off x="552450" y="2981325"/>
              <a:ext cx="222885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I built a system that</a:t>
              </a:r>
              <a:endParaRPr/>
            </a:p>
          </p:txBody>
        </p:sp>
        <p:sp>
          <p:nvSpPr>
            <p:cNvPr id="114" name="Google Shape;114;p3"/>
            <p:cNvSpPr txBox="1"/>
            <p:nvPr/>
          </p:nvSpPr>
          <p:spPr>
            <a:xfrm>
              <a:off x="552450" y="3286125"/>
              <a:ext cx="287512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predicts customer churn —</a:t>
              </a:r>
              <a:endParaRPr/>
            </a:p>
          </p:txBody>
        </p:sp>
        <p:sp>
          <p:nvSpPr>
            <p:cNvPr id="115" name="Google Shape;115;p3"/>
            <p:cNvSpPr txBox="1"/>
            <p:nvPr/>
          </p:nvSpPr>
          <p:spPr>
            <a:xfrm>
              <a:off x="552450" y="3590925"/>
              <a:ext cx="236029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who is likely to leave,</a:t>
              </a:r>
              <a:endParaRPr/>
            </a:p>
          </p:txBody>
        </p:sp>
        <p:sp>
          <p:nvSpPr>
            <p:cNvPr id="116" name="Google Shape;116;p3"/>
            <p:cNvSpPr txBox="1"/>
            <p:nvPr/>
          </p:nvSpPr>
          <p:spPr>
            <a:xfrm>
              <a:off x="552450" y="3895725"/>
              <a:ext cx="99107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and why.</a:t>
              </a:r>
              <a:endParaRPr/>
            </a:p>
          </p:txBody>
        </p:sp>
      </p:grpSp>
      <p:grpSp>
        <p:nvGrpSpPr>
          <p:cNvPr id="117" name="Google Shape;117;p3"/>
          <p:cNvGrpSpPr/>
          <p:nvPr/>
        </p:nvGrpSpPr>
        <p:grpSpPr>
          <a:xfrm>
            <a:off x="4554855" y="1676400"/>
            <a:ext cx="7065645" cy="2700338"/>
            <a:chOff x="4554855" y="1676400"/>
            <a:chExt cx="7065645" cy="2700338"/>
          </a:xfrm>
        </p:grpSpPr>
        <p:sp>
          <p:nvSpPr>
            <p:cNvPr id="118" name="Google Shape;118;p3"/>
            <p:cNvSpPr/>
            <p:nvPr/>
          </p:nvSpPr>
          <p:spPr>
            <a:xfrm>
              <a:off x="4572000" y="1676400"/>
              <a:ext cx="7048500" cy="9525"/>
            </a:xfrm>
            <a:custGeom>
              <a:rect b="b" l="l" r="r" t="t"/>
              <a:pathLst>
                <a:path extrusionOk="0" h="9525" w="7048500">
                  <a:moveTo>
                    <a:pt x="0" y="0"/>
                  </a:moveTo>
                  <a:lnTo>
                    <a:pt x="7048500" y="0"/>
                  </a:lnTo>
                </a:path>
              </a:pathLst>
            </a:custGeom>
            <a:noFill/>
            <a:ln cap="flat" cmpd="sng" w="9525">
              <a:solidFill>
                <a:srgbClr val="E3E8EF"/>
              </a:solidFill>
              <a:prstDash val="solid"/>
              <a:round/>
              <a:headEnd len="sm" w="sm" type="none"/>
              <a:tailEnd len="sm" w="sm" type="none"/>
            </a:ln>
          </p:spPr>
        </p:sp>
        <p:sp>
          <p:nvSpPr>
            <p:cNvPr id="119" name="Google Shape;119;p3"/>
            <p:cNvSpPr txBox="1"/>
            <p:nvPr/>
          </p:nvSpPr>
          <p:spPr>
            <a:xfrm>
              <a:off x="4554855" y="1911668"/>
              <a:ext cx="690557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During my internship, I worked on a Customer Churn Prediction project.</a:t>
              </a:r>
              <a:endParaRPr/>
            </a:p>
          </p:txBody>
        </p:sp>
        <p:sp>
          <p:nvSpPr>
            <p:cNvPr id="120" name="Google Shape;120;p3"/>
            <p:cNvSpPr txBox="1"/>
            <p:nvPr/>
          </p:nvSpPr>
          <p:spPr>
            <a:xfrm>
              <a:off x="4554855" y="2178368"/>
              <a:ext cx="60380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The main idea was to find customers who may leave a company.</a:t>
              </a:r>
              <a:endParaRPr/>
            </a:p>
          </p:txBody>
        </p:sp>
        <p:sp>
          <p:nvSpPr>
            <p:cNvPr id="121" name="Google Shape;121;p3"/>
            <p:cNvSpPr/>
            <p:nvPr/>
          </p:nvSpPr>
          <p:spPr>
            <a:xfrm>
              <a:off x="4572000" y="2647950"/>
              <a:ext cx="7048500" cy="9525"/>
            </a:xfrm>
            <a:custGeom>
              <a:rect b="b" l="l" r="r" t="t"/>
              <a:pathLst>
                <a:path extrusionOk="0" h="9525" w="7048500">
                  <a:moveTo>
                    <a:pt x="0" y="0"/>
                  </a:moveTo>
                  <a:lnTo>
                    <a:pt x="7048500" y="0"/>
                  </a:lnTo>
                </a:path>
              </a:pathLst>
            </a:custGeom>
            <a:noFill/>
            <a:ln cap="flat" cmpd="sng" w="9525">
              <a:solidFill>
                <a:srgbClr val="E3E8EF"/>
              </a:solidFill>
              <a:prstDash val="solid"/>
              <a:round/>
              <a:headEnd len="sm" w="sm" type="none"/>
              <a:tailEnd len="sm" w="sm" type="none"/>
            </a:ln>
          </p:spPr>
        </p:sp>
        <p:sp>
          <p:nvSpPr>
            <p:cNvPr id="122" name="Google Shape;122;p3"/>
            <p:cNvSpPr txBox="1"/>
            <p:nvPr/>
          </p:nvSpPr>
          <p:spPr>
            <a:xfrm>
              <a:off x="4554855" y="2883218"/>
              <a:ext cx="362273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I used customer information such as:</a:t>
              </a:r>
              <a:endParaRPr/>
            </a:p>
          </p:txBody>
        </p:sp>
        <p:sp>
          <p:nvSpPr>
            <p:cNvPr id="123" name="Google Shape;123;p3"/>
            <p:cNvSpPr txBox="1"/>
            <p:nvPr/>
          </p:nvSpPr>
          <p:spPr>
            <a:xfrm>
              <a:off x="4555808" y="3177064"/>
              <a:ext cx="6382274"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75" u="none" cap="none" strike="noStrike">
                  <a:solidFill>
                    <a:srgbClr val="52606D"/>
                  </a:solidFill>
                  <a:latin typeface="Quattrocento Sans"/>
                  <a:ea typeface="Quattrocento Sans"/>
                  <a:cs typeface="Quattrocento Sans"/>
                  <a:sym typeface="Quattrocento Sans"/>
                </a:rPr>
                <a:t>Monthly charges · Tenure · Usage · Login frequency · Support tickets</a:t>
              </a:r>
              <a:endParaRPr/>
            </a:p>
          </p:txBody>
        </p:sp>
        <p:sp>
          <p:nvSpPr>
            <p:cNvPr id="124" name="Google Shape;124;p3"/>
            <p:cNvSpPr txBox="1"/>
            <p:nvPr/>
          </p:nvSpPr>
          <p:spPr>
            <a:xfrm>
              <a:off x="4555808" y="3405664"/>
              <a:ext cx="3263194"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75" u="none" cap="none" strike="noStrike">
                  <a:solidFill>
                    <a:srgbClr val="52606D"/>
                  </a:solidFill>
                  <a:latin typeface="Quattrocento Sans"/>
                  <a:ea typeface="Quattrocento Sans"/>
                  <a:cs typeface="Quattrocento Sans"/>
                  <a:sym typeface="Quattrocento Sans"/>
                </a:rPr>
                <a:t>Complaints · Customer satisfaction</a:t>
              </a:r>
              <a:endParaRPr/>
            </a:p>
          </p:txBody>
        </p:sp>
        <p:sp>
          <p:nvSpPr>
            <p:cNvPr id="125" name="Google Shape;125;p3"/>
            <p:cNvSpPr/>
            <p:nvPr/>
          </p:nvSpPr>
          <p:spPr>
            <a:xfrm>
              <a:off x="4572000" y="3867150"/>
              <a:ext cx="7048500" cy="9525"/>
            </a:xfrm>
            <a:custGeom>
              <a:rect b="b" l="l" r="r" t="t"/>
              <a:pathLst>
                <a:path extrusionOk="0" h="9525" w="7048500">
                  <a:moveTo>
                    <a:pt x="0" y="0"/>
                  </a:moveTo>
                  <a:lnTo>
                    <a:pt x="7048500" y="0"/>
                  </a:lnTo>
                </a:path>
              </a:pathLst>
            </a:custGeom>
            <a:noFill/>
            <a:ln cap="flat" cmpd="sng" w="9525">
              <a:solidFill>
                <a:srgbClr val="E3E8EF"/>
              </a:solidFill>
              <a:prstDash val="solid"/>
              <a:round/>
              <a:headEnd len="sm" w="sm" type="none"/>
              <a:tailEnd len="sm" w="sm" type="none"/>
            </a:ln>
          </p:spPr>
        </p:sp>
        <p:sp>
          <p:nvSpPr>
            <p:cNvPr id="126" name="Google Shape;126;p3"/>
            <p:cNvSpPr txBox="1"/>
            <p:nvPr/>
          </p:nvSpPr>
          <p:spPr>
            <a:xfrm>
              <a:off x="4554855" y="4102418"/>
              <a:ext cx="692529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Based on this data, I trained Machine Learning models to predict churn.</a:t>
              </a:r>
              <a:endParaRPr/>
            </a:p>
          </p:txBody>
        </p:sp>
      </p:grpSp>
      <p:grpSp>
        <p:nvGrpSpPr>
          <p:cNvPr id="127" name="Google Shape;127;p3"/>
          <p:cNvGrpSpPr/>
          <p:nvPr/>
        </p:nvGrpSpPr>
        <p:grpSpPr>
          <a:xfrm>
            <a:off x="571500" y="4953000"/>
            <a:ext cx="11049000" cy="876300"/>
            <a:chOff x="571500" y="4953000"/>
            <a:chExt cx="11049000" cy="876300"/>
          </a:xfrm>
        </p:grpSpPr>
        <p:sp>
          <p:nvSpPr>
            <p:cNvPr id="128" name="Google Shape;128;p3"/>
            <p:cNvSpPr/>
            <p:nvPr/>
          </p:nvSpPr>
          <p:spPr>
            <a:xfrm>
              <a:off x="571500" y="4953000"/>
              <a:ext cx="11049000" cy="876300"/>
            </a:xfrm>
            <a:custGeom>
              <a:rect b="b" l="l" r="r" t="t"/>
              <a:pathLst>
                <a:path extrusionOk="0" h="876300" w="11049000">
                  <a:moveTo>
                    <a:pt x="114300" y="0"/>
                  </a:moveTo>
                  <a:lnTo>
                    <a:pt x="10934700" y="0"/>
                  </a:lnTo>
                  <a:cubicBezTo>
                    <a:pt x="10997826" y="0"/>
                    <a:pt x="11049000" y="51174"/>
                    <a:pt x="11049000" y="114300"/>
                  </a:cubicBezTo>
                  <a:lnTo>
                    <a:pt x="11049000" y="762000"/>
                  </a:lnTo>
                  <a:cubicBezTo>
                    <a:pt x="11049000" y="825126"/>
                    <a:pt x="10997826" y="876300"/>
                    <a:pt x="10934700" y="876300"/>
                  </a:cubicBezTo>
                  <a:lnTo>
                    <a:pt x="114300" y="876300"/>
                  </a:lnTo>
                  <a:cubicBezTo>
                    <a:pt x="51174" y="876300"/>
                    <a:pt x="0" y="825126"/>
                    <a:pt x="0" y="762000"/>
                  </a:cubicBezTo>
                  <a:lnTo>
                    <a:pt x="0" y="114300"/>
                  </a:lnTo>
                  <a:cubicBezTo>
                    <a:pt x="0" y="51174"/>
                    <a:pt x="51174" y="0"/>
                    <a:pt x="11430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571500" y="4953000"/>
              <a:ext cx="57150" cy="876300"/>
            </a:xfrm>
            <a:custGeom>
              <a:rect b="b" l="l" r="r" t="t"/>
              <a:pathLst>
                <a:path extrusionOk="0" h="876300" w="57150">
                  <a:moveTo>
                    <a:pt x="28575" y="0"/>
                  </a:moveTo>
                  <a:lnTo>
                    <a:pt x="28575" y="0"/>
                  </a:lnTo>
                  <a:cubicBezTo>
                    <a:pt x="44357" y="0"/>
                    <a:pt x="57150" y="12793"/>
                    <a:pt x="57150" y="28575"/>
                  </a:cubicBezTo>
                  <a:lnTo>
                    <a:pt x="57150" y="847725"/>
                  </a:lnTo>
                  <a:cubicBezTo>
                    <a:pt x="57150" y="863507"/>
                    <a:pt x="44357" y="876300"/>
                    <a:pt x="28575" y="876300"/>
                  </a:cubicBezTo>
                  <a:lnTo>
                    <a:pt x="28575" y="876300"/>
                  </a:lnTo>
                  <a:cubicBezTo>
                    <a:pt x="12793" y="876300"/>
                    <a:pt x="0" y="863507"/>
                    <a:pt x="0" y="8477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txBox="1"/>
            <p:nvPr/>
          </p:nvSpPr>
          <p:spPr>
            <a:xfrm>
              <a:off x="927735" y="5142548"/>
              <a:ext cx="6478834"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“Which customers are more likely to leave?”</a:t>
              </a:r>
              <a:endParaRPr/>
            </a:p>
          </p:txBody>
        </p:sp>
        <p:sp>
          <p:nvSpPr>
            <p:cNvPr id="131" name="Google Shape;131;p3"/>
            <p:cNvSpPr txBox="1"/>
            <p:nvPr/>
          </p:nvSpPr>
          <p:spPr>
            <a:xfrm>
              <a:off x="939165" y="5506402"/>
              <a:ext cx="3040047" cy="213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050" u="none" cap="none" strike="noStrike">
                  <a:solidFill>
                    <a:srgbClr val="52606D"/>
                  </a:solidFill>
                  <a:latin typeface="Quattrocento Sans"/>
                  <a:ea typeface="Quattrocento Sans"/>
                  <a:cs typeface="Quattrocento Sans"/>
                  <a:sym typeface="Quattrocento Sans"/>
                </a:rPr>
                <a:t>The core question this project answers.</a:t>
              </a:r>
              <a:endParaRPr/>
            </a:p>
          </p:txBody>
        </p:sp>
      </p:grpSp>
      <p:grpSp>
        <p:nvGrpSpPr>
          <p:cNvPr id="132" name="Google Shape;132;p3"/>
          <p:cNvGrpSpPr/>
          <p:nvPr/>
        </p:nvGrpSpPr>
        <p:grpSpPr>
          <a:xfrm>
            <a:off x="561022" y="6381750"/>
            <a:ext cx="11069956" cy="345281"/>
            <a:chOff x="561022" y="6381750"/>
            <a:chExt cx="11069956" cy="345281"/>
          </a:xfrm>
        </p:grpSpPr>
        <p:sp>
          <p:nvSpPr>
            <p:cNvPr id="133" name="Google Shape;133;p3"/>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134" name="Google Shape;134;p3"/>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135" name="Google Shape;135;p3"/>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03 / 18</a:t>
              </a:r>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0" y="0"/>
            <a:ext cx="12192000" cy="6858000"/>
          </a:xfrm>
          <a:prstGeom prst="rect">
            <a:avLst/>
          </a:prstGeom>
          <a:gradFill>
            <a:gsLst>
              <a:gs pos="0">
                <a:srgbClr val="1565C0">
                  <a:alpha val="5882"/>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 name="Google Shape;142;p4"/>
          <p:cNvGrpSpPr/>
          <p:nvPr/>
        </p:nvGrpSpPr>
        <p:grpSpPr>
          <a:xfrm>
            <a:off x="541020" y="483870"/>
            <a:ext cx="3465385" cy="487680"/>
            <a:chOff x="541020" y="483870"/>
            <a:chExt cx="3465385" cy="487680"/>
          </a:xfrm>
        </p:grpSpPr>
        <p:sp>
          <p:nvSpPr>
            <p:cNvPr id="143" name="Google Shape;143;p4"/>
            <p:cNvSpPr txBox="1"/>
            <p:nvPr/>
          </p:nvSpPr>
          <p:spPr>
            <a:xfrm>
              <a:off x="541020" y="483870"/>
              <a:ext cx="3465385"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Problem Statement</a:t>
              </a:r>
              <a:endParaRPr/>
            </a:p>
          </p:txBody>
        </p:sp>
        <p:sp>
          <p:nvSpPr>
            <p:cNvPr id="144" name="Google Shape;144;p4"/>
            <p:cNvSpPr/>
            <p:nvPr/>
          </p:nvSpPr>
          <p:spPr>
            <a:xfrm>
              <a:off x="571500" y="8953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4"/>
          <p:cNvGrpSpPr/>
          <p:nvPr/>
        </p:nvGrpSpPr>
        <p:grpSpPr>
          <a:xfrm>
            <a:off x="550545" y="1428750"/>
            <a:ext cx="11069955" cy="1319212"/>
            <a:chOff x="550545" y="1428750"/>
            <a:chExt cx="11069955" cy="1319212"/>
          </a:xfrm>
        </p:grpSpPr>
        <p:sp>
          <p:nvSpPr>
            <p:cNvPr id="146" name="Google Shape;146;p4"/>
            <p:cNvSpPr/>
            <p:nvPr/>
          </p:nvSpPr>
          <p:spPr>
            <a:xfrm>
              <a:off x="571500" y="1428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147" name="Google Shape;147;p4"/>
            <p:cNvSpPr txBox="1"/>
            <p:nvPr/>
          </p:nvSpPr>
          <p:spPr>
            <a:xfrm>
              <a:off x="550545" y="1688782"/>
              <a:ext cx="1496842"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1565C0"/>
                  </a:solidFill>
                  <a:latin typeface="Quattrocento Sans"/>
                  <a:ea typeface="Quattrocento Sans"/>
                  <a:cs typeface="Quattrocento Sans"/>
                  <a:sym typeface="Quattrocento Sans"/>
                </a:rPr>
                <a:t>The Problem</a:t>
              </a:r>
              <a:endParaRPr/>
            </a:p>
          </p:txBody>
        </p:sp>
        <p:sp>
          <p:nvSpPr>
            <p:cNvPr id="148" name="Google Shape;148;p4"/>
            <p:cNvSpPr txBox="1"/>
            <p:nvPr/>
          </p:nvSpPr>
          <p:spPr>
            <a:xfrm>
              <a:off x="550545" y="2088832"/>
              <a:ext cx="6235160"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650" u="none" cap="none" strike="noStrike">
                  <a:solidFill>
                    <a:srgbClr val="1F2933"/>
                  </a:solidFill>
                  <a:latin typeface="Quattrocento Sans"/>
                  <a:ea typeface="Quattrocento Sans"/>
                  <a:cs typeface="Quattrocento Sans"/>
                  <a:sym typeface="Quattrocento Sans"/>
                </a:rPr>
                <a:t>Companies have many customers, so it is difficult to</a:t>
              </a:r>
              <a:endParaRPr/>
            </a:p>
          </p:txBody>
        </p:sp>
        <p:sp>
          <p:nvSpPr>
            <p:cNvPr id="149" name="Google Shape;149;p4"/>
            <p:cNvSpPr txBox="1"/>
            <p:nvPr/>
          </p:nvSpPr>
          <p:spPr>
            <a:xfrm>
              <a:off x="550545" y="2412682"/>
              <a:ext cx="5403771"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650" u="none" cap="none" strike="noStrike">
                  <a:solidFill>
                    <a:srgbClr val="1F2933"/>
                  </a:solidFill>
                  <a:latin typeface="Quattrocento Sans"/>
                  <a:ea typeface="Quattrocento Sans"/>
                  <a:cs typeface="Quattrocento Sans"/>
                  <a:sym typeface="Quattrocento Sans"/>
                </a:rPr>
                <a:t>manually identify which customers may leave.</a:t>
              </a:r>
              <a:endParaRPr/>
            </a:p>
          </p:txBody>
        </p:sp>
      </p:grpSp>
      <p:sp>
        <p:nvSpPr>
          <p:cNvPr id="150" name="Google Shape;150;p4"/>
          <p:cNvSpPr txBox="1"/>
          <p:nvPr/>
        </p:nvSpPr>
        <p:spPr>
          <a:xfrm>
            <a:off x="554355" y="2997518"/>
            <a:ext cx="3947079"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52606D"/>
                </a:solidFill>
                <a:latin typeface="Quattrocento Sans"/>
                <a:ea typeface="Quattrocento Sans"/>
                <a:cs typeface="Quattrocento Sans"/>
                <a:sym typeface="Quattrocento Sans"/>
              </a:rPr>
              <a:t>I WANTED TO BUILD A SYSTEM THAT COULD</a:t>
            </a:r>
            <a:endParaRPr/>
          </a:p>
        </p:txBody>
      </p:sp>
      <p:grpSp>
        <p:nvGrpSpPr>
          <p:cNvPr id="151" name="Google Shape;151;p4"/>
          <p:cNvGrpSpPr/>
          <p:nvPr/>
        </p:nvGrpSpPr>
        <p:grpSpPr>
          <a:xfrm>
            <a:off x="533400" y="3429000"/>
            <a:ext cx="4558784" cy="659606"/>
            <a:chOff x="533400" y="3429000"/>
            <a:chExt cx="4558784" cy="659606"/>
          </a:xfrm>
        </p:grpSpPr>
        <p:sp>
          <p:nvSpPr>
            <p:cNvPr id="152" name="Google Shape;152;p4"/>
            <p:cNvSpPr txBox="1"/>
            <p:nvPr/>
          </p:nvSpPr>
          <p:spPr>
            <a:xfrm>
              <a:off x="533400" y="3429000"/>
              <a:ext cx="467249"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1565C0"/>
                  </a:solidFill>
                  <a:latin typeface="Quattrocento Sans"/>
                  <a:ea typeface="Quattrocento Sans"/>
                  <a:cs typeface="Quattrocento Sans"/>
                  <a:sym typeface="Quattrocento Sans"/>
                </a:rPr>
                <a:t>01</a:t>
              </a:r>
              <a:endParaRPr/>
            </a:p>
          </p:txBody>
        </p:sp>
        <p:sp>
          <p:nvSpPr>
            <p:cNvPr id="153" name="Google Shape;153;p4"/>
            <p:cNvSpPr/>
            <p:nvPr/>
          </p:nvSpPr>
          <p:spPr>
            <a:xfrm>
              <a:off x="1238250" y="3486150"/>
              <a:ext cx="243116" cy="243116"/>
            </a:xfrm>
            <a:custGeom>
              <a:rect b="b" l="l" r="r" t="t"/>
              <a:pathLst>
                <a:path extrusionOk="0" h="243116" w="243116">
                  <a:moveTo>
                    <a:pt x="173234" y="195123"/>
                  </a:moveTo>
                  <a:cubicBezTo>
                    <a:pt x="155147" y="208670"/>
                    <a:pt x="132684" y="216694"/>
                    <a:pt x="108347" y="216694"/>
                  </a:cubicBezTo>
                  <a:cubicBezTo>
                    <a:pt x="48509" y="216694"/>
                    <a:pt x="0" y="168185"/>
                    <a:pt x="0" y="108347"/>
                  </a:cubicBezTo>
                  <a:cubicBezTo>
                    <a:pt x="0" y="48509"/>
                    <a:pt x="48509" y="0"/>
                    <a:pt x="108347" y="0"/>
                  </a:cubicBezTo>
                  <a:cubicBezTo>
                    <a:pt x="168185" y="0"/>
                    <a:pt x="216694" y="48509"/>
                    <a:pt x="216694" y="108347"/>
                  </a:cubicBezTo>
                  <a:cubicBezTo>
                    <a:pt x="216694" y="132684"/>
                    <a:pt x="208670" y="155147"/>
                    <a:pt x="195123" y="173234"/>
                  </a:cubicBezTo>
                  <a:lnTo>
                    <a:pt x="243116" y="221227"/>
                  </a:lnTo>
                  <a:lnTo>
                    <a:pt x="221227" y="243116"/>
                  </a:lnTo>
                  <a:lnTo>
                    <a:pt x="173234" y="195123"/>
                  </a:lnTo>
                  <a:close/>
                  <a:moveTo>
                    <a:pt x="86458" y="130236"/>
                  </a:moveTo>
                  <a:lnTo>
                    <a:pt x="64568" y="152126"/>
                  </a:lnTo>
                  <a:cubicBezTo>
                    <a:pt x="40390" y="127947"/>
                    <a:pt x="40390" y="88746"/>
                    <a:pt x="64568" y="64568"/>
                  </a:cubicBezTo>
                  <a:cubicBezTo>
                    <a:pt x="88746" y="40390"/>
                    <a:pt x="127947" y="40390"/>
                    <a:pt x="152126" y="64568"/>
                  </a:cubicBezTo>
                  <a:lnTo>
                    <a:pt x="130236" y="86458"/>
                  </a:lnTo>
                  <a:cubicBezTo>
                    <a:pt x="118147" y="74368"/>
                    <a:pt x="98547" y="74368"/>
                    <a:pt x="86458" y="86458"/>
                  </a:cubicBezTo>
                  <a:cubicBezTo>
                    <a:pt x="74368" y="98547"/>
                    <a:pt x="74368" y="118147"/>
                    <a:pt x="86458" y="130236"/>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txBox="1"/>
            <p:nvPr/>
          </p:nvSpPr>
          <p:spPr>
            <a:xfrm>
              <a:off x="1600200" y="3571875"/>
              <a:ext cx="2568416"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Analyze customer data</a:t>
              </a:r>
              <a:endParaRPr/>
            </a:p>
          </p:txBody>
        </p:sp>
        <p:sp>
          <p:nvSpPr>
            <p:cNvPr id="155" name="Google Shape;155;p4"/>
            <p:cNvSpPr txBox="1"/>
            <p:nvPr/>
          </p:nvSpPr>
          <p:spPr>
            <a:xfrm>
              <a:off x="1604962" y="3860006"/>
              <a:ext cx="3487222"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Understand the dataset and its structure.</a:t>
              </a:r>
              <a:endParaRPr/>
            </a:p>
          </p:txBody>
        </p:sp>
      </p:grpSp>
      <p:grpSp>
        <p:nvGrpSpPr>
          <p:cNvPr id="156" name="Google Shape;156;p4"/>
          <p:cNvGrpSpPr/>
          <p:nvPr/>
        </p:nvGrpSpPr>
        <p:grpSpPr>
          <a:xfrm>
            <a:off x="6438900" y="3429000"/>
            <a:ext cx="4555331" cy="659606"/>
            <a:chOff x="6438900" y="3429000"/>
            <a:chExt cx="4555331" cy="659606"/>
          </a:xfrm>
        </p:grpSpPr>
        <p:sp>
          <p:nvSpPr>
            <p:cNvPr id="157" name="Google Shape;157;p4"/>
            <p:cNvSpPr txBox="1"/>
            <p:nvPr/>
          </p:nvSpPr>
          <p:spPr>
            <a:xfrm>
              <a:off x="6438900" y="3429000"/>
              <a:ext cx="582263"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1565C0"/>
                  </a:solidFill>
                  <a:latin typeface="Quattrocento Sans"/>
                  <a:ea typeface="Quattrocento Sans"/>
                  <a:cs typeface="Quattrocento Sans"/>
                  <a:sym typeface="Quattrocento Sans"/>
                </a:rPr>
                <a:t>02</a:t>
              </a:r>
              <a:endParaRPr/>
            </a:p>
          </p:txBody>
        </p:sp>
        <p:grpSp>
          <p:nvGrpSpPr>
            <p:cNvPr id="158" name="Google Shape;158;p4"/>
            <p:cNvGrpSpPr/>
            <p:nvPr/>
          </p:nvGrpSpPr>
          <p:grpSpPr>
            <a:xfrm>
              <a:off x="7143750" y="3501628"/>
              <a:ext cx="247650" cy="216694"/>
              <a:chOff x="7143750" y="3501628"/>
              <a:chExt cx="247650" cy="216694"/>
            </a:xfrm>
          </p:grpSpPr>
          <p:sp>
            <p:nvSpPr>
              <p:cNvPr id="159" name="Google Shape;159;p4"/>
              <p:cNvSpPr/>
              <p:nvPr/>
            </p:nvSpPr>
            <p:spPr>
              <a:xfrm>
                <a:off x="7329488" y="3501628"/>
                <a:ext cx="61912" cy="216694"/>
              </a:xfrm>
              <a:custGeom>
                <a:rect b="b" l="l" r="r" t="t"/>
                <a:pathLst>
                  <a:path extrusionOk="0" h="216694" w="61912">
                    <a:moveTo>
                      <a:pt x="61912" y="0"/>
                    </a:moveTo>
                    <a:lnTo>
                      <a:pt x="0" y="0"/>
                    </a:lnTo>
                    <a:lnTo>
                      <a:pt x="0" y="216694"/>
                    </a:lnTo>
                    <a:lnTo>
                      <a:pt x="61912" y="216694"/>
                    </a:lnTo>
                    <a:lnTo>
                      <a:pt x="61912" y="0"/>
                    </a:lnTo>
                    <a:close/>
                  </a:path>
                </a:pathLst>
              </a:custGeom>
              <a:solidFill>
                <a:srgbClr val="1565C0"/>
              </a:solidFill>
              <a:ln>
                <a:noFill/>
              </a:ln>
            </p:spPr>
          </p:sp>
          <p:sp>
            <p:nvSpPr>
              <p:cNvPr id="160" name="Google Shape;160;p4"/>
              <p:cNvSpPr/>
              <p:nvPr/>
            </p:nvSpPr>
            <p:spPr>
              <a:xfrm>
                <a:off x="7236619" y="3563541"/>
                <a:ext cx="61912" cy="154781"/>
              </a:xfrm>
              <a:custGeom>
                <a:rect b="b" l="l" r="r" t="t"/>
                <a:pathLst>
                  <a:path extrusionOk="0" h="154781" w="61912">
                    <a:moveTo>
                      <a:pt x="0" y="0"/>
                    </a:moveTo>
                    <a:lnTo>
                      <a:pt x="61912" y="0"/>
                    </a:lnTo>
                    <a:lnTo>
                      <a:pt x="61912" y="154781"/>
                    </a:lnTo>
                    <a:lnTo>
                      <a:pt x="0" y="154781"/>
                    </a:lnTo>
                    <a:lnTo>
                      <a:pt x="0" y="0"/>
                    </a:lnTo>
                    <a:close/>
                  </a:path>
                </a:pathLst>
              </a:custGeom>
              <a:solidFill>
                <a:srgbClr val="1565C0"/>
              </a:solidFill>
              <a:ln>
                <a:noFill/>
              </a:ln>
            </p:spPr>
          </p:sp>
          <p:sp>
            <p:nvSpPr>
              <p:cNvPr id="161" name="Google Shape;161;p4"/>
              <p:cNvSpPr/>
              <p:nvPr/>
            </p:nvSpPr>
            <p:spPr>
              <a:xfrm>
                <a:off x="7143750" y="3625453"/>
                <a:ext cx="61912" cy="92869"/>
              </a:xfrm>
              <a:custGeom>
                <a:rect b="b" l="l" r="r" t="t"/>
                <a:pathLst>
                  <a:path extrusionOk="0" h="92869" w="61912">
                    <a:moveTo>
                      <a:pt x="0" y="0"/>
                    </a:moveTo>
                    <a:lnTo>
                      <a:pt x="61912" y="0"/>
                    </a:lnTo>
                    <a:lnTo>
                      <a:pt x="61912" y="92869"/>
                    </a:lnTo>
                    <a:lnTo>
                      <a:pt x="0" y="92869"/>
                    </a:lnTo>
                    <a:lnTo>
                      <a:pt x="0" y="0"/>
                    </a:lnTo>
                    <a:close/>
                  </a:path>
                </a:pathLst>
              </a:custGeom>
              <a:solidFill>
                <a:srgbClr val="1565C0"/>
              </a:solidFill>
              <a:ln>
                <a:noFill/>
              </a:ln>
            </p:spPr>
          </p:sp>
        </p:grpSp>
        <p:sp>
          <p:nvSpPr>
            <p:cNvPr id="162" name="Google Shape;162;p4"/>
            <p:cNvSpPr txBox="1"/>
            <p:nvPr/>
          </p:nvSpPr>
          <p:spPr>
            <a:xfrm>
              <a:off x="7505700" y="3571875"/>
              <a:ext cx="3488531"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Find patterns related to churn</a:t>
              </a:r>
              <a:endParaRPr/>
            </a:p>
          </p:txBody>
        </p:sp>
        <p:sp>
          <p:nvSpPr>
            <p:cNvPr id="163" name="Google Shape;163;p4"/>
            <p:cNvSpPr txBox="1"/>
            <p:nvPr/>
          </p:nvSpPr>
          <p:spPr>
            <a:xfrm>
              <a:off x="7510462" y="3860006"/>
              <a:ext cx="3257193"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Spot the behavior behind customer loss.</a:t>
              </a:r>
              <a:endParaRPr/>
            </a:p>
          </p:txBody>
        </p:sp>
      </p:grpSp>
      <p:sp>
        <p:nvSpPr>
          <p:cNvPr id="164" name="Google Shape;164;p4"/>
          <p:cNvSpPr/>
          <p:nvPr/>
        </p:nvSpPr>
        <p:spPr>
          <a:xfrm>
            <a:off x="571500" y="44386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grpSp>
        <p:nvGrpSpPr>
          <p:cNvPr id="165" name="Google Shape;165;p4"/>
          <p:cNvGrpSpPr/>
          <p:nvPr/>
        </p:nvGrpSpPr>
        <p:grpSpPr>
          <a:xfrm>
            <a:off x="533400" y="4819650"/>
            <a:ext cx="6096524" cy="659606"/>
            <a:chOff x="533400" y="4819650"/>
            <a:chExt cx="6096524" cy="659606"/>
          </a:xfrm>
        </p:grpSpPr>
        <p:sp>
          <p:nvSpPr>
            <p:cNvPr id="166" name="Google Shape;166;p4"/>
            <p:cNvSpPr txBox="1"/>
            <p:nvPr/>
          </p:nvSpPr>
          <p:spPr>
            <a:xfrm>
              <a:off x="533400" y="4819650"/>
              <a:ext cx="582263"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1565C0"/>
                  </a:solidFill>
                  <a:latin typeface="Quattrocento Sans"/>
                  <a:ea typeface="Quattrocento Sans"/>
                  <a:cs typeface="Quattrocento Sans"/>
                  <a:sym typeface="Quattrocento Sans"/>
                </a:rPr>
                <a:t>03</a:t>
              </a:r>
              <a:endParaRPr/>
            </a:p>
          </p:txBody>
        </p:sp>
        <p:sp>
          <p:nvSpPr>
            <p:cNvPr id="167" name="Google Shape;167;p4"/>
            <p:cNvSpPr/>
            <p:nvPr/>
          </p:nvSpPr>
          <p:spPr>
            <a:xfrm>
              <a:off x="1238250" y="4892278"/>
              <a:ext cx="247650" cy="201216"/>
            </a:xfrm>
            <a:custGeom>
              <a:rect b="b" l="l" r="r" t="t"/>
              <a:pathLst>
                <a:path extrusionOk="0" h="201216" w="247650">
                  <a:moveTo>
                    <a:pt x="27158" y="201216"/>
                  </a:moveTo>
                  <a:cubicBezTo>
                    <a:pt x="10165" y="180017"/>
                    <a:pt x="0" y="153108"/>
                    <a:pt x="0" y="123825"/>
                  </a:cubicBezTo>
                  <a:cubicBezTo>
                    <a:pt x="0" y="55438"/>
                    <a:pt x="55438" y="0"/>
                    <a:pt x="123825" y="0"/>
                  </a:cubicBezTo>
                  <a:cubicBezTo>
                    <a:pt x="192212" y="0"/>
                    <a:pt x="247650" y="55438"/>
                    <a:pt x="247650" y="123825"/>
                  </a:cubicBezTo>
                  <a:cubicBezTo>
                    <a:pt x="247650" y="153108"/>
                    <a:pt x="237486" y="180017"/>
                    <a:pt x="220492" y="201216"/>
                  </a:cubicBezTo>
                  <a:lnTo>
                    <a:pt x="142425" y="201216"/>
                  </a:lnTo>
                  <a:lnTo>
                    <a:pt x="197103" y="142072"/>
                  </a:lnTo>
                  <a:lnTo>
                    <a:pt x="174372" y="121057"/>
                  </a:lnTo>
                  <a:lnTo>
                    <a:pt x="100267" y="201216"/>
                  </a:lnTo>
                  <a:lnTo>
                    <a:pt x="27158" y="201216"/>
                  </a:lnTo>
                  <a:close/>
                  <a:moveTo>
                    <a:pt x="108347" y="46434"/>
                  </a:moveTo>
                  <a:cubicBezTo>
                    <a:pt x="108347" y="54983"/>
                    <a:pt x="115277" y="61912"/>
                    <a:pt x="123825" y="61912"/>
                  </a:cubicBezTo>
                  <a:cubicBezTo>
                    <a:pt x="132373" y="61912"/>
                    <a:pt x="139303" y="54983"/>
                    <a:pt x="139303" y="46434"/>
                  </a:cubicBezTo>
                  <a:cubicBezTo>
                    <a:pt x="139303" y="37886"/>
                    <a:pt x="132373" y="30956"/>
                    <a:pt x="123825" y="30956"/>
                  </a:cubicBezTo>
                  <a:cubicBezTo>
                    <a:pt x="115277" y="30956"/>
                    <a:pt x="108347" y="37886"/>
                    <a:pt x="108347" y="46434"/>
                  </a:cubicBezTo>
                  <a:close/>
                  <a:moveTo>
                    <a:pt x="177998" y="85130"/>
                  </a:moveTo>
                  <a:cubicBezTo>
                    <a:pt x="169450" y="85130"/>
                    <a:pt x="162520" y="78200"/>
                    <a:pt x="162520" y="69652"/>
                  </a:cubicBezTo>
                  <a:cubicBezTo>
                    <a:pt x="162520" y="61103"/>
                    <a:pt x="169450" y="54173"/>
                    <a:pt x="177998" y="54173"/>
                  </a:cubicBezTo>
                  <a:cubicBezTo>
                    <a:pt x="186547" y="54173"/>
                    <a:pt x="193477" y="61103"/>
                    <a:pt x="193477" y="69652"/>
                  </a:cubicBezTo>
                  <a:cubicBezTo>
                    <a:pt x="193477" y="78200"/>
                    <a:pt x="186547" y="85130"/>
                    <a:pt x="177998" y="85130"/>
                  </a:cubicBezTo>
                  <a:close/>
                  <a:moveTo>
                    <a:pt x="30956" y="123825"/>
                  </a:moveTo>
                  <a:cubicBezTo>
                    <a:pt x="30956" y="132373"/>
                    <a:pt x="37886" y="139303"/>
                    <a:pt x="46434" y="139303"/>
                  </a:cubicBezTo>
                  <a:cubicBezTo>
                    <a:pt x="54983" y="139303"/>
                    <a:pt x="61912" y="132373"/>
                    <a:pt x="61912" y="123825"/>
                  </a:cubicBezTo>
                  <a:cubicBezTo>
                    <a:pt x="61912" y="115277"/>
                    <a:pt x="54983" y="108347"/>
                    <a:pt x="46434" y="108347"/>
                  </a:cubicBezTo>
                  <a:cubicBezTo>
                    <a:pt x="37886" y="108347"/>
                    <a:pt x="30956" y="115277"/>
                    <a:pt x="30956" y="123825"/>
                  </a:cubicBezTo>
                  <a:close/>
                  <a:moveTo>
                    <a:pt x="69652" y="85130"/>
                  </a:moveTo>
                  <a:cubicBezTo>
                    <a:pt x="61103" y="85130"/>
                    <a:pt x="54173" y="78200"/>
                    <a:pt x="54173" y="69652"/>
                  </a:cubicBezTo>
                  <a:cubicBezTo>
                    <a:pt x="54173" y="61103"/>
                    <a:pt x="61103" y="54173"/>
                    <a:pt x="69652" y="54173"/>
                  </a:cubicBezTo>
                  <a:cubicBezTo>
                    <a:pt x="78200" y="54173"/>
                    <a:pt x="85130" y="61103"/>
                    <a:pt x="85130" y="69652"/>
                  </a:cubicBezTo>
                  <a:cubicBezTo>
                    <a:pt x="85130" y="78200"/>
                    <a:pt x="78200" y="85130"/>
                    <a:pt x="69652" y="8513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txBox="1"/>
            <p:nvPr/>
          </p:nvSpPr>
          <p:spPr>
            <a:xfrm>
              <a:off x="1600200" y="4962525"/>
              <a:ext cx="5029724"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Predict the possibility of a customer leaving</a:t>
              </a:r>
              <a:endParaRPr/>
            </a:p>
          </p:txBody>
        </p:sp>
        <p:sp>
          <p:nvSpPr>
            <p:cNvPr id="169" name="Google Shape;169;p4"/>
            <p:cNvSpPr txBox="1"/>
            <p:nvPr/>
          </p:nvSpPr>
          <p:spPr>
            <a:xfrm>
              <a:off x="1604962" y="5250656"/>
              <a:ext cx="379118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Estimate churn probability for each customer.</a:t>
              </a:r>
              <a:endParaRPr/>
            </a:p>
          </p:txBody>
        </p:sp>
      </p:grpSp>
      <p:grpSp>
        <p:nvGrpSpPr>
          <p:cNvPr id="170" name="Google Shape;170;p4"/>
          <p:cNvGrpSpPr/>
          <p:nvPr/>
        </p:nvGrpSpPr>
        <p:grpSpPr>
          <a:xfrm>
            <a:off x="6438900" y="4819650"/>
            <a:ext cx="5900999" cy="659606"/>
            <a:chOff x="6438900" y="4819650"/>
            <a:chExt cx="5900999" cy="659606"/>
          </a:xfrm>
        </p:grpSpPr>
        <p:sp>
          <p:nvSpPr>
            <p:cNvPr id="171" name="Google Shape;171;p4"/>
            <p:cNvSpPr txBox="1"/>
            <p:nvPr/>
          </p:nvSpPr>
          <p:spPr>
            <a:xfrm>
              <a:off x="6438900" y="4819650"/>
              <a:ext cx="582263"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1565C0"/>
                  </a:solidFill>
                  <a:latin typeface="Quattrocento Sans"/>
                  <a:ea typeface="Quattrocento Sans"/>
                  <a:cs typeface="Quattrocento Sans"/>
                  <a:sym typeface="Quattrocento Sans"/>
                </a:rPr>
                <a:t>04</a:t>
              </a:r>
              <a:endParaRPr/>
            </a:p>
          </p:txBody>
        </p:sp>
        <p:grpSp>
          <p:nvGrpSpPr>
            <p:cNvPr id="172" name="Google Shape;172;p4"/>
            <p:cNvGrpSpPr/>
            <p:nvPr/>
          </p:nvGrpSpPr>
          <p:grpSpPr>
            <a:xfrm>
              <a:off x="7159228" y="4876800"/>
              <a:ext cx="216694" cy="247650"/>
              <a:chOff x="7159228" y="4876800"/>
              <a:chExt cx="216694" cy="247650"/>
            </a:xfrm>
          </p:grpSpPr>
          <p:sp>
            <p:nvSpPr>
              <p:cNvPr id="173" name="Google Shape;173;p4"/>
              <p:cNvSpPr/>
              <p:nvPr/>
            </p:nvSpPr>
            <p:spPr>
              <a:xfrm>
                <a:off x="7159228" y="4876800"/>
                <a:ext cx="216694" cy="123825"/>
              </a:xfrm>
              <a:custGeom>
                <a:rect b="b" l="l" r="r" t="t"/>
                <a:pathLst>
                  <a:path extrusionOk="0" h="123825" w="216694">
                    <a:moveTo>
                      <a:pt x="0" y="77391"/>
                    </a:moveTo>
                    <a:lnTo>
                      <a:pt x="0" y="46434"/>
                    </a:lnTo>
                    <a:lnTo>
                      <a:pt x="108347" y="0"/>
                    </a:lnTo>
                    <a:lnTo>
                      <a:pt x="216694" y="46434"/>
                    </a:lnTo>
                    <a:lnTo>
                      <a:pt x="216694" y="77391"/>
                    </a:lnTo>
                    <a:lnTo>
                      <a:pt x="108347" y="123825"/>
                    </a:lnTo>
                    <a:lnTo>
                      <a:pt x="0" y="77391"/>
                    </a:lnTo>
                    <a:close/>
                  </a:path>
                </a:pathLst>
              </a:custGeom>
              <a:solidFill>
                <a:srgbClr val="1565C0"/>
              </a:solidFill>
              <a:ln>
                <a:noFill/>
              </a:ln>
            </p:spPr>
          </p:sp>
          <p:sp>
            <p:nvSpPr>
              <p:cNvPr id="174" name="Google Shape;174;p4"/>
              <p:cNvSpPr/>
              <p:nvPr/>
            </p:nvSpPr>
            <p:spPr>
              <a:xfrm>
                <a:off x="7159228" y="5047059"/>
                <a:ext cx="216694" cy="77391"/>
              </a:xfrm>
              <a:custGeom>
                <a:rect b="b" l="l" r="r" t="t"/>
                <a:pathLst>
                  <a:path extrusionOk="0" h="77391" w="216694">
                    <a:moveTo>
                      <a:pt x="108347" y="77391"/>
                    </a:moveTo>
                    <a:lnTo>
                      <a:pt x="0" y="30956"/>
                    </a:lnTo>
                    <a:lnTo>
                      <a:pt x="0" y="0"/>
                    </a:lnTo>
                    <a:lnTo>
                      <a:pt x="108347" y="46434"/>
                    </a:lnTo>
                    <a:lnTo>
                      <a:pt x="216694" y="0"/>
                    </a:lnTo>
                    <a:lnTo>
                      <a:pt x="216694" y="30956"/>
                    </a:lnTo>
                    <a:lnTo>
                      <a:pt x="108347" y="77391"/>
                    </a:lnTo>
                    <a:close/>
                  </a:path>
                </a:pathLst>
              </a:custGeom>
              <a:solidFill>
                <a:srgbClr val="1565C0"/>
              </a:solidFill>
              <a:ln>
                <a:noFill/>
              </a:ln>
            </p:spPr>
          </p:sp>
          <p:sp>
            <p:nvSpPr>
              <p:cNvPr id="175" name="Google Shape;175;p4"/>
              <p:cNvSpPr/>
              <p:nvPr/>
            </p:nvSpPr>
            <p:spPr>
              <a:xfrm>
                <a:off x="7159228" y="4985147"/>
                <a:ext cx="216694" cy="77391"/>
              </a:xfrm>
              <a:custGeom>
                <a:rect b="b" l="l" r="r" t="t"/>
                <a:pathLst>
                  <a:path extrusionOk="0" h="77391" w="216694">
                    <a:moveTo>
                      <a:pt x="0" y="30956"/>
                    </a:moveTo>
                    <a:lnTo>
                      <a:pt x="108347" y="77391"/>
                    </a:lnTo>
                    <a:lnTo>
                      <a:pt x="216694" y="30956"/>
                    </a:lnTo>
                    <a:lnTo>
                      <a:pt x="216694" y="0"/>
                    </a:lnTo>
                    <a:lnTo>
                      <a:pt x="108347" y="46434"/>
                    </a:lnTo>
                    <a:lnTo>
                      <a:pt x="0" y="0"/>
                    </a:lnTo>
                    <a:lnTo>
                      <a:pt x="0" y="30956"/>
                    </a:lnTo>
                    <a:close/>
                  </a:path>
                </a:pathLst>
              </a:custGeom>
              <a:solidFill>
                <a:srgbClr val="1565C0"/>
              </a:solidFill>
              <a:ln>
                <a:noFill/>
              </a:ln>
            </p:spPr>
          </p:sp>
        </p:grpSp>
        <p:sp>
          <p:nvSpPr>
            <p:cNvPr id="176" name="Google Shape;176;p4"/>
            <p:cNvSpPr txBox="1"/>
            <p:nvPr/>
          </p:nvSpPr>
          <p:spPr>
            <a:xfrm>
              <a:off x="7505700" y="4962525"/>
              <a:ext cx="4834199"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Divide customers into different risk levels</a:t>
              </a:r>
              <a:endParaRPr/>
            </a:p>
          </p:txBody>
        </p:sp>
        <p:sp>
          <p:nvSpPr>
            <p:cNvPr id="177" name="Google Shape;177;p4"/>
            <p:cNvSpPr txBox="1"/>
            <p:nvPr/>
          </p:nvSpPr>
          <p:spPr>
            <a:xfrm>
              <a:off x="7510462" y="5250656"/>
              <a:ext cx="393906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Group customers by how likely they are to leave.</a:t>
              </a:r>
              <a:endParaRPr/>
            </a:p>
          </p:txBody>
        </p:sp>
      </p:grpSp>
      <p:grpSp>
        <p:nvGrpSpPr>
          <p:cNvPr id="178" name="Google Shape;178;p4"/>
          <p:cNvGrpSpPr/>
          <p:nvPr/>
        </p:nvGrpSpPr>
        <p:grpSpPr>
          <a:xfrm>
            <a:off x="561022" y="6381750"/>
            <a:ext cx="11069956" cy="345281"/>
            <a:chOff x="561022" y="6381750"/>
            <a:chExt cx="11069956" cy="345281"/>
          </a:xfrm>
        </p:grpSpPr>
        <p:sp>
          <p:nvSpPr>
            <p:cNvPr id="179" name="Google Shape;179;p4"/>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180" name="Google Shape;180;p4"/>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181" name="Google Shape;181;p4"/>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04 / 18</a:t>
              </a:r>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5"/>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5"/>
          <p:cNvGrpSpPr/>
          <p:nvPr/>
        </p:nvGrpSpPr>
        <p:grpSpPr>
          <a:xfrm>
            <a:off x="541020" y="426720"/>
            <a:ext cx="3410179" cy="716280"/>
            <a:chOff x="541020" y="426720"/>
            <a:chExt cx="3410179" cy="716280"/>
          </a:xfrm>
        </p:grpSpPr>
        <p:sp>
          <p:nvSpPr>
            <p:cNvPr id="189" name="Google Shape;189;p5"/>
            <p:cNvSpPr txBox="1"/>
            <p:nvPr/>
          </p:nvSpPr>
          <p:spPr>
            <a:xfrm>
              <a:off x="541020" y="426720"/>
              <a:ext cx="3410179"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Project Objectives</a:t>
              </a:r>
              <a:endParaRPr/>
            </a:p>
          </p:txBody>
        </p:sp>
        <p:sp>
          <p:nvSpPr>
            <p:cNvPr id="190" name="Google Shape;190;p5"/>
            <p:cNvSpPr txBox="1"/>
            <p:nvPr/>
          </p:nvSpPr>
          <p:spPr>
            <a:xfrm>
              <a:off x="554355" y="825818"/>
              <a:ext cx="242001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What I wanted to achieve</a:t>
              </a:r>
              <a:endParaRPr/>
            </a:p>
          </p:txBody>
        </p:sp>
        <p:sp>
          <p:nvSpPr>
            <p:cNvPr id="191" name="Google Shape;191;p5"/>
            <p:cNvSpPr/>
            <p:nvPr/>
          </p:nvSpPr>
          <p:spPr>
            <a:xfrm>
              <a:off x="571500" y="110490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571500" y="1428750"/>
            <a:ext cx="2057400" cy="1905000"/>
            <a:chOff x="571500" y="1428750"/>
            <a:chExt cx="2057400" cy="1905000"/>
          </a:xfrm>
        </p:grpSpPr>
        <p:sp>
          <p:nvSpPr>
            <p:cNvPr id="193" name="Google Shape;193;p5"/>
            <p:cNvSpPr/>
            <p:nvPr/>
          </p:nvSpPr>
          <p:spPr>
            <a:xfrm>
              <a:off x="571500" y="14287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571500" y="14287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txBox="1"/>
            <p:nvPr/>
          </p:nvSpPr>
          <p:spPr>
            <a:xfrm>
              <a:off x="737235" y="1732598"/>
              <a:ext cx="303712"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01</a:t>
              </a:r>
              <a:endParaRPr/>
            </a:p>
          </p:txBody>
        </p:sp>
        <p:grpSp>
          <p:nvGrpSpPr>
            <p:cNvPr id="196" name="Google Shape;196;p5"/>
            <p:cNvGrpSpPr/>
            <p:nvPr/>
          </p:nvGrpSpPr>
          <p:grpSpPr>
            <a:xfrm>
              <a:off x="795338" y="2114550"/>
              <a:ext cx="200025" cy="266700"/>
              <a:chOff x="795338" y="2114550"/>
              <a:chExt cx="200025" cy="266700"/>
            </a:xfrm>
          </p:grpSpPr>
          <p:sp>
            <p:nvSpPr>
              <p:cNvPr id="197" name="Google Shape;197;p5"/>
              <p:cNvSpPr/>
              <p:nvPr/>
            </p:nvSpPr>
            <p:spPr>
              <a:xfrm>
                <a:off x="795338" y="2221230"/>
                <a:ext cx="200025" cy="76676"/>
              </a:xfrm>
              <a:custGeom>
                <a:rect b="b" l="l" r="r" t="t"/>
                <a:pathLst>
                  <a:path extrusionOk="0" h="76676" w="200025">
                    <a:moveTo>
                      <a:pt x="185642" y="8504"/>
                    </a:moveTo>
                    <a:cubicBezTo>
                      <a:pt x="190330" y="6159"/>
                      <a:pt x="195229" y="3330"/>
                      <a:pt x="200025" y="0"/>
                    </a:cubicBezTo>
                    <a:lnTo>
                      <a:pt x="200025" y="26670"/>
                    </a:lnTo>
                    <a:cubicBezTo>
                      <a:pt x="200025" y="54287"/>
                      <a:pt x="155248" y="76676"/>
                      <a:pt x="100012" y="76676"/>
                    </a:cubicBezTo>
                    <a:cubicBezTo>
                      <a:pt x="44777" y="76676"/>
                      <a:pt x="0" y="54287"/>
                      <a:pt x="0" y="26670"/>
                    </a:cubicBezTo>
                    <a:lnTo>
                      <a:pt x="0" y="0"/>
                    </a:lnTo>
                    <a:cubicBezTo>
                      <a:pt x="4796" y="3330"/>
                      <a:pt x="9694" y="6159"/>
                      <a:pt x="14384" y="8504"/>
                    </a:cubicBezTo>
                    <a:cubicBezTo>
                      <a:pt x="38021" y="20322"/>
                      <a:pt x="68342" y="26670"/>
                      <a:pt x="100012" y="26670"/>
                    </a:cubicBezTo>
                    <a:cubicBezTo>
                      <a:pt x="131683" y="26670"/>
                      <a:pt x="162004" y="20322"/>
                      <a:pt x="185642" y="8504"/>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795338" y="2304574"/>
                <a:ext cx="200025" cy="76676"/>
              </a:xfrm>
              <a:custGeom>
                <a:rect b="b" l="l" r="r" t="t"/>
                <a:pathLst>
                  <a:path extrusionOk="0" h="76676" w="200025">
                    <a:moveTo>
                      <a:pt x="0" y="0"/>
                    </a:moveTo>
                    <a:lnTo>
                      <a:pt x="0" y="26670"/>
                    </a:lnTo>
                    <a:cubicBezTo>
                      <a:pt x="0" y="54288"/>
                      <a:pt x="44777" y="76676"/>
                      <a:pt x="100012" y="76676"/>
                    </a:cubicBezTo>
                    <a:cubicBezTo>
                      <a:pt x="155248" y="76676"/>
                      <a:pt x="200025" y="54288"/>
                      <a:pt x="200025" y="26670"/>
                    </a:cubicBezTo>
                    <a:lnTo>
                      <a:pt x="200025" y="0"/>
                    </a:lnTo>
                    <a:cubicBezTo>
                      <a:pt x="195229" y="3330"/>
                      <a:pt x="190330" y="6159"/>
                      <a:pt x="185642" y="8504"/>
                    </a:cubicBezTo>
                    <a:cubicBezTo>
                      <a:pt x="162004" y="20323"/>
                      <a:pt x="131683" y="26670"/>
                      <a:pt x="100012" y="26670"/>
                    </a:cubicBezTo>
                    <a:cubicBezTo>
                      <a:pt x="68342" y="26670"/>
                      <a:pt x="38021" y="20323"/>
                      <a:pt x="14384" y="8504"/>
                    </a:cubicBezTo>
                    <a:cubicBezTo>
                      <a:pt x="9694" y="6159"/>
                      <a:pt x="4796" y="3330"/>
                      <a:pt x="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795338" y="2114550"/>
                <a:ext cx="200025" cy="100012"/>
              </a:xfrm>
              <a:custGeom>
                <a:rect b="b" l="l" r="r" t="t"/>
                <a:pathLst>
                  <a:path extrusionOk="0" h="100012" w="200025">
                    <a:moveTo>
                      <a:pt x="100012" y="0"/>
                    </a:moveTo>
                    <a:cubicBezTo>
                      <a:pt x="155248" y="0"/>
                      <a:pt x="200025" y="22389"/>
                      <a:pt x="200025" y="50006"/>
                    </a:cubicBezTo>
                    <a:cubicBezTo>
                      <a:pt x="200025" y="77624"/>
                      <a:pt x="155248" y="100012"/>
                      <a:pt x="100012" y="100012"/>
                    </a:cubicBezTo>
                    <a:cubicBezTo>
                      <a:pt x="44777" y="100012"/>
                      <a:pt x="0" y="77624"/>
                      <a:pt x="0" y="50006"/>
                    </a:cubicBezTo>
                    <a:cubicBezTo>
                      <a:pt x="0" y="22389"/>
                      <a:pt x="44777" y="0"/>
                      <a:pt x="100012"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 name="Google Shape;200;p5"/>
            <p:cNvSpPr txBox="1"/>
            <p:nvPr/>
          </p:nvSpPr>
          <p:spPr>
            <a:xfrm>
              <a:off x="745808" y="2605564"/>
              <a:ext cx="1489042"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Understand the</a:t>
              </a:r>
              <a:endParaRPr/>
            </a:p>
          </p:txBody>
        </p:sp>
        <p:sp>
          <p:nvSpPr>
            <p:cNvPr id="201" name="Google Shape;201;p5"/>
            <p:cNvSpPr txBox="1"/>
            <p:nvPr/>
          </p:nvSpPr>
          <p:spPr>
            <a:xfrm>
              <a:off x="745808" y="2824639"/>
              <a:ext cx="1743224"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customer dataset</a:t>
              </a:r>
              <a:endParaRPr/>
            </a:p>
          </p:txBody>
        </p:sp>
      </p:grpSp>
      <p:grpSp>
        <p:nvGrpSpPr>
          <p:cNvPr id="202" name="Google Shape;202;p5"/>
          <p:cNvGrpSpPr/>
          <p:nvPr/>
        </p:nvGrpSpPr>
        <p:grpSpPr>
          <a:xfrm>
            <a:off x="2819400" y="1428750"/>
            <a:ext cx="2057400" cy="1905000"/>
            <a:chOff x="2819400" y="1428750"/>
            <a:chExt cx="2057400" cy="1905000"/>
          </a:xfrm>
        </p:grpSpPr>
        <p:sp>
          <p:nvSpPr>
            <p:cNvPr id="203" name="Google Shape;203;p5"/>
            <p:cNvSpPr/>
            <p:nvPr/>
          </p:nvSpPr>
          <p:spPr>
            <a:xfrm>
              <a:off x="2819400" y="14287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2819400" y="14287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txBox="1"/>
            <p:nvPr/>
          </p:nvSpPr>
          <p:spPr>
            <a:xfrm>
              <a:off x="2985135" y="17325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02</a:t>
              </a:r>
              <a:endParaRPr/>
            </a:p>
          </p:txBody>
        </p:sp>
        <p:grpSp>
          <p:nvGrpSpPr>
            <p:cNvPr id="206" name="Google Shape;206;p5"/>
            <p:cNvGrpSpPr/>
            <p:nvPr/>
          </p:nvGrpSpPr>
          <p:grpSpPr>
            <a:xfrm>
              <a:off x="3009900" y="2131219"/>
              <a:ext cx="266700" cy="233363"/>
              <a:chOff x="3009900" y="2131219"/>
              <a:chExt cx="266700" cy="233363"/>
            </a:xfrm>
          </p:grpSpPr>
          <p:sp>
            <p:nvSpPr>
              <p:cNvPr id="207" name="Google Shape;207;p5"/>
              <p:cNvSpPr/>
              <p:nvPr/>
            </p:nvSpPr>
            <p:spPr>
              <a:xfrm>
                <a:off x="3009900" y="2131219"/>
                <a:ext cx="266700" cy="33338"/>
              </a:xfrm>
              <a:custGeom>
                <a:rect b="b" l="l" r="r" t="t"/>
                <a:pathLst>
                  <a:path extrusionOk="0" h="33338" w="266700">
                    <a:moveTo>
                      <a:pt x="0" y="33338"/>
                    </a:moveTo>
                    <a:lnTo>
                      <a:pt x="266700" y="33338"/>
                    </a:lnTo>
                    <a:lnTo>
                      <a:pt x="266700" y="0"/>
                    </a:lnTo>
                    <a:lnTo>
                      <a:pt x="0" y="0"/>
                    </a:lnTo>
                    <a:lnTo>
                      <a:pt x="0" y="33338"/>
                    </a:lnTo>
                    <a:close/>
                  </a:path>
                </a:pathLst>
              </a:custGeom>
              <a:solidFill>
                <a:srgbClr val="1565C0"/>
              </a:solidFill>
              <a:ln>
                <a:noFill/>
              </a:ln>
            </p:spPr>
          </p:sp>
          <p:sp>
            <p:nvSpPr>
              <p:cNvPr id="208" name="Google Shape;208;p5"/>
              <p:cNvSpPr/>
              <p:nvPr/>
            </p:nvSpPr>
            <p:spPr>
              <a:xfrm>
                <a:off x="3043238" y="2197894"/>
                <a:ext cx="200025" cy="33338"/>
              </a:xfrm>
              <a:custGeom>
                <a:rect b="b" l="l" r="r" t="t"/>
                <a:pathLst>
                  <a:path extrusionOk="0" h="33338" w="200025">
                    <a:moveTo>
                      <a:pt x="0" y="33338"/>
                    </a:moveTo>
                    <a:lnTo>
                      <a:pt x="200025" y="33338"/>
                    </a:lnTo>
                    <a:lnTo>
                      <a:pt x="200025" y="0"/>
                    </a:lnTo>
                    <a:lnTo>
                      <a:pt x="0" y="0"/>
                    </a:lnTo>
                    <a:lnTo>
                      <a:pt x="0" y="33338"/>
                    </a:lnTo>
                    <a:close/>
                  </a:path>
                </a:pathLst>
              </a:custGeom>
              <a:solidFill>
                <a:srgbClr val="1565C0"/>
              </a:solidFill>
              <a:ln>
                <a:noFill/>
              </a:ln>
            </p:spPr>
          </p:sp>
          <p:sp>
            <p:nvSpPr>
              <p:cNvPr id="209" name="Google Shape;209;p5"/>
              <p:cNvSpPr/>
              <p:nvPr/>
            </p:nvSpPr>
            <p:spPr>
              <a:xfrm>
                <a:off x="3076575" y="2264569"/>
                <a:ext cx="133350" cy="33338"/>
              </a:xfrm>
              <a:custGeom>
                <a:rect b="b" l="l" r="r" t="t"/>
                <a:pathLst>
                  <a:path extrusionOk="0" h="33338" w="133350">
                    <a:moveTo>
                      <a:pt x="0" y="33338"/>
                    </a:moveTo>
                    <a:lnTo>
                      <a:pt x="133350" y="33338"/>
                    </a:lnTo>
                    <a:lnTo>
                      <a:pt x="133350" y="0"/>
                    </a:lnTo>
                    <a:lnTo>
                      <a:pt x="0" y="0"/>
                    </a:lnTo>
                    <a:lnTo>
                      <a:pt x="0" y="33338"/>
                    </a:lnTo>
                    <a:close/>
                  </a:path>
                </a:pathLst>
              </a:custGeom>
              <a:solidFill>
                <a:srgbClr val="1565C0"/>
              </a:solidFill>
              <a:ln>
                <a:noFill/>
              </a:ln>
            </p:spPr>
          </p:sp>
          <p:sp>
            <p:nvSpPr>
              <p:cNvPr id="210" name="Google Shape;210;p5"/>
              <p:cNvSpPr/>
              <p:nvPr/>
            </p:nvSpPr>
            <p:spPr>
              <a:xfrm>
                <a:off x="3109912" y="2331244"/>
                <a:ext cx="66675" cy="33338"/>
              </a:xfrm>
              <a:custGeom>
                <a:rect b="b" l="l" r="r" t="t"/>
                <a:pathLst>
                  <a:path extrusionOk="0" h="33338" w="66675">
                    <a:moveTo>
                      <a:pt x="66675" y="33338"/>
                    </a:moveTo>
                    <a:lnTo>
                      <a:pt x="0" y="33338"/>
                    </a:lnTo>
                    <a:lnTo>
                      <a:pt x="0" y="0"/>
                    </a:lnTo>
                    <a:lnTo>
                      <a:pt x="66675" y="0"/>
                    </a:lnTo>
                    <a:lnTo>
                      <a:pt x="66675" y="33338"/>
                    </a:lnTo>
                    <a:close/>
                  </a:path>
                </a:pathLst>
              </a:custGeom>
              <a:solidFill>
                <a:srgbClr val="1565C0"/>
              </a:solidFill>
              <a:ln>
                <a:noFill/>
              </a:ln>
            </p:spPr>
          </p:sp>
        </p:grpSp>
        <p:sp>
          <p:nvSpPr>
            <p:cNvPr id="211" name="Google Shape;211;p5"/>
            <p:cNvSpPr txBox="1"/>
            <p:nvPr/>
          </p:nvSpPr>
          <p:spPr>
            <a:xfrm>
              <a:off x="2993708" y="2605564"/>
              <a:ext cx="1391280"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Clean the data</a:t>
              </a:r>
              <a:endParaRPr/>
            </a:p>
          </p:txBody>
        </p:sp>
      </p:grpSp>
      <p:grpSp>
        <p:nvGrpSpPr>
          <p:cNvPr id="212" name="Google Shape;212;p5"/>
          <p:cNvGrpSpPr/>
          <p:nvPr/>
        </p:nvGrpSpPr>
        <p:grpSpPr>
          <a:xfrm>
            <a:off x="5067300" y="1428750"/>
            <a:ext cx="2057400" cy="1905000"/>
            <a:chOff x="5067300" y="1428750"/>
            <a:chExt cx="2057400" cy="1905000"/>
          </a:xfrm>
        </p:grpSpPr>
        <p:sp>
          <p:nvSpPr>
            <p:cNvPr id="213" name="Google Shape;213;p5"/>
            <p:cNvSpPr/>
            <p:nvPr/>
          </p:nvSpPr>
          <p:spPr>
            <a:xfrm>
              <a:off x="5067300" y="14287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5067300" y="14287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txBox="1"/>
            <p:nvPr/>
          </p:nvSpPr>
          <p:spPr>
            <a:xfrm>
              <a:off x="5233035" y="17325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03</a:t>
              </a:r>
              <a:endParaRPr/>
            </a:p>
          </p:txBody>
        </p:sp>
        <p:grpSp>
          <p:nvGrpSpPr>
            <p:cNvPr id="216" name="Google Shape;216;p5"/>
            <p:cNvGrpSpPr/>
            <p:nvPr/>
          </p:nvGrpSpPr>
          <p:grpSpPr>
            <a:xfrm>
              <a:off x="5257800" y="2131219"/>
              <a:ext cx="266700" cy="233363"/>
              <a:chOff x="5257800" y="2131219"/>
              <a:chExt cx="266700" cy="233363"/>
            </a:xfrm>
          </p:grpSpPr>
          <p:sp>
            <p:nvSpPr>
              <p:cNvPr id="217" name="Google Shape;217;p5"/>
              <p:cNvSpPr/>
              <p:nvPr/>
            </p:nvSpPr>
            <p:spPr>
              <a:xfrm>
                <a:off x="5457825" y="2131219"/>
                <a:ext cx="66675" cy="233362"/>
              </a:xfrm>
              <a:custGeom>
                <a:rect b="b" l="l" r="r" t="t"/>
                <a:pathLst>
                  <a:path extrusionOk="0" h="233362" w="66675">
                    <a:moveTo>
                      <a:pt x="66675" y="0"/>
                    </a:moveTo>
                    <a:lnTo>
                      <a:pt x="0" y="0"/>
                    </a:lnTo>
                    <a:lnTo>
                      <a:pt x="0" y="233362"/>
                    </a:lnTo>
                    <a:lnTo>
                      <a:pt x="66675" y="233362"/>
                    </a:lnTo>
                    <a:lnTo>
                      <a:pt x="66675" y="0"/>
                    </a:lnTo>
                    <a:close/>
                  </a:path>
                </a:pathLst>
              </a:custGeom>
              <a:solidFill>
                <a:srgbClr val="1565C0"/>
              </a:solidFill>
              <a:ln>
                <a:noFill/>
              </a:ln>
            </p:spPr>
          </p:sp>
          <p:sp>
            <p:nvSpPr>
              <p:cNvPr id="218" name="Google Shape;218;p5"/>
              <p:cNvSpPr/>
              <p:nvPr/>
            </p:nvSpPr>
            <p:spPr>
              <a:xfrm>
                <a:off x="5357812" y="2197894"/>
                <a:ext cx="66675" cy="166688"/>
              </a:xfrm>
              <a:custGeom>
                <a:rect b="b" l="l" r="r" t="t"/>
                <a:pathLst>
                  <a:path extrusionOk="0" h="166688" w="66675">
                    <a:moveTo>
                      <a:pt x="0" y="0"/>
                    </a:moveTo>
                    <a:lnTo>
                      <a:pt x="66675" y="0"/>
                    </a:lnTo>
                    <a:lnTo>
                      <a:pt x="66675" y="166688"/>
                    </a:lnTo>
                    <a:lnTo>
                      <a:pt x="0" y="166688"/>
                    </a:lnTo>
                    <a:lnTo>
                      <a:pt x="0" y="0"/>
                    </a:lnTo>
                    <a:close/>
                  </a:path>
                </a:pathLst>
              </a:custGeom>
              <a:solidFill>
                <a:srgbClr val="1565C0"/>
              </a:solidFill>
              <a:ln>
                <a:noFill/>
              </a:ln>
            </p:spPr>
          </p:sp>
          <p:sp>
            <p:nvSpPr>
              <p:cNvPr id="219" name="Google Shape;219;p5"/>
              <p:cNvSpPr/>
              <p:nvPr/>
            </p:nvSpPr>
            <p:spPr>
              <a:xfrm>
                <a:off x="5257800" y="2264569"/>
                <a:ext cx="66675" cy="100012"/>
              </a:xfrm>
              <a:custGeom>
                <a:rect b="b" l="l" r="r" t="t"/>
                <a:pathLst>
                  <a:path extrusionOk="0" h="100012" w="66675">
                    <a:moveTo>
                      <a:pt x="0" y="0"/>
                    </a:moveTo>
                    <a:lnTo>
                      <a:pt x="66675" y="0"/>
                    </a:lnTo>
                    <a:lnTo>
                      <a:pt x="66675" y="100012"/>
                    </a:lnTo>
                    <a:lnTo>
                      <a:pt x="0" y="100012"/>
                    </a:lnTo>
                    <a:lnTo>
                      <a:pt x="0" y="0"/>
                    </a:lnTo>
                    <a:close/>
                  </a:path>
                </a:pathLst>
              </a:custGeom>
              <a:solidFill>
                <a:srgbClr val="1565C0"/>
              </a:solidFill>
              <a:ln>
                <a:noFill/>
              </a:ln>
            </p:spPr>
          </p:sp>
        </p:grpSp>
        <p:sp>
          <p:nvSpPr>
            <p:cNvPr id="220" name="Google Shape;220;p5"/>
            <p:cNvSpPr txBox="1"/>
            <p:nvPr/>
          </p:nvSpPr>
          <p:spPr>
            <a:xfrm>
              <a:off x="5241608" y="2605564"/>
              <a:ext cx="169434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Analyze customer</a:t>
              </a:r>
              <a:endParaRPr/>
            </a:p>
          </p:txBody>
        </p:sp>
        <p:sp>
          <p:nvSpPr>
            <p:cNvPr id="221" name="Google Shape;221;p5"/>
            <p:cNvSpPr txBox="1"/>
            <p:nvPr/>
          </p:nvSpPr>
          <p:spPr>
            <a:xfrm>
              <a:off x="5241608" y="2824639"/>
              <a:ext cx="843811"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behavior</a:t>
              </a:r>
              <a:endParaRPr/>
            </a:p>
          </p:txBody>
        </p:sp>
      </p:grpSp>
      <p:grpSp>
        <p:nvGrpSpPr>
          <p:cNvPr id="222" name="Google Shape;222;p5"/>
          <p:cNvGrpSpPr/>
          <p:nvPr/>
        </p:nvGrpSpPr>
        <p:grpSpPr>
          <a:xfrm>
            <a:off x="7315200" y="1428750"/>
            <a:ext cx="2367238" cy="1905000"/>
            <a:chOff x="7315200" y="1428750"/>
            <a:chExt cx="2367238" cy="1905000"/>
          </a:xfrm>
        </p:grpSpPr>
        <p:sp>
          <p:nvSpPr>
            <p:cNvPr id="223" name="Google Shape;223;p5"/>
            <p:cNvSpPr/>
            <p:nvPr/>
          </p:nvSpPr>
          <p:spPr>
            <a:xfrm>
              <a:off x="7315200" y="14287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7315200" y="14287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txBox="1"/>
            <p:nvPr/>
          </p:nvSpPr>
          <p:spPr>
            <a:xfrm>
              <a:off x="7480935" y="17325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04</a:t>
              </a:r>
              <a:endParaRPr/>
            </a:p>
          </p:txBody>
        </p:sp>
        <p:sp>
          <p:nvSpPr>
            <p:cNvPr id="226" name="Google Shape;226;p5"/>
            <p:cNvSpPr/>
            <p:nvPr/>
          </p:nvSpPr>
          <p:spPr>
            <a:xfrm>
              <a:off x="7505700" y="2114550"/>
              <a:ext cx="261818" cy="261818"/>
            </a:xfrm>
            <a:custGeom>
              <a:rect b="b" l="l" r="r" t="t"/>
              <a:pathLst>
                <a:path extrusionOk="0" h="261818" w="261818">
                  <a:moveTo>
                    <a:pt x="186560" y="210133"/>
                  </a:moveTo>
                  <a:cubicBezTo>
                    <a:pt x="167081" y="224721"/>
                    <a:pt x="142890" y="233362"/>
                    <a:pt x="116681" y="233362"/>
                  </a:cubicBezTo>
                  <a:cubicBezTo>
                    <a:pt x="52240" y="233362"/>
                    <a:pt x="0" y="181123"/>
                    <a:pt x="0" y="116681"/>
                  </a:cubicBezTo>
                  <a:cubicBezTo>
                    <a:pt x="0" y="52240"/>
                    <a:pt x="52240" y="0"/>
                    <a:pt x="116681" y="0"/>
                  </a:cubicBezTo>
                  <a:cubicBezTo>
                    <a:pt x="181123" y="0"/>
                    <a:pt x="233362" y="52240"/>
                    <a:pt x="233362" y="116681"/>
                  </a:cubicBezTo>
                  <a:cubicBezTo>
                    <a:pt x="233362" y="142890"/>
                    <a:pt x="224721" y="167081"/>
                    <a:pt x="210133" y="186560"/>
                  </a:cubicBezTo>
                  <a:lnTo>
                    <a:pt x="261818" y="238245"/>
                  </a:lnTo>
                  <a:lnTo>
                    <a:pt x="238245" y="261818"/>
                  </a:lnTo>
                  <a:lnTo>
                    <a:pt x="186560" y="210133"/>
                  </a:lnTo>
                  <a:close/>
                  <a:moveTo>
                    <a:pt x="93108" y="140254"/>
                  </a:moveTo>
                  <a:lnTo>
                    <a:pt x="69535" y="163828"/>
                  </a:lnTo>
                  <a:cubicBezTo>
                    <a:pt x="43497" y="137789"/>
                    <a:pt x="43497" y="95573"/>
                    <a:pt x="69535" y="69535"/>
                  </a:cubicBezTo>
                  <a:cubicBezTo>
                    <a:pt x="95573" y="43497"/>
                    <a:pt x="137789" y="43497"/>
                    <a:pt x="163828" y="69535"/>
                  </a:cubicBezTo>
                  <a:lnTo>
                    <a:pt x="140254" y="93108"/>
                  </a:lnTo>
                  <a:cubicBezTo>
                    <a:pt x="127235" y="80089"/>
                    <a:pt x="106127" y="80089"/>
                    <a:pt x="93108" y="93108"/>
                  </a:cubicBezTo>
                  <a:cubicBezTo>
                    <a:pt x="80089" y="106127"/>
                    <a:pt x="80089" y="127235"/>
                    <a:pt x="93108" y="140254"/>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txBox="1"/>
            <p:nvPr/>
          </p:nvSpPr>
          <p:spPr>
            <a:xfrm>
              <a:off x="7489508" y="2605564"/>
              <a:ext cx="1430385"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Find important</a:t>
              </a:r>
              <a:endParaRPr/>
            </a:p>
          </p:txBody>
        </p:sp>
        <p:sp>
          <p:nvSpPr>
            <p:cNvPr id="228" name="Google Shape;228;p5"/>
            <p:cNvSpPr txBox="1"/>
            <p:nvPr/>
          </p:nvSpPr>
          <p:spPr>
            <a:xfrm>
              <a:off x="7489508" y="2824639"/>
              <a:ext cx="2192930"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churn-related factors</a:t>
              </a:r>
              <a:endParaRPr/>
            </a:p>
          </p:txBody>
        </p:sp>
      </p:grpSp>
      <p:grpSp>
        <p:nvGrpSpPr>
          <p:cNvPr id="229" name="Google Shape;229;p5"/>
          <p:cNvGrpSpPr/>
          <p:nvPr/>
        </p:nvGrpSpPr>
        <p:grpSpPr>
          <a:xfrm>
            <a:off x="9563100" y="1428750"/>
            <a:ext cx="2057400" cy="1905000"/>
            <a:chOff x="9563100" y="1428750"/>
            <a:chExt cx="2057400" cy="1905000"/>
          </a:xfrm>
        </p:grpSpPr>
        <p:sp>
          <p:nvSpPr>
            <p:cNvPr id="230" name="Google Shape;230;p5"/>
            <p:cNvSpPr/>
            <p:nvPr/>
          </p:nvSpPr>
          <p:spPr>
            <a:xfrm>
              <a:off x="9563100" y="14287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9563100" y="14287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txBox="1"/>
            <p:nvPr/>
          </p:nvSpPr>
          <p:spPr>
            <a:xfrm>
              <a:off x="9728835" y="17325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05</a:t>
              </a:r>
              <a:endParaRPr/>
            </a:p>
          </p:txBody>
        </p:sp>
        <p:grpSp>
          <p:nvGrpSpPr>
            <p:cNvPr id="233" name="Google Shape;233;p5"/>
            <p:cNvGrpSpPr/>
            <p:nvPr/>
          </p:nvGrpSpPr>
          <p:grpSpPr>
            <a:xfrm>
              <a:off x="9770269" y="2131219"/>
              <a:ext cx="233362" cy="233362"/>
              <a:chOff x="9770269" y="2131219"/>
              <a:chExt cx="233362" cy="233362"/>
            </a:xfrm>
          </p:grpSpPr>
          <p:sp>
            <p:nvSpPr>
              <p:cNvPr id="234" name="Google Shape;234;p5"/>
              <p:cNvSpPr/>
              <p:nvPr/>
            </p:nvSpPr>
            <p:spPr>
              <a:xfrm>
                <a:off x="9770269" y="2131219"/>
                <a:ext cx="233362" cy="100012"/>
              </a:xfrm>
              <a:custGeom>
                <a:rect b="b" l="l" r="r" t="t"/>
                <a:pathLst>
                  <a:path extrusionOk="0" h="100012" w="233362">
                    <a:moveTo>
                      <a:pt x="33338" y="0"/>
                    </a:moveTo>
                    <a:lnTo>
                      <a:pt x="116681" y="0"/>
                    </a:lnTo>
                    <a:lnTo>
                      <a:pt x="116681" y="33338"/>
                    </a:lnTo>
                    <a:lnTo>
                      <a:pt x="233362" y="33338"/>
                    </a:lnTo>
                    <a:lnTo>
                      <a:pt x="233362" y="66675"/>
                    </a:lnTo>
                    <a:lnTo>
                      <a:pt x="116681" y="66675"/>
                    </a:lnTo>
                    <a:lnTo>
                      <a:pt x="116681" y="100012"/>
                    </a:lnTo>
                    <a:lnTo>
                      <a:pt x="33338" y="100012"/>
                    </a:lnTo>
                    <a:lnTo>
                      <a:pt x="33338" y="66675"/>
                    </a:lnTo>
                    <a:lnTo>
                      <a:pt x="0" y="66675"/>
                    </a:lnTo>
                    <a:lnTo>
                      <a:pt x="0" y="33338"/>
                    </a:lnTo>
                    <a:lnTo>
                      <a:pt x="33338" y="33338"/>
                    </a:lnTo>
                    <a:lnTo>
                      <a:pt x="33338" y="0"/>
                    </a:lnTo>
                    <a:close/>
                  </a:path>
                </a:pathLst>
              </a:custGeom>
              <a:solidFill>
                <a:srgbClr val="1565C0"/>
              </a:solidFill>
              <a:ln>
                <a:noFill/>
              </a:ln>
            </p:spPr>
          </p:sp>
          <p:sp>
            <p:nvSpPr>
              <p:cNvPr id="235" name="Google Shape;235;p5"/>
              <p:cNvSpPr/>
              <p:nvPr/>
            </p:nvSpPr>
            <p:spPr>
              <a:xfrm>
                <a:off x="9770269" y="2264569"/>
                <a:ext cx="233362" cy="100012"/>
              </a:xfrm>
              <a:custGeom>
                <a:rect b="b" l="l" r="r" t="t"/>
                <a:pathLst>
                  <a:path extrusionOk="0" h="100012" w="233362">
                    <a:moveTo>
                      <a:pt x="200025" y="66675"/>
                    </a:moveTo>
                    <a:lnTo>
                      <a:pt x="233362" y="66675"/>
                    </a:lnTo>
                    <a:lnTo>
                      <a:pt x="233362" y="33338"/>
                    </a:lnTo>
                    <a:lnTo>
                      <a:pt x="200025" y="33338"/>
                    </a:lnTo>
                    <a:lnTo>
                      <a:pt x="200025" y="0"/>
                    </a:lnTo>
                    <a:lnTo>
                      <a:pt x="116681" y="0"/>
                    </a:lnTo>
                    <a:lnTo>
                      <a:pt x="116681" y="33338"/>
                    </a:lnTo>
                    <a:lnTo>
                      <a:pt x="0" y="33338"/>
                    </a:lnTo>
                    <a:lnTo>
                      <a:pt x="0" y="66675"/>
                    </a:lnTo>
                    <a:lnTo>
                      <a:pt x="116681" y="66675"/>
                    </a:lnTo>
                    <a:lnTo>
                      <a:pt x="116681" y="100012"/>
                    </a:lnTo>
                    <a:lnTo>
                      <a:pt x="200025" y="100012"/>
                    </a:lnTo>
                    <a:lnTo>
                      <a:pt x="200025" y="66675"/>
                    </a:lnTo>
                    <a:close/>
                  </a:path>
                </a:pathLst>
              </a:custGeom>
              <a:solidFill>
                <a:srgbClr val="1565C0"/>
              </a:solidFill>
              <a:ln>
                <a:noFill/>
              </a:ln>
            </p:spPr>
          </p:sp>
        </p:grpSp>
        <p:sp>
          <p:nvSpPr>
            <p:cNvPr id="236" name="Google Shape;236;p5"/>
            <p:cNvSpPr txBox="1"/>
            <p:nvPr/>
          </p:nvSpPr>
          <p:spPr>
            <a:xfrm>
              <a:off x="9737408" y="2605564"/>
              <a:ext cx="133262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Create useful</a:t>
              </a:r>
              <a:endParaRPr/>
            </a:p>
          </p:txBody>
        </p:sp>
        <p:sp>
          <p:nvSpPr>
            <p:cNvPr id="237" name="Google Shape;237;p5"/>
            <p:cNvSpPr txBox="1"/>
            <p:nvPr/>
          </p:nvSpPr>
          <p:spPr>
            <a:xfrm>
              <a:off x="9737408" y="2824639"/>
              <a:ext cx="89269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features</a:t>
              </a:r>
              <a:endParaRPr/>
            </a:p>
          </p:txBody>
        </p:sp>
      </p:grpSp>
      <p:grpSp>
        <p:nvGrpSpPr>
          <p:cNvPr id="238" name="Google Shape;238;p5"/>
          <p:cNvGrpSpPr/>
          <p:nvPr/>
        </p:nvGrpSpPr>
        <p:grpSpPr>
          <a:xfrm>
            <a:off x="571500" y="3562350"/>
            <a:ext cx="2057400" cy="1905000"/>
            <a:chOff x="571500" y="3562350"/>
            <a:chExt cx="2057400" cy="1905000"/>
          </a:xfrm>
        </p:grpSpPr>
        <p:sp>
          <p:nvSpPr>
            <p:cNvPr id="239" name="Google Shape;239;p5"/>
            <p:cNvSpPr/>
            <p:nvPr/>
          </p:nvSpPr>
          <p:spPr>
            <a:xfrm>
              <a:off x="571500" y="35623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571500" y="35623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txBox="1"/>
            <p:nvPr/>
          </p:nvSpPr>
          <p:spPr>
            <a:xfrm>
              <a:off x="737235" y="38661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06</a:t>
              </a:r>
              <a:endParaRPr/>
            </a:p>
          </p:txBody>
        </p:sp>
        <p:sp>
          <p:nvSpPr>
            <p:cNvPr id="242" name="Google Shape;242;p5"/>
            <p:cNvSpPr/>
            <p:nvPr/>
          </p:nvSpPr>
          <p:spPr>
            <a:xfrm>
              <a:off x="762000" y="4248150"/>
              <a:ext cx="266700" cy="250031"/>
            </a:xfrm>
            <a:custGeom>
              <a:rect b="b" l="l" r="r" t="t"/>
              <a:pathLst>
                <a:path extrusionOk="0" h="250031" w="266700">
                  <a:moveTo>
                    <a:pt x="150019" y="0"/>
                  </a:moveTo>
                  <a:lnTo>
                    <a:pt x="150019" y="33338"/>
                  </a:lnTo>
                  <a:lnTo>
                    <a:pt x="216694" y="33338"/>
                  </a:lnTo>
                  <a:lnTo>
                    <a:pt x="266700" y="141684"/>
                  </a:lnTo>
                  <a:lnTo>
                    <a:pt x="216694" y="250031"/>
                  </a:lnTo>
                  <a:lnTo>
                    <a:pt x="50006" y="250031"/>
                  </a:lnTo>
                  <a:lnTo>
                    <a:pt x="0" y="141684"/>
                  </a:lnTo>
                  <a:lnTo>
                    <a:pt x="50006" y="33338"/>
                  </a:lnTo>
                  <a:lnTo>
                    <a:pt x="116681" y="33338"/>
                  </a:lnTo>
                  <a:lnTo>
                    <a:pt x="116681" y="0"/>
                  </a:lnTo>
                  <a:lnTo>
                    <a:pt x="150019" y="0"/>
                  </a:lnTo>
                  <a:close/>
                  <a:moveTo>
                    <a:pt x="76642" y="195664"/>
                  </a:moveTo>
                  <a:lnTo>
                    <a:pt x="133350" y="204389"/>
                  </a:lnTo>
                  <a:lnTo>
                    <a:pt x="190059" y="195664"/>
                  </a:lnTo>
                  <a:lnTo>
                    <a:pt x="184988" y="162714"/>
                  </a:lnTo>
                  <a:lnTo>
                    <a:pt x="133350" y="170658"/>
                  </a:lnTo>
                  <a:lnTo>
                    <a:pt x="81711" y="162714"/>
                  </a:lnTo>
                  <a:lnTo>
                    <a:pt x="76642" y="195664"/>
                  </a:lnTo>
                  <a:close/>
                  <a:moveTo>
                    <a:pt x="116681" y="112514"/>
                  </a:moveTo>
                  <a:cubicBezTo>
                    <a:pt x="116681" y="124022"/>
                    <a:pt x="107353" y="133350"/>
                    <a:pt x="95845" y="133350"/>
                  </a:cubicBezTo>
                  <a:cubicBezTo>
                    <a:pt x="84338" y="133350"/>
                    <a:pt x="75009" y="124022"/>
                    <a:pt x="75009" y="112514"/>
                  </a:cubicBezTo>
                  <a:cubicBezTo>
                    <a:pt x="75009" y="101007"/>
                    <a:pt x="84338" y="91678"/>
                    <a:pt x="95845" y="91678"/>
                  </a:cubicBezTo>
                  <a:cubicBezTo>
                    <a:pt x="107353" y="91678"/>
                    <a:pt x="116681" y="101007"/>
                    <a:pt x="116681" y="112514"/>
                  </a:cubicBezTo>
                  <a:close/>
                  <a:moveTo>
                    <a:pt x="170855" y="133350"/>
                  </a:moveTo>
                  <a:cubicBezTo>
                    <a:pt x="182363" y="133350"/>
                    <a:pt x="191691" y="124022"/>
                    <a:pt x="191691" y="112514"/>
                  </a:cubicBezTo>
                  <a:cubicBezTo>
                    <a:pt x="191691" y="101007"/>
                    <a:pt x="182363" y="91678"/>
                    <a:pt x="170855" y="91678"/>
                  </a:cubicBezTo>
                  <a:cubicBezTo>
                    <a:pt x="159347" y="91678"/>
                    <a:pt x="150019" y="101007"/>
                    <a:pt x="150019" y="112514"/>
                  </a:cubicBezTo>
                  <a:cubicBezTo>
                    <a:pt x="150019" y="124022"/>
                    <a:pt x="159347" y="133350"/>
                    <a:pt x="170855" y="13335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txBox="1"/>
            <p:nvPr/>
          </p:nvSpPr>
          <p:spPr>
            <a:xfrm>
              <a:off x="745808" y="4739164"/>
              <a:ext cx="1498818"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Train different</a:t>
              </a:r>
              <a:endParaRPr/>
            </a:p>
          </p:txBody>
        </p:sp>
        <p:sp>
          <p:nvSpPr>
            <p:cNvPr id="244" name="Google Shape;244;p5"/>
            <p:cNvSpPr txBox="1"/>
            <p:nvPr/>
          </p:nvSpPr>
          <p:spPr>
            <a:xfrm>
              <a:off x="745808" y="4958239"/>
              <a:ext cx="980679"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ML models</a:t>
              </a:r>
              <a:endParaRPr/>
            </a:p>
          </p:txBody>
        </p:sp>
      </p:grpSp>
      <p:grpSp>
        <p:nvGrpSpPr>
          <p:cNvPr id="245" name="Google Shape;245;p5"/>
          <p:cNvGrpSpPr/>
          <p:nvPr/>
        </p:nvGrpSpPr>
        <p:grpSpPr>
          <a:xfrm>
            <a:off x="2819400" y="3562350"/>
            <a:ext cx="2057400" cy="1905000"/>
            <a:chOff x="2819400" y="3562350"/>
            <a:chExt cx="2057400" cy="1905000"/>
          </a:xfrm>
        </p:grpSpPr>
        <p:sp>
          <p:nvSpPr>
            <p:cNvPr id="246" name="Google Shape;246;p5"/>
            <p:cNvSpPr/>
            <p:nvPr/>
          </p:nvSpPr>
          <p:spPr>
            <a:xfrm>
              <a:off x="2819400" y="35623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2819400" y="35623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txBox="1"/>
            <p:nvPr/>
          </p:nvSpPr>
          <p:spPr>
            <a:xfrm>
              <a:off x="2985135" y="38661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07</a:t>
              </a:r>
              <a:endParaRPr/>
            </a:p>
          </p:txBody>
        </p:sp>
        <p:grpSp>
          <p:nvGrpSpPr>
            <p:cNvPr id="249" name="Google Shape;249;p5"/>
            <p:cNvGrpSpPr/>
            <p:nvPr/>
          </p:nvGrpSpPr>
          <p:grpSpPr>
            <a:xfrm>
              <a:off x="3026569" y="4264819"/>
              <a:ext cx="233363" cy="233362"/>
              <a:chOff x="3026569" y="4264819"/>
              <a:chExt cx="233363" cy="233362"/>
            </a:xfrm>
          </p:grpSpPr>
          <p:sp>
            <p:nvSpPr>
              <p:cNvPr id="250" name="Google Shape;250;p5"/>
              <p:cNvSpPr/>
              <p:nvPr/>
            </p:nvSpPr>
            <p:spPr>
              <a:xfrm>
                <a:off x="3026569" y="4264819"/>
                <a:ext cx="233362" cy="233362"/>
              </a:xfrm>
              <a:custGeom>
                <a:rect b="b" l="l" r="r" t="t"/>
                <a:pathLst>
                  <a:path extrusionOk="0" h="233362" w="233362">
                    <a:moveTo>
                      <a:pt x="0" y="0"/>
                    </a:moveTo>
                    <a:lnTo>
                      <a:pt x="0" y="233362"/>
                    </a:lnTo>
                    <a:lnTo>
                      <a:pt x="233362" y="233362"/>
                    </a:lnTo>
                    <a:lnTo>
                      <a:pt x="233362" y="200025"/>
                    </a:lnTo>
                    <a:lnTo>
                      <a:pt x="33338" y="200025"/>
                    </a:lnTo>
                    <a:lnTo>
                      <a:pt x="33338" y="0"/>
                    </a:lnTo>
                    <a:lnTo>
                      <a:pt x="0" y="0"/>
                    </a:lnTo>
                    <a:close/>
                  </a:path>
                </a:pathLst>
              </a:custGeom>
              <a:solidFill>
                <a:srgbClr val="1565C0"/>
              </a:solidFill>
              <a:ln>
                <a:noFill/>
              </a:ln>
            </p:spPr>
          </p:sp>
          <p:sp>
            <p:nvSpPr>
              <p:cNvPr id="251" name="Google Shape;251;p5"/>
              <p:cNvSpPr/>
              <p:nvPr/>
            </p:nvSpPr>
            <p:spPr>
              <a:xfrm>
                <a:off x="3093244" y="4298156"/>
                <a:ext cx="166688" cy="133350"/>
              </a:xfrm>
              <a:custGeom>
                <a:rect b="b" l="l" r="r" t="t"/>
                <a:pathLst>
                  <a:path extrusionOk="0" h="133350" w="166688">
                    <a:moveTo>
                      <a:pt x="0" y="66675"/>
                    </a:moveTo>
                    <a:lnTo>
                      <a:pt x="33338" y="33338"/>
                    </a:lnTo>
                    <a:lnTo>
                      <a:pt x="83344" y="83344"/>
                    </a:lnTo>
                    <a:lnTo>
                      <a:pt x="166688" y="0"/>
                    </a:lnTo>
                    <a:lnTo>
                      <a:pt x="166688" y="133350"/>
                    </a:lnTo>
                    <a:lnTo>
                      <a:pt x="0" y="133350"/>
                    </a:lnTo>
                    <a:lnTo>
                      <a:pt x="0" y="66675"/>
                    </a:lnTo>
                    <a:close/>
                  </a:path>
                </a:pathLst>
              </a:custGeom>
              <a:solidFill>
                <a:srgbClr val="1565C0"/>
              </a:solidFill>
              <a:ln>
                <a:noFill/>
              </a:ln>
            </p:spPr>
          </p:sp>
        </p:grpSp>
        <p:sp>
          <p:nvSpPr>
            <p:cNvPr id="252" name="Google Shape;252;p5"/>
            <p:cNvSpPr txBox="1"/>
            <p:nvPr/>
          </p:nvSpPr>
          <p:spPr>
            <a:xfrm>
              <a:off x="2993708" y="4739164"/>
              <a:ext cx="1410832"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Compare model</a:t>
              </a:r>
              <a:endParaRPr/>
            </a:p>
          </p:txBody>
        </p:sp>
        <p:sp>
          <p:nvSpPr>
            <p:cNvPr id="253" name="Google Shape;253;p5"/>
            <p:cNvSpPr txBox="1"/>
            <p:nvPr/>
          </p:nvSpPr>
          <p:spPr>
            <a:xfrm>
              <a:off x="2993708" y="4958239"/>
              <a:ext cx="125441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performance</a:t>
              </a:r>
              <a:endParaRPr/>
            </a:p>
          </p:txBody>
        </p:sp>
      </p:grpSp>
      <p:grpSp>
        <p:nvGrpSpPr>
          <p:cNvPr id="254" name="Google Shape;254;p5"/>
          <p:cNvGrpSpPr/>
          <p:nvPr/>
        </p:nvGrpSpPr>
        <p:grpSpPr>
          <a:xfrm>
            <a:off x="5067300" y="3562350"/>
            <a:ext cx="2057400" cy="1905000"/>
            <a:chOff x="5067300" y="3562350"/>
            <a:chExt cx="2057400" cy="1905000"/>
          </a:xfrm>
        </p:grpSpPr>
        <p:sp>
          <p:nvSpPr>
            <p:cNvPr id="255" name="Google Shape;255;p5"/>
            <p:cNvSpPr/>
            <p:nvPr/>
          </p:nvSpPr>
          <p:spPr>
            <a:xfrm>
              <a:off x="5067300" y="35623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5067300" y="35623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txBox="1"/>
            <p:nvPr/>
          </p:nvSpPr>
          <p:spPr>
            <a:xfrm>
              <a:off x="5233035" y="38661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08</a:t>
              </a:r>
              <a:endParaRPr/>
            </a:p>
          </p:txBody>
        </p:sp>
        <p:sp>
          <p:nvSpPr>
            <p:cNvPr id="258" name="Google Shape;258;p5"/>
            <p:cNvSpPr/>
            <p:nvPr/>
          </p:nvSpPr>
          <p:spPr>
            <a:xfrm>
              <a:off x="5257800" y="4264819"/>
              <a:ext cx="266700" cy="216694"/>
            </a:xfrm>
            <a:custGeom>
              <a:rect b="b" l="l" r="r" t="t"/>
              <a:pathLst>
                <a:path extrusionOk="0" h="216694" w="266700">
                  <a:moveTo>
                    <a:pt x="29247" y="216694"/>
                  </a:moveTo>
                  <a:cubicBezTo>
                    <a:pt x="10947" y="193864"/>
                    <a:pt x="0" y="164886"/>
                    <a:pt x="0" y="133350"/>
                  </a:cubicBezTo>
                  <a:cubicBezTo>
                    <a:pt x="0" y="59703"/>
                    <a:pt x="59703" y="0"/>
                    <a:pt x="133350" y="0"/>
                  </a:cubicBezTo>
                  <a:cubicBezTo>
                    <a:pt x="206998" y="0"/>
                    <a:pt x="266700" y="59703"/>
                    <a:pt x="266700" y="133350"/>
                  </a:cubicBezTo>
                  <a:cubicBezTo>
                    <a:pt x="266700" y="164886"/>
                    <a:pt x="255754" y="193864"/>
                    <a:pt x="237453" y="216694"/>
                  </a:cubicBezTo>
                  <a:lnTo>
                    <a:pt x="153381" y="216694"/>
                  </a:lnTo>
                  <a:lnTo>
                    <a:pt x="212265" y="153001"/>
                  </a:lnTo>
                  <a:lnTo>
                    <a:pt x="187785" y="130369"/>
                  </a:lnTo>
                  <a:lnTo>
                    <a:pt x="107980" y="216694"/>
                  </a:lnTo>
                  <a:lnTo>
                    <a:pt x="29247" y="216694"/>
                  </a:lnTo>
                  <a:close/>
                  <a:moveTo>
                    <a:pt x="116681" y="50006"/>
                  </a:moveTo>
                  <a:cubicBezTo>
                    <a:pt x="116681" y="59212"/>
                    <a:pt x="124144" y="66675"/>
                    <a:pt x="133350" y="66675"/>
                  </a:cubicBezTo>
                  <a:cubicBezTo>
                    <a:pt x="142556" y="66675"/>
                    <a:pt x="150019" y="59212"/>
                    <a:pt x="150019" y="50006"/>
                  </a:cubicBezTo>
                  <a:cubicBezTo>
                    <a:pt x="150019" y="40800"/>
                    <a:pt x="142556" y="33338"/>
                    <a:pt x="133350" y="33338"/>
                  </a:cubicBezTo>
                  <a:cubicBezTo>
                    <a:pt x="124144" y="33338"/>
                    <a:pt x="116681" y="40800"/>
                    <a:pt x="116681" y="50006"/>
                  </a:cubicBezTo>
                  <a:close/>
                  <a:moveTo>
                    <a:pt x="191691" y="91678"/>
                  </a:moveTo>
                  <a:cubicBezTo>
                    <a:pt x="182484" y="91678"/>
                    <a:pt x="175022" y="84215"/>
                    <a:pt x="175022" y="75009"/>
                  </a:cubicBezTo>
                  <a:cubicBezTo>
                    <a:pt x="175022" y="65804"/>
                    <a:pt x="182484" y="58341"/>
                    <a:pt x="191691" y="58341"/>
                  </a:cubicBezTo>
                  <a:cubicBezTo>
                    <a:pt x="200897" y="58341"/>
                    <a:pt x="208359" y="65804"/>
                    <a:pt x="208359" y="75009"/>
                  </a:cubicBezTo>
                  <a:cubicBezTo>
                    <a:pt x="208359" y="84215"/>
                    <a:pt x="200897" y="91678"/>
                    <a:pt x="191691" y="91678"/>
                  </a:cubicBezTo>
                  <a:close/>
                  <a:moveTo>
                    <a:pt x="33338" y="133350"/>
                  </a:moveTo>
                  <a:cubicBezTo>
                    <a:pt x="33338" y="142556"/>
                    <a:pt x="40800" y="150019"/>
                    <a:pt x="50006" y="150019"/>
                  </a:cubicBezTo>
                  <a:cubicBezTo>
                    <a:pt x="59212" y="150019"/>
                    <a:pt x="66675" y="142556"/>
                    <a:pt x="66675" y="133350"/>
                  </a:cubicBezTo>
                  <a:cubicBezTo>
                    <a:pt x="66675" y="124144"/>
                    <a:pt x="59212" y="116681"/>
                    <a:pt x="50006" y="116681"/>
                  </a:cubicBezTo>
                  <a:cubicBezTo>
                    <a:pt x="40800" y="116681"/>
                    <a:pt x="33338" y="124144"/>
                    <a:pt x="33338" y="133350"/>
                  </a:cubicBezTo>
                  <a:close/>
                  <a:moveTo>
                    <a:pt x="75009" y="91678"/>
                  </a:moveTo>
                  <a:cubicBezTo>
                    <a:pt x="65804" y="91678"/>
                    <a:pt x="58341" y="84215"/>
                    <a:pt x="58341" y="75009"/>
                  </a:cubicBezTo>
                  <a:cubicBezTo>
                    <a:pt x="58341" y="65804"/>
                    <a:pt x="65804" y="58341"/>
                    <a:pt x="75009" y="58341"/>
                  </a:cubicBezTo>
                  <a:cubicBezTo>
                    <a:pt x="84215" y="58341"/>
                    <a:pt x="91678" y="65804"/>
                    <a:pt x="91678" y="75009"/>
                  </a:cubicBezTo>
                  <a:cubicBezTo>
                    <a:pt x="91678" y="84215"/>
                    <a:pt x="84215" y="91678"/>
                    <a:pt x="75009" y="91678"/>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txBox="1"/>
            <p:nvPr/>
          </p:nvSpPr>
          <p:spPr>
            <a:xfrm>
              <a:off x="5241608" y="4739164"/>
              <a:ext cx="133262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Predict churn</a:t>
              </a:r>
              <a:endParaRPr/>
            </a:p>
          </p:txBody>
        </p:sp>
        <p:sp>
          <p:nvSpPr>
            <p:cNvPr id="260" name="Google Shape;260;p5"/>
            <p:cNvSpPr txBox="1"/>
            <p:nvPr/>
          </p:nvSpPr>
          <p:spPr>
            <a:xfrm>
              <a:off x="5241608" y="4958239"/>
              <a:ext cx="1068665"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probability</a:t>
              </a:r>
              <a:endParaRPr/>
            </a:p>
          </p:txBody>
        </p:sp>
      </p:grpSp>
      <p:grpSp>
        <p:nvGrpSpPr>
          <p:cNvPr id="261" name="Google Shape;261;p5"/>
          <p:cNvGrpSpPr/>
          <p:nvPr/>
        </p:nvGrpSpPr>
        <p:grpSpPr>
          <a:xfrm>
            <a:off x="7315200" y="3562350"/>
            <a:ext cx="2057400" cy="1905000"/>
            <a:chOff x="7315200" y="3562350"/>
            <a:chExt cx="2057400" cy="1905000"/>
          </a:xfrm>
        </p:grpSpPr>
        <p:sp>
          <p:nvSpPr>
            <p:cNvPr id="262" name="Google Shape;262;p5"/>
            <p:cNvSpPr/>
            <p:nvPr/>
          </p:nvSpPr>
          <p:spPr>
            <a:xfrm>
              <a:off x="7315200" y="35623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7315200" y="35623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txBox="1"/>
            <p:nvPr/>
          </p:nvSpPr>
          <p:spPr>
            <a:xfrm>
              <a:off x="7480935" y="3866198"/>
              <a:ext cx="378471"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09</a:t>
              </a:r>
              <a:endParaRPr/>
            </a:p>
          </p:txBody>
        </p:sp>
        <p:grpSp>
          <p:nvGrpSpPr>
            <p:cNvPr id="265" name="Google Shape;265;p5"/>
            <p:cNvGrpSpPr/>
            <p:nvPr/>
          </p:nvGrpSpPr>
          <p:grpSpPr>
            <a:xfrm>
              <a:off x="7522369" y="4248150"/>
              <a:ext cx="233362" cy="266700"/>
              <a:chOff x="7522369" y="4248150"/>
              <a:chExt cx="233362" cy="266700"/>
            </a:xfrm>
          </p:grpSpPr>
          <p:sp>
            <p:nvSpPr>
              <p:cNvPr id="266" name="Google Shape;266;p5"/>
              <p:cNvSpPr/>
              <p:nvPr/>
            </p:nvSpPr>
            <p:spPr>
              <a:xfrm>
                <a:off x="7522369" y="4248150"/>
                <a:ext cx="233362" cy="133350"/>
              </a:xfrm>
              <a:custGeom>
                <a:rect b="b" l="l" r="r" t="t"/>
                <a:pathLst>
                  <a:path extrusionOk="0" h="133350" w="233362">
                    <a:moveTo>
                      <a:pt x="0" y="83344"/>
                    </a:moveTo>
                    <a:lnTo>
                      <a:pt x="0" y="50006"/>
                    </a:lnTo>
                    <a:lnTo>
                      <a:pt x="116681" y="0"/>
                    </a:lnTo>
                    <a:lnTo>
                      <a:pt x="233362" y="50006"/>
                    </a:lnTo>
                    <a:lnTo>
                      <a:pt x="233362" y="83344"/>
                    </a:lnTo>
                    <a:lnTo>
                      <a:pt x="116681" y="133350"/>
                    </a:lnTo>
                    <a:lnTo>
                      <a:pt x="0" y="83344"/>
                    </a:lnTo>
                    <a:close/>
                  </a:path>
                </a:pathLst>
              </a:custGeom>
              <a:solidFill>
                <a:srgbClr val="1565C0"/>
              </a:solidFill>
              <a:ln>
                <a:noFill/>
              </a:ln>
            </p:spPr>
          </p:sp>
          <p:sp>
            <p:nvSpPr>
              <p:cNvPr id="267" name="Google Shape;267;p5"/>
              <p:cNvSpPr/>
              <p:nvPr/>
            </p:nvSpPr>
            <p:spPr>
              <a:xfrm>
                <a:off x="7522369" y="4431506"/>
                <a:ext cx="233362" cy="83344"/>
              </a:xfrm>
              <a:custGeom>
                <a:rect b="b" l="l" r="r" t="t"/>
                <a:pathLst>
                  <a:path extrusionOk="0" h="83344" w="233362">
                    <a:moveTo>
                      <a:pt x="116681" y="83344"/>
                    </a:moveTo>
                    <a:lnTo>
                      <a:pt x="0" y="33338"/>
                    </a:lnTo>
                    <a:lnTo>
                      <a:pt x="0" y="0"/>
                    </a:lnTo>
                    <a:lnTo>
                      <a:pt x="116681" y="50006"/>
                    </a:lnTo>
                    <a:lnTo>
                      <a:pt x="233362" y="0"/>
                    </a:lnTo>
                    <a:lnTo>
                      <a:pt x="233362" y="33338"/>
                    </a:lnTo>
                    <a:lnTo>
                      <a:pt x="116681" y="83344"/>
                    </a:lnTo>
                    <a:close/>
                  </a:path>
                </a:pathLst>
              </a:custGeom>
              <a:solidFill>
                <a:srgbClr val="1565C0"/>
              </a:solidFill>
              <a:ln>
                <a:noFill/>
              </a:ln>
            </p:spPr>
          </p:sp>
          <p:sp>
            <p:nvSpPr>
              <p:cNvPr id="268" name="Google Shape;268;p5"/>
              <p:cNvSpPr/>
              <p:nvPr/>
            </p:nvSpPr>
            <p:spPr>
              <a:xfrm>
                <a:off x="7522369" y="4364831"/>
                <a:ext cx="233362" cy="83344"/>
              </a:xfrm>
              <a:custGeom>
                <a:rect b="b" l="l" r="r" t="t"/>
                <a:pathLst>
                  <a:path extrusionOk="0" h="83344" w="233362">
                    <a:moveTo>
                      <a:pt x="0" y="33338"/>
                    </a:moveTo>
                    <a:lnTo>
                      <a:pt x="116681" y="83344"/>
                    </a:lnTo>
                    <a:lnTo>
                      <a:pt x="233362" y="33338"/>
                    </a:lnTo>
                    <a:lnTo>
                      <a:pt x="233362" y="0"/>
                    </a:lnTo>
                    <a:lnTo>
                      <a:pt x="116681" y="50006"/>
                    </a:lnTo>
                    <a:lnTo>
                      <a:pt x="0" y="0"/>
                    </a:lnTo>
                    <a:lnTo>
                      <a:pt x="0" y="33338"/>
                    </a:lnTo>
                    <a:close/>
                  </a:path>
                </a:pathLst>
              </a:custGeom>
              <a:solidFill>
                <a:srgbClr val="1565C0"/>
              </a:solidFill>
              <a:ln>
                <a:noFill/>
              </a:ln>
            </p:spPr>
          </p:sp>
        </p:grpSp>
        <p:sp>
          <p:nvSpPr>
            <p:cNvPr id="269" name="Google Shape;269;p5"/>
            <p:cNvSpPr txBox="1"/>
            <p:nvPr/>
          </p:nvSpPr>
          <p:spPr>
            <a:xfrm>
              <a:off x="7489508" y="4739164"/>
              <a:ext cx="1586804"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Assign customer</a:t>
              </a:r>
              <a:endParaRPr/>
            </a:p>
          </p:txBody>
        </p:sp>
        <p:sp>
          <p:nvSpPr>
            <p:cNvPr id="270" name="Google Shape;270;p5"/>
            <p:cNvSpPr txBox="1"/>
            <p:nvPr/>
          </p:nvSpPr>
          <p:spPr>
            <a:xfrm>
              <a:off x="7489508" y="4958239"/>
              <a:ext cx="1019783"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risk levels</a:t>
              </a:r>
              <a:endParaRPr/>
            </a:p>
          </p:txBody>
        </p:sp>
      </p:grpSp>
      <p:grpSp>
        <p:nvGrpSpPr>
          <p:cNvPr id="271" name="Google Shape;271;p5"/>
          <p:cNvGrpSpPr/>
          <p:nvPr/>
        </p:nvGrpSpPr>
        <p:grpSpPr>
          <a:xfrm>
            <a:off x="9563100" y="3562350"/>
            <a:ext cx="2249923" cy="1905000"/>
            <a:chOff x="9563100" y="3562350"/>
            <a:chExt cx="2249923" cy="1905000"/>
          </a:xfrm>
        </p:grpSpPr>
        <p:sp>
          <p:nvSpPr>
            <p:cNvPr id="272" name="Google Shape;272;p5"/>
            <p:cNvSpPr/>
            <p:nvPr/>
          </p:nvSpPr>
          <p:spPr>
            <a:xfrm>
              <a:off x="9563100" y="3562350"/>
              <a:ext cx="2057400" cy="1905000"/>
            </a:xfrm>
            <a:custGeom>
              <a:rect b="b" l="l" r="r" t="t"/>
              <a:pathLst>
                <a:path extrusionOk="0" h="1905000" w="2057400">
                  <a:moveTo>
                    <a:pt x="95250" y="0"/>
                  </a:moveTo>
                  <a:lnTo>
                    <a:pt x="1962150" y="0"/>
                  </a:lnTo>
                  <a:cubicBezTo>
                    <a:pt x="2014755" y="0"/>
                    <a:pt x="2057400" y="42645"/>
                    <a:pt x="2057400" y="95250"/>
                  </a:cubicBezTo>
                  <a:lnTo>
                    <a:pt x="2057400" y="1809750"/>
                  </a:lnTo>
                  <a:cubicBezTo>
                    <a:pt x="2057400" y="1862355"/>
                    <a:pt x="2014755" y="1905000"/>
                    <a:pt x="19621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9563100" y="3562350"/>
              <a:ext cx="2057400" cy="38100"/>
            </a:xfrm>
            <a:custGeom>
              <a:rect b="b" l="l" r="r" t="t"/>
              <a:pathLst>
                <a:path extrusionOk="0" h="38100" w="2057400">
                  <a:moveTo>
                    <a:pt x="19050" y="0"/>
                  </a:moveTo>
                  <a:lnTo>
                    <a:pt x="2038350" y="0"/>
                  </a:lnTo>
                  <a:cubicBezTo>
                    <a:pt x="2048871" y="0"/>
                    <a:pt x="2057400" y="8529"/>
                    <a:pt x="2057400" y="19050"/>
                  </a:cubicBezTo>
                  <a:lnTo>
                    <a:pt x="2057400" y="19050"/>
                  </a:lnTo>
                  <a:cubicBezTo>
                    <a:pt x="2057400" y="29571"/>
                    <a:pt x="2048871" y="38100"/>
                    <a:pt x="20383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txBox="1"/>
            <p:nvPr/>
          </p:nvSpPr>
          <p:spPr>
            <a:xfrm>
              <a:off x="9728835" y="3866198"/>
              <a:ext cx="303712" cy="3962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950" u="none" cap="none" strike="noStrike">
                  <a:solidFill>
                    <a:srgbClr val="1565C0"/>
                  </a:solidFill>
                  <a:latin typeface="Quattrocento Sans"/>
                  <a:ea typeface="Quattrocento Sans"/>
                  <a:cs typeface="Quattrocento Sans"/>
                  <a:sym typeface="Quattrocento Sans"/>
                </a:rPr>
                <a:t>10</a:t>
              </a:r>
              <a:endParaRPr/>
            </a:p>
          </p:txBody>
        </p:sp>
        <p:grpSp>
          <p:nvGrpSpPr>
            <p:cNvPr id="275" name="Google Shape;275;p5"/>
            <p:cNvGrpSpPr/>
            <p:nvPr/>
          </p:nvGrpSpPr>
          <p:grpSpPr>
            <a:xfrm>
              <a:off x="9786938" y="4248150"/>
              <a:ext cx="200025" cy="266700"/>
              <a:chOff x="9786938" y="4248150"/>
              <a:chExt cx="200025" cy="266700"/>
            </a:xfrm>
          </p:grpSpPr>
          <p:sp>
            <p:nvSpPr>
              <p:cNvPr id="276" name="Google Shape;276;p5"/>
              <p:cNvSpPr/>
              <p:nvPr/>
            </p:nvSpPr>
            <p:spPr>
              <a:xfrm>
                <a:off x="9853612" y="4248150"/>
                <a:ext cx="66675" cy="50006"/>
              </a:xfrm>
              <a:custGeom>
                <a:rect b="b" l="l" r="r" t="t"/>
                <a:pathLst>
                  <a:path extrusionOk="0" h="50006" w="66675">
                    <a:moveTo>
                      <a:pt x="66675" y="0"/>
                    </a:moveTo>
                    <a:lnTo>
                      <a:pt x="0" y="0"/>
                    </a:lnTo>
                    <a:lnTo>
                      <a:pt x="0" y="50006"/>
                    </a:lnTo>
                    <a:lnTo>
                      <a:pt x="66675" y="50006"/>
                    </a:lnTo>
                    <a:lnTo>
                      <a:pt x="66675" y="0"/>
                    </a:lnTo>
                    <a:close/>
                  </a:path>
                </a:pathLst>
              </a:custGeom>
              <a:solidFill>
                <a:srgbClr val="1565C0"/>
              </a:solidFill>
              <a:ln>
                <a:noFill/>
              </a:ln>
            </p:spPr>
          </p:sp>
          <p:sp>
            <p:nvSpPr>
              <p:cNvPr id="277" name="Google Shape;277;p5"/>
              <p:cNvSpPr/>
              <p:nvPr/>
            </p:nvSpPr>
            <p:spPr>
              <a:xfrm>
                <a:off x="9786938" y="4281488"/>
                <a:ext cx="200025" cy="233362"/>
              </a:xfrm>
              <a:custGeom>
                <a:rect b="b" l="l" r="r" t="t"/>
                <a:pathLst>
                  <a:path extrusionOk="0" h="233362" w="200025">
                    <a:moveTo>
                      <a:pt x="33338" y="0"/>
                    </a:moveTo>
                    <a:lnTo>
                      <a:pt x="0" y="0"/>
                    </a:lnTo>
                    <a:lnTo>
                      <a:pt x="0" y="233362"/>
                    </a:lnTo>
                    <a:lnTo>
                      <a:pt x="200025" y="233362"/>
                    </a:lnTo>
                    <a:lnTo>
                      <a:pt x="200025" y="0"/>
                    </a:lnTo>
                    <a:lnTo>
                      <a:pt x="166688" y="0"/>
                    </a:lnTo>
                    <a:lnTo>
                      <a:pt x="166688" y="50006"/>
                    </a:lnTo>
                    <a:lnTo>
                      <a:pt x="33338" y="50006"/>
                    </a:lnTo>
                    <a:lnTo>
                      <a:pt x="33338" y="0"/>
                    </a:lnTo>
                    <a:close/>
                  </a:path>
                </a:pathLst>
              </a:custGeom>
              <a:solidFill>
                <a:srgbClr val="1565C0"/>
              </a:solidFill>
              <a:ln>
                <a:noFill/>
              </a:ln>
            </p:spPr>
          </p:sp>
        </p:grpSp>
        <p:sp>
          <p:nvSpPr>
            <p:cNvPr id="278" name="Google Shape;278;p5"/>
            <p:cNvSpPr txBox="1"/>
            <p:nvPr/>
          </p:nvSpPr>
          <p:spPr>
            <a:xfrm>
              <a:off x="9737408" y="4739164"/>
              <a:ext cx="1058888"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Generate a</a:t>
              </a:r>
              <a:endParaRPr/>
            </a:p>
          </p:txBody>
        </p:sp>
        <p:sp>
          <p:nvSpPr>
            <p:cNvPr id="279" name="Google Shape;279;p5"/>
            <p:cNvSpPr txBox="1"/>
            <p:nvPr/>
          </p:nvSpPr>
          <p:spPr>
            <a:xfrm>
              <a:off x="9737408" y="4958239"/>
              <a:ext cx="2075615"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customer risk report</a:t>
              </a:r>
              <a:endParaRPr/>
            </a:p>
          </p:txBody>
        </p:sp>
      </p:grpSp>
      <p:grpSp>
        <p:nvGrpSpPr>
          <p:cNvPr id="280" name="Google Shape;280;p5"/>
          <p:cNvGrpSpPr/>
          <p:nvPr/>
        </p:nvGrpSpPr>
        <p:grpSpPr>
          <a:xfrm>
            <a:off x="561022" y="6381750"/>
            <a:ext cx="11069956" cy="345281"/>
            <a:chOff x="561022" y="6381750"/>
            <a:chExt cx="11069956" cy="345281"/>
          </a:xfrm>
        </p:grpSpPr>
        <p:sp>
          <p:nvSpPr>
            <p:cNvPr id="281" name="Google Shape;281;p5"/>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282" name="Google Shape;282;p5"/>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283" name="Google Shape;283;p5"/>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05 / 18</a:t>
              </a:r>
              <a:endParaRP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6"/>
          <p:cNvGrpSpPr/>
          <p:nvPr/>
        </p:nvGrpSpPr>
        <p:grpSpPr>
          <a:xfrm>
            <a:off x="541020" y="426720"/>
            <a:ext cx="1477937" cy="697230"/>
            <a:chOff x="541020" y="426720"/>
            <a:chExt cx="1477937" cy="697230"/>
          </a:xfrm>
        </p:grpSpPr>
        <p:sp>
          <p:nvSpPr>
            <p:cNvPr id="291" name="Google Shape;291;p6"/>
            <p:cNvSpPr txBox="1"/>
            <p:nvPr/>
          </p:nvSpPr>
          <p:spPr>
            <a:xfrm>
              <a:off x="541020" y="426720"/>
              <a:ext cx="1477937"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Dataset</a:t>
              </a:r>
              <a:endParaRPr/>
            </a:p>
          </p:txBody>
        </p:sp>
        <p:sp>
          <p:nvSpPr>
            <p:cNvPr id="292" name="Google Shape;292;p6"/>
            <p:cNvSpPr txBox="1"/>
            <p:nvPr/>
          </p:nvSpPr>
          <p:spPr>
            <a:xfrm>
              <a:off x="554355" y="806768"/>
              <a:ext cx="128630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Dataset Used</a:t>
              </a:r>
              <a:endParaRPr/>
            </a:p>
          </p:txBody>
        </p:sp>
        <p:sp>
          <p:nvSpPr>
            <p:cNvPr id="293" name="Google Shape;293;p6"/>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6"/>
          <p:cNvGrpSpPr/>
          <p:nvPr/>
        </p:nvGrpSpPr>
        <p:grpSpPr>
          <a:xfrm>
            <a:off x="571500" y="1257300"/>
            <a:ext cx="3486150" cy="1238250"/>
            <a:chOff x="571500" y="1257300"/>
            <a:chExt cx="3486150" cy="1238250"/>
          </a:xfrm>
        </p:grpSpPr>
        <p:sp>
          <p:nvSpPr>
            <p:cNvPr id="295" name="Google Shape;295;p6"/>
            <p:cNvSpPr/>
            <p:nvPr/>
          </p:nvSpPr>
          <p:spPr>
            <a:xfrm>
              <a:off x="571500" y="1257300"/>
              <a:ext cx="3486150" cy="1238250"/>
            </a:xfrm>
            <a:custGeom>
              <a:rect b="b" l="l" r="r" t="t"/>
              <a:pathLst>
                <a:path extrusionOk="0" h="1238250" w="3486150">
                  <a:moveTo>
                    <a:pt x="95250" y="0"/>
                  </a:moveTo>
                  <a:lnTo>
                    <a:pt x="3390900" y="0"/>
                  </a:lnTo>
                  <a:cubicBezTo>
                    <a:pt x="3443505" y="0"/>
                    <a:pt x="3486150" y="42645"/>
                    <a:pt x="3486150" y="95250"/>
                  </a:cubicBezTo>
                  <a:lnTo>
                    <a:pt x="3486150" y="1143000"/>
                  </a:lnTo>
                  <a:cubicBezTo>
                    <a:pt x="3486150" y="1195605"/>
                    <a:pt x="3443505" y="1238250"/>
                    <a:pt x="3390900" y="1238250"/>
                  </a:cubicBezTo>
                  <a:lnTo>
                    <a:pt x="95250" y="1238250"/>
                  </a:lnTo>
                  <a:cubicBezTo>
                    <a:pt x="42645" y="1238250"/>
                    <a:pt x="0" y="1195605"/>
                    <a:pt x="0" y="11430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90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762000" y="1447800"/>
              <a:ext cx="57150" cy="457200"/>
            </a:xfrm>
            <a:custGeom>
              <a:rect b="b" l="l" r="r" t="t"/>
              <a:pathLst>
                <a:path extrusionOk="0" h="457200" w="57150">
                  <a:moveTo>
                    <a:pt x="28575" y="0"/>
                  </a:moveTo>
                  <a:lnTo>
                    <a:pt x="28575" y="0"/>
                  </a:lnTo>
                  <a:cubicBezTo>
                    <a:pt x="44357" y="0"/>
                    <a:pt x="57150" y="12793"/>
                    <a:pt x="57150" y="28575"/>
                  </a:cubicBezTo>
                  <a:lnTo>
                    <a:pt x="57150" y="428625"/>
                  </a:lnTo>
                  <a:cubicBezTo>
                    <a:pt x="57150" y="444407"/>
                    <a:pt x="44357" y="457200"/>
                    <a:pt x="28575" y="457200"/>
                  </a:cubicBezTo>
                  <a:lnTo>
                    <a:pt x="28575" y="457200"/>
                  </a:lnTo>
                  <a:cubicBezTo>
                    <a:pt x="12793" y="457200"/>
                    <a:pt x="0" y="444407"/>
                    <a:pt x="0" y="4286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7" name="Google Shape;297;p6"/>
            <p:cNvGrpSpPr/>
            <p:nvPr/>
          </p:nvGrpSpPr>
          <p:grpSpPr>
            <a:xfrm>
              <a:off x="3559969" y="1428750"/>
              <a:ext cx="214312" cy="285750"/>
              <a:chOff x="3559969" y="1428750"/>
              <a:chExt cx="214312" cy="285750"/>
            </a:xfrm>
          </p:grpSpPr>
          <p:sp>
            <p:nvSpPr>
              <p:cNvPr id="298" name="Google Shape;298;p6"/>
              <p:cNvSpPr/>
              <p:nvPr/>
            </p:nvSpPr>
            <p:spPr>
              <a:xfrm>
                <a:off x="3559969" y="1543050"/>
                <a:ext cx="214312" cy="82153"/>
              </a:xfrm>
              <a:custGeom>
                <a:rect b="b" l="l" r="r" t="t"/>
                <a:pathLst>
                  <a:path extrusionOk="0" h="82153" w="214312">
                    <a:moveTo>
                      <a:pt x="198902" y="9111"/>
                    </a:moveTo>
                    <a:cubicBezTo>
                      <a:pt x="203925" y="6599"/>
                      <a:pt x="209174" y="3568"/>
                      <a:pt x="214312" y="0"/>
                    </a:cubicBezTo>
                    <a:lnTo>
                      <a:pt x="214312" y="28575"/>
                    </a:lnTo>
                    <a:cubicBezTo>
                      <a:pt x="214312" y="58165"/>
                      <a:pt x="166337" y="82153"/>
                      <a:pt x="107156" y="82153"/>
                    </a:cubicBezTo>
                    <a:cubicBezTo>
                      <a:pt x="47975" y="82153"/>
                      <a:pt x="0" y="58165"/>
                      <a:pt x="0" y="28575"/>
                    </a:cubicBezTo>
                    <a:lnTo>
                      <a:pt x="0" y="0"/>
                    </a:lnTo>
                    <a:cubicBezTo>
                      <a:pt x="5138" y="3568"/>
                      <a:pt x="10387" y="6599"/>
                      <a:pt x="15411" y="9111"/>
                    </a:cubicBezTo>
                    <a:cubicBezTo>
                      <a:pt x="40737" y="21774"/>
                      <a:pt x="73223" y="28575"/>
                      <a:pt x="107156" y="28575"/>
                    </a:cubicBezTo>
                    <a:cubicBezTo>
                      <a:pt x="141089" y="28575"/>
                      <a:pt x="173575" y="21774"/>
                      <a:pt x="198902" y="9111"/>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
              <p:cNvSpPr/>
              <p:nvPr/>
            </p:nvSpPr>
            <p:spPr>
              <a:xfrm>
                <a:off x="3559969" y="1632347"/>
                <a:ext cx="214312" cy="82153"/>
              </a:xfrm>
              <a:custGeom>
                <a:rect b="b" l="l" r="r" t="t"/>
                <a:pathLst>
                  <a:path extrusionOk="0" h="82153" w="214312">
                    <a:moveTo>
                      <a:pt x="0" y="0"/>
                    </a:moveTo>
                    <a:lnTo>
                      <a:pt x="0" y="28575"/>
                    </a:lnTo>
                    <a:cubicBezTo>
                      <a:pt x="0" y="58166"/>
                      <a:pt x="47975" y="82153"/>
                      <a:pt x="107156" y="82153"/>
                    </a:cubicBezTo>
                    <a:cubicBezTo>
                      <a:pt x="166337" y="82153"/>
                      <a:pt x="214312" y="58166"/>
                      <a:pt x="214312" y="28575"/>
                    </a:cubicBezTo>
                    <a:lnTo>
                      <a:pt x="214312" y="0"/>
                    </a:lnTo>
                    <a:cubicBezTo>
                      <a:pt x="209174" y="3568"/>
                      <a:pt x="203925" y="6599"/>
                      <a:pt x="198902" y="9112"/>
                    </a:cubicBezTo>
                    <a:cubicBezTo>
                      <a:pt x="173575" y="21774"/>
                      <a:pt x="141089" y="28575"/>
                      <a:pt x="107156" y="28575"/>
                    </a:cubicBezTo>
                    <a:cubicBezTo>
                      <a:pt x="73223" y="28575"/>
                      <a:pt x="40737" y="21774"/>
                      <a:pt x="15411" y="9112"/>
                    </a:cubicBezTo>
                    <a:cubicBezTo>
                      <a:pt x="10387" y="6599"/>
                      <a:pt x="5138" y="3568"/>
                      <a:pt x="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3559969" y="1428750"/>
                <a:ext cx="214312" cy="107156"/>
              </a:xfrm>
              <a:custGeom>
                <a:rect b="b" l="l" r="r" t="t"/>
                <a:pathLst>
                  <a:path extrusionOk="0" h="107156" w="214312">
                    <a:moveTo>
                      <a:pt x="107156" y="0"/>
                    </a:moveTo>
                    <a:cubicBezTo>
                      <a:pt x="166337" y="0"/>
                      <a:pt x="214312" y="23988"/>
                      <a:pt x="214312" y="53578"/>
                    </a:cubicBezTo>
                    <a:cubicBezTo>
                      <a:pt x="214312" y="83168"/>
                      <a:pt x="166337" y="107156"/>
                      <a:pt x="107156" y="107156"/>
                    </a:cubicBezTo>
                    <a:cubicBezTo>
                      <a:pt x="47975" y="107156"/>
                      <a:pt x="0" y="83168"/>
                      <a:pt x="0" y="53578"/>
                    </a:cubicBezTo>
                    <a:cubicBezTo>
                      <a:pt x="0" y="23988"/>
                      <a:pt x="47975" y="0"/>
                      <a:pt x="107156"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6"/>
            <p:cNvSpPr txBox="1"/>
            <p:nvPr/>
          </p:nvSpPr>
          <p:spPr>
            <a:xfrm>
              <a:off x="958215" y="1448752"/>
              <a:ext cx="1429845" cy="213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050" u="none" cap="none" strike="noStrike">
                  <a:solidFill>
                    <a:srgbClr val="52606D"/>
                  </a:solidFill>
                  <a:latin typeface="Quattrocento Sans"/>
                  <a:ea typeface="Quattrocento Sans"/>
                  <a:cs typeface="Quattrocento Sans"/>
                  <a:sym typeface="Quattrocento Sans"/>
                </a:rPr>
                <a:t>CUSTOMER RECORDS</a:t>
              </a:r>
              <a:endParaRPr/>
            </a:p>
          </p:txBody>
        </p:sp>
        <p:sp>
          <p:nvSpPr>
            <p:cNvPr id="302" name="Google Shape;302;p6"/>
            <p:cNvSpPr txBox="1"/>
            <p:nvPr/>
          </p:nvSpPr>
          <p:spPr>
            <a:xfrm>
              <a:off x="927735" y="1742122"/>
              <a:ext cx="1701282" cy="701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450" u="none" cap="none" strike="noStrike">
                  <a:solidFill>
                    <a:srgbClr val="1F2933"/>
                  </a:solidFill>
                  <a:latin typeface="Quattrocento Sans"/>
                  <a:ea typeface="Quattrocento Sans"/>
                  <a:cs typeface="Quattrocento Sans"/>
                  <a:sym typeface="Quattrocento Sans"/>
                </a:rPr>
                <a:t>10,000</a:t>
              </a:r>
              <a:endParaRPr/>
            </a:p>
          </p:txBody>
        </p:sp>
        <p:sp>
          <p:nvSpPr>
            <p:cNvPr id="303" name="Google Shape;303;p6"/>
            <p:cNvSpPr txBox="1"/>
            <p:nvPr/>
          </p:nvSpPr>
          <p:spPr>
            <a:xfrm>
              <a:off x="959168" y="2256949"/>
              <a:ext cx="1270754" cy="198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75" u="none" cap="none" strike="noStrike">
                  <a:solidFill>
                    <a:srgbClr val="9AA5B1"/>
                  </a:solidFill>
                  <a:latin typeface="Quattrocento Sans"/>
                  <a:ea typeface="Quattrocento Sans"/>
                  <a:cs typeface="Quattrocento Sans"/>
                  <a:sym typeface="Quattrocento Sans"/>
                </a:rPr>
                <a:t>customer records</a:t>
              </a:r>
              <a:endParaRPr/>
            </a:p>
          </p:txBody>
        </p:sp>
      </p:grpSp>
      <p:grpSp>
        <p:nvGrpSpPr>
          <p:cNvPr id="304" name="Google Shape;304;p6"/>
          <p:cNvGrpSpPr/>
          <p:nvPr/>
        </p:nvGrpSpPr>
        <p:grpSpPr>
          <a:xfrm>
            <a:off x="4352925" y="1257300"/>
            <a:ext cx="3486150" cy="1238250"/>
            <a:chOff x="4352925" y="1257300"/>
            <a:chExt cx="3486150" cy="1238250"/>
          </a:xfrm>
        </p:grpSpPr>
        <p:sp>
          <p:nvSpPr>
            <p:cNvPr id="305" name="Google Shape;305;p6"/>
            <p:cNvSpPr/>
            <p:nvPr/>
          </p:nvSpPr>
          <p:spPr>
            <a:xfrm>
              <a:off x="4352925" y="1257300"/>
              <a:ext cx="3486150" cy="1238250"/>
            </a:xfrm>
            <a:custGeom>
              <a:rect b="b" l="l" r="r" t="t"/>
              <a:pathLst>
                <a:path extrusionOk="0" h="1238250" w="3486150">
                  <a:moveTo>
                    <a:pt x="95250" y="0"/>
                  </a:moveTo>
                  <a:lnTo>
                    <a:pt x="3390900" y="0"/>
                  </a:lnTo>
                  <a:cubicBezTo>
                    <a:pt x="3443505" y="0"/>
                    <a:pt x="3486150" y="42645"/>
                    <a:pt x="3486150" y="95250"/>
                  </a:cubicBezTo>
                  <a:lnTo>
                    <a:pt x="3486150" y="1143000"/>
                  </a:lnTo>
                  <a:cubicBezTo>
                    <a:pt x="3486150" y="1195605"/>
                    <a:pt x="3443505" y="1238250"/>
                    <a:pt x="3390900" y="1238250"/>
                  </a:cubicBezTo>
                  <a:lnTo>
                    <a:pt x="95250" y="1238250"/>
                  </a:lnTo>
                  <a:cubicBezTo>
                    <a:pt x="42645" y="1238250"/>
                    <a:pt x="0" y="1195605"/>
                    <a:pt x="0" y="11430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90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4543425" y="1447800"/>
              <a:ext cx="57150" cy="457200"/>
            </a:xfrm>
            <a:custGeom>
              <a:rect b="b" l="l" r="r" t="t"/>
              <a:pathLst>
                <a:path extrusionOk="0" h="457200" w="57150">
                  <a:moveTo>
                    <a:pt x="28575" y="0"/>
                  </a:moveTo>
                  <a:lnTo>
                    <a:pt x="28575" y="0"/>
                  </a:lnTo>
                  <a:cubicBezTo>
                    <a:pt x="44357" y="0"/>
                    <a:pt x="57150" y="12793"/>
                    <a:pt x="57150" y="28575"/>
                  </a:cubicBezTo>
                  <a:lnTo>
                    <a:pt x="57150" y="428625"/>
                  </a:lnTo>
                  <a:cubicBezTo>
                    <a:pt x="57150" y="444407"/>
                    <a:pt x="44357" y="457200"/>
                    <a:pt x="28575" y="457200"/>
                  </a:cubicBezTo>
                  <a:lnTo>
                    <a:pt x="28575" y="457200"/>
                  </a:lnTo>
                  <a:cubicBezTo>
                    <a:pt x="12793" y="457200"/>
                    <a:pt x="0" y="444407"/>
                    <a:pt x="0" y="4286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 name="Google Shape;307;p6"/>
            <p:cNvGrpSpPr/>
            <p:nvPr/>
          </p:nvGrpSpPr>
          <p:grpSpPr>
            <a:xfrm>
              <a:off x="7323534" y="1446609"/>
              <a:ext cx="250031" cy="250031"/>
              <a:chOff x="7323534" y="1446609"/>
              <a:chExt cx="250031" cy="250031"/>
            </a:xfrm>
          </p:grpSpPr>
          <p:sp>
            <p:nvSpPr>
              <p:cNvPr id="308" name="Google Shape;308;p6"/>
              <p:cNvSpPr/>
              <p:nvPr/>
            </p:nvSpPr>
            <p:spPr>
              <a:xfrm>
                <a:off x="7323534" y="1446609"/>
                <a:ext cx="107156" cy="250031"/>
              </a:xfrm>
              <a:custGeom>
                <a:rect b="b" l="l" r="r" t="t"/>
                <a:pathLst>
                  <a:path extrusionOk="0" h="250031" w="107156">
                    <a:moveTo>
                      <a:pt x="107156" y="0"/>
                    </a:moveTo>
                    <a:lnTo>
                      <a:pt x="0" y="0"/>
                    </a:lnTo>
                    <a:lnTo>
                      <a:pt x="0" y="250031"/>
                    </a:lnTo>
                    <a:lnTo>
                      <a:pt x="107156" y="250031"/>
                    </a:lnTo>
                    <a:lnTo>
                      <a:pt x="107156" y="0"/>
                    </a:lnTo>
                    <a:close/>
                  </a:path>
                </a:pathLst>
              </a:custGeom>
              <a:solidFill>
                <a:srgbClr val="1565C0"/>
              </a:solidFill>
              <a:ln>
                <a:noFill/>
              </a:ln>
            </p:spPr>
          </p:sp>
          <p:sp>
            <p:nvSpPr>
              <p:cNvPr id="309" name="Google Shape;309;p6"/>
              <p:cNvSpPr/>
              <p:nvPr/>
            </p:nvSpPr>
            <p:spPr>
              <a:xfrm>
                <a:off x="7466409" y="1446609"/>
                <a:ext cx="107156" cy="250031"/>
              </a:xfrm>
              <a:custGeom>
                <a:rect b="b" l="l" r="r" t="t"/>
                <a:pathLst>
                  <a:path extrusionOk="0" h="250031" w="107156">
                    <a:moveTo>
                      <a:pt x="107156" y="0"/>
                    </a:moveTo>
                    <a:lnTo>
                      <a:pt x="0" y="0"/>
                    </a:lnTo>
                    <a:lnTo>
                      <a:pt x="0" y="250031"/>
                    </a:lnTo>
                    <a:lnTo>
                      <a:pt x="107156" y="250031"/>
                    </a:lnTo>
                    <a:lnTo>
                      <a:pt x="107156" y="0"/>
                    </a:lnTo>
                    <a:close/>
                  </a:path>
                </a:pathLst>
              </a:custGeom>
              <a:solidFill>
                <a:srgbClr val="1565C0"/>
              </a:solidFill>
              <a:ln>
                <a:noFill/>
              </a:ln>
            </p:spPr>
          </p:sp>
        </p:grpSp>
        <p:sp>
          <p:nvSpPr>
            <p:cNvPr id="310" name="Google Shape;310;p6"/>
            <p:cNvSpPr txBox="1"/>
            <p:nvPr/>
          </p:nvSpPr>
          <p:spPr>
            <a:xfrm>
              <a:off x="4739640" y="1448752"/>
              <a:ext cx="1353169" cy="213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050" u="none" cap="none" strike="noStrike">
                  <a:solidFill>
                    <a:srgbClr val="52606D"/>
                  </a:solidFill>
                  <a:latin typeface="Quattrocento Sans"/>
                  <a:ea typeface="Quattrocento Sans"/>
                  <a:cs typeface="Quattrocento Sans"/>
                  <a:sym typeface="Quattrocento Sans"/>
                </a:rPr>
                <a:t>ORIGINAL COLUMNS</a:t>
              </a:r>
              <a:endParaRPr/>
            </a:p>
          </p:txBody>
        </p:sp>
        <p:sp>
          <p:nvSpPr>
            <p:cNvPr id="311" name="Google Shape;311;p6"/>
            <p:cNvSpPr txBox="1"/>
            <p:nvPr/>
          </p:nvSpPr>
          <p:spPr>
            <a:xfrm>
              <a:off x="4709160" y="1742122"/>
              <a:ext cx="537336" cy="701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450" u="none" cap="none" strike="noStrike">
                  <a:solidFill>
                    <a:srgbClr val="1F2933"/>
                  </a:solidFill>
                  <a:latin typeface="Quattrocento Sans"/>
                  <a:ea typeface="Quattrocento Sans"/>
                  <a:cs typeface="Quattrocento Sans"/>
                  <a:sym typeface="Quattrocento Sans"/>
                </a:rPr>
                <a:t>18</a:t>
              </a:r>
              <a:endParaRPr/>
            </a:p>
          </p:txBody>
        </p:sp>
        <p:sp>
          <p:nvSpPr>
            <p:cNvPr id="312" name="Google Shape;312;p6"/>
            <p:cNvSpPr txBox="1"/>
            <p:nvPr/>
          </p:nvSpPr>
          <p:spPr>
            <a:xfrm>
              <a:off x="4740592" y="2256949"/>
              <a:ext cx="1213795" cy="198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75" u="none" cap="none" strike="noStrike">
                  <a:solidFill>
                    <a:srgbClr val="9AA5B1"/>
                  </a:solidFill>
                  <a:latin typeface="Quattrocento Sans"/>
                  <a:ea typeface="Quattrocento Sans"/>
                  <a:cs typeface="Quattrocento Sans"/>
                  <a:sym typeface="Quattrocento Sans"/>
                </a:rPr>
                <a:t>original features</a:t>
              </a:r>
              <a:endParaRPr/>
            </a:p>
          </p:txBody>
        </p:sp>
      </p:grpSp>
      <p:grpSp>
        <p:nvGrpSpPr>
          <p:cNvPr id="313" name="Google Shape;313;p6"/>
          <p:cNvGrpSpPr/>
          <p:nvPr/>
        </p:nvGrpSpPr>
        <p:grpSpPr>
          <a:xfrm>
            <a:off x="8134350" y="1257300"/>
            <a:ext cx="3486150" cy="1238250"/>
            <a:chOff x="8134350" y="1257300"/>
            <a:chExt cx="3486150" cy="1238250"/>
          </a:xfrm>
        </p:grpSpPr>
        <p:sp>
          <p:nvSpPr>
            <p:cNvPr id="314" name="Google Shape;314;p6"/>
            <p:cNvSpPr/>
            <p:nvPr/>
          </p:nvSpPr>
          <p:spPr>
            <a:xfrm>
              <a:off x="8134350" y="1257300"/>
              <a:ext cx="3486150" cy="1238250"/>
            </a:xfrm>
            <a:custGeom>
              <a:rect b="b" l="l" r="r" t="t"/>
              <a:pathLst>
                <a:path extrusionOk="0" h="1238250" w="3486150">
                  <a:moveTo>
                    <a:pt x="95250" y="0"/>
                  </a:moveTo>
                  <a:lnTo>
                    <a:pt x="3390900" y="0"/>
                  </a:lnTo>
                  <a:cubicBezTo>
                    <a:pt x="3443505" y="0"/>
                    <a:pt x="3486150" y="42645"/>
                    <a:pt x="3486150" y="95250"/>
                  </a:cubicBezTo>
                  <a:lnTo>
                    <a:pt x="3486150" y="1143000"/>
                  </a:lnTo>
                  <a:cubicBezTo>
                    <a:pt x="3486150" y="1195605"/>
                    <a:pt x="3443505" y="1238250"/>
                    <a:pt x="3390900" y="1238250"/>
                  </a:cubicBezTo>
                  <a:lnTo>
                    <a:pt x="95250" y="1238250"/>
                  </a:lnTo>
                  <a:cubicBezTo>
                    <a:pt x="42645" y="1238250"/>
                    <a:pt x="0" y="1195605"/>
                    <a:pt x="0" y="11430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90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
            <p:cNvSpPr/>
            <p:nvPr/>
          </p:nvSpPr>
          <p:spPr>
            <a:xfrm>
              <a:off x="8324850" y="1447800"/>
              <a:ext cx="57150" cy="457200"/>
            </a:xfrm>
            <a:custGeom>
              <a:rect b="b" l="l" r="r" t="t"/>
              <a:pathLst>
                <a:path extrusionOk="0" h="457200" w="57150">
                  <a:moveTo>
                    <a:pt x="28575" y="0"/>
                  </a:moveTo>
                  <a:lnTo>
                    <a:pt x="28575" y="0"/>
                  </a:lnTo>
                  <a:cubicBezTo>
                    <a:pt x="44357" y="0"/>
                    <a:pt x="57150" y="12793"/>
                    <a:pt x="57150" y="28575"/>
                  </a:cubicBezTo>
                  <a:lnTo>
                    <a:pt x="57150" y="428625"/>
                  </a:lnTo>
                  <a:cubicBezTo>
                    <a:pt x="57150" y="444407"/>
                    <a:pt x="44357" y="457200"/>
                    <a:pt x="28575" y="457200"/>
                  </a:cubicBezTo>
                  <a:lnTo>
                    <a:pt x="28575" y="457200"/>
                  </a:lnTo>
                  <a:cubicBezTo>
                    <a:pt x="12793" y="457200"/>
                    <a:pt x="0" y="444407"/>
                    <a:pt x="0" y="4286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 name="Google Shape;316;p6"/>
            <p:cNvGrpSpPr/>
            <p:nvPr/>
          </p:nvGrpSpPr>
          <p:grpSpPr>
            <a:xfrm>
              <a:off x="11104959" y="1428750"/>
              <a:ext cx="250031" cy="285750"/>
              <a:chOff x="11104959" y="1428750"/>
              <a:chExt cx="250031" cy="285750"/>
            </a:xfrm>
          </p:grpSpPr>
          <p:sp>
            <p:nvSpPr>
              <p:cNvPr id="317" name="Google Shape;317;p6"/>
              <p:cNvSpPr/>
              <p:nvPr/>
            </p:nvSpPr>
            <p:spPr>
              <a:xfrm>
                <a:off x="11104959" y="1428750"/>
                <a:ext cx="250031" cy="142875"/>
              </a:xfrm>
              <a:custGeom>
                <a:rect b="b" l="l" r="r" t="t"/>
                <a:pathLst>
                  <a:path extrusionOk="0" h="142875" w="250031">
                    <a:moveTo>
                      <a:pt x="0" y="89297"/>
                    </a:moveTo>
                    <a:lnTo>
                      <a:pt x="0" y="53578"/>
                    </a:lnTo>
                    <a:lnTo>
                      <a:pt x="125016" y="0"/>
                    </a:lnTo>
                    <a:lnTo>
                      <a:pt x="250031" y="53578"/>
                    </a:lnTo>
                    <a:lnTo>
                      <a:pt x="250031" y="89297"/>
                    </a:lnTo>
                    <a:lnTo>
                      <a:pt x="125016" y="142875"/>
                    </a:lnTo>
                    <a:lnTo>
                      <a:pt x="0" y="89297"/>
                    </a:lnTo>
                    <a:close/>
                  </a:path>
                </a:pathLst>
              </a:custGeom>
              <a:solidFill>
                <a:srgbClr val="1565C0"/>
              </a:solidFill>
              <a:ln>
                <a:noFill/>
              </a:ln>
            </p:spPr>
          </p:sp>
          <p:sp>
            <p:nvSpPr>
              <p:cNvPr id="318" name="Google Shape;318;p6"/>
              <p:cNvSpPr/>
              <p:nvPr/>
            </p:nvSpPr>
            <p:spPr>
              <a:xfrm>
                <a:off x="11104959" y="1625203"/>
                <a:ext cx="250031" cy="89297"/>
              </a:xfrm>
              <a:custGeom>
                <a:rect b="b" l="l" r="r" t="t"/>
                <a:pathLst>
                  <a:path extrusionOk="0" h="89297" w="250031">
                    <a:moveTo>
                      <a:pt x="125016" y="89297"/>
                    </a:moveTo>
                    <a:lnTo>
                      <a:pt x="0" y="35719"/>
                    </a:lnTo>
                    <a:lnTo>
                      <a:pt x="0" y="0"/>
                    </a:lnTo>
                    <a:lnTo>
                      <a:pt x="125016" y="53578"/>
                    </a:lnTo>
                    <a:lnTo>
                      <a:pt x="250031" y="0"/>
                    </a:lnTo>
                    <a:lnTo>
                      <a:pt x="250031" y="35719"/>
                    </a:lnTo>
                    <a:lnTo>
                      <a:pt x="125016" y="89297"/>
                    </a:lnTo>
                    <a:close/>
                  </a:path>
                </a:pathLst>
              </a:custGeom>
              <a:solidFill>
                <a:srgbClr val="1565C0"/>
              </a:solidFill>
              <a:ln>
                <a:noFill/>
              </a:ln>
            </p:spPr>
          </p:sp>
          <p:sp>
            <p:nvSpPr>
              <p:cNvPr id="319" name="Google Shape;319;p6"/>
              <p:cNvSpPr/>
              <p:nvPr/>
            </p:nvSpPr>
            <p:spPr>
              <a:xfrm>
                <a:off x="11104959" y="1553766"/>
                <a:ext cx="250031" cy="89297"/>
              </a:xfrm>
              <a:custGeom>
                <a:rect b="b" l="l" r="r" t="t"/>
                <a:pathLst>
                  <a:path extrusionOk="0" h="89297" w="250031">
                    <a:moveTo>
                      <a:pt x="0" y="35719"/>
                    </a:moveTo>
                    <a:lnTo>
                      <a:pt x="125016" y="89297"/>
                    </a:lnTo>
                    <a:lnTo>
                      <a:pt x="250031" y="35719"/>
                    </a:lnTo>
                    <a:lnTo>
                      <a:pt x="250031" y="0"/>
                    </a:lnTo>
                    <a:lnTo>
                      <a:pt x="125016" y="53578"/>
                    </a:lnTo>
                    <a:lnTo>
                      <a:pt x="0" y="0"/>
                    </a:lnTo>
                    <a:lnTo>
                      <a:pt x="0" y="35719"/>
                    </a:lnTo>
                    <a:close/>
                  </a:path>
                </a:pathLst>
              </a:custGeom>
              <a:solidFill>
                <a:srgbClr val="1565C0"/>
              </a:solidFill>
              <a:ln>
                <a:noFill/>
              </a:ln>
            </p:spPr>
          </p:sp>
        </p:grpSp>
        <p:sp>
          <p:nvSpPr>
            <p:cNvPr id="320" name="Google Shape;320;p6"/>
            <p:cNvSpPr txBox="1"/>
            <p:nvPr/>
          </p:nvSpPr>
          <p:spPr>
            <a:xfrm>
              <a:off x="8521065" y="1448752"/>
              <a:ext cx="831771" cy="213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050" u="none" cap="none" strike="noStrike">
                  <a:solidFill>
                    <a:srgbClr val="52606D"/>
                  </a:solidFill>
                  <a:latin typeface="Quattrocento Sans"/>
                  <a:ea typeface="Quattrocento Sans"/>
                  <a:cs typeface="Quattrocento Sans"/>
                  <a:sym typeface="Quattrocento Sans"/>
                </a:rPr>
                <a:t>DATA TYPES</a:t>
              </a:r>
              <a:endParaRPr/>
            </a:p>
          </p:txBody>
        </p:sp>
        <p:sp>
          <p:nvSpPr>
            <p:cNvPr id="321" name="Google Shape;321;p6"/>
            <p:cNvSpPr txBox="1"/>
            <p:nvPr/>
          </p:nvSpPr>
          <p:spPr>
            <a:xfrm>
              <a:off x="8490585" y="1742122"/>
              <a:ext cx="378616" cy="701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450" u="none" cap="none" strike="noStrike">
                  <a:solidFill>
                    <a:srgbClr val="1F2933"/>
                  </a:solidFill>
                  <a:latin typeface="Quattrocento Sans"/>
                  <a:ea typeface="Quattrocento Sans"/>
                  <a:cs typeface="Quattrocento Sans"/>
                  <a:sym typeface="Quattrocento Sans"/>
                </a:rPr>
                <a:t>2</a:t>
              </a:r>
              <a:endParaRPr/>
            </a:p>
          </p:txBody>
        </p:sp>
        <p:sp>
          <p:nvSpPr>
            <p:cNvPr id="322" name="Google Shape;322;p6"/>
            <p:cNvSpPr txBox="1"/>
            <p:nvPr/>
          </p:nvSpPr>
          <p:spPr>
            <a:xfrm>
              <a:off x="8522018" y="2256949"/>
              <a:ext cx="1640991" cy="198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75" u="none" cap="none" strike="noStrike">
                  <a:solidFill>
                    <a:srgbClr val="9AA5B1"/>
                  </a:solidFill>
                  <a:latin typeface="Quattrocento Sans"/>
                  <a:ea typeface="Quattrocento Sans"/>
                  <a:cs typeface="Quattrocento Sans"/>
                  <a:sym typeface="Quattrocento Sans"/>
                </a:rPr>
                <a:t>numerical + categorical</a:t>
              </a:r>
              <a:endParaRPr/>
            </a:p>
          </p:txBody>
        </p:sp>
      </p:grpSp>
      <p:grpSp>
        <p:nvGrpSpPr>
          <p:cNvPr id="323" name="Google Shape;323;p6"/>
          <p:cNvGrpSpPr/>
          <p:nvPr/>
        </p:nvGrpSpPr>
        <p:grpSpPr>
          <a:xfrm>
            <a:off x="571500" y="2609850"/>
            <a:ext cx="11049000" cy="1962150"/>
            <a:chOff x="571500" y="2609850"/>
            <a:chExt cx="11049000" cy="1962150"/>
          </a:xfrm>
        </p:grpSpPr>
        <p:sp>
          <p:nvSpPr>
            <p:cNvPr id="324" name="Google Shape;324;p6"/>
            <p:cNvSpPr/>
            <p:nvPr/>
          </p:nvSpPr>
          <p:spPr>
            <a:xfrm>
              <a:off x="571500" y="2609850"/>
              <a:ext cx="11049000" cy="1962150"/>
            </a:xfrm>
            <a:custGeom>
              <a:rect b="b" l="l" r="r" t="t"/>
              <a:pathLst>
                <a:path extrusionOk="0" h="1962150" w="11049000">
                  <a:moveTo>
                    <a:pt x="95250" y="0"/>
                  </a:moveTo>
                  <a:lnTo>
                    <a:pt x="10953750" y="0"/>
                  </a:lnTo>
                  <a:cubicBezTo>
                    <a:pt x="11006355" y="0"/>
                    <a:pt x="11049000" y="42645"/>
                    <a:pt x="11049000" y="95250"/>
                  </a:cubicBezTo>
                  <a:lnTo>
                    <a:pt x="11049000" y="1866900"/>
                  </a:lnTo>
                  <a:cubicBezTo>
                    <a:pt x="11049000" y="1919505"/>
                    <a:pt x="11006355" y="1962150"/>
                    <a:pt x="10953750" y="1962150"/>
                  </a:cubicBezTo>
                  <a:lnTo>
                    <a:pt x="95250" y="1962150"/>
                  </a:lnTo>
                  <a:cubicBezTo>
                    <a:pt x="42645" y="1962150"/>
                    <a:pt x="0" y="1919505"/>
                    <a:pt x="0" y="18669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
            <p:cNvSpPr txBox="1"/>
            <p:nvPr/>
          </p:nvSpPr>
          <p:spPr>
            <a:xfrm>
              <a:off x="784860" y="2842260"/>
              <a:ext cx="2183549"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00" u="none" cap="none" strike="noStrike">
                  <a:solidFill>
                    <a:srgbClr val="1565C0"/>
                  </a:solidFill>
                  <a:latin typeface="Quattrocento Sans"/>
                  <a:ea typeface="Quattrocento Sans"/>
                  <a:cs typeface="Quattrocento Sans"/>
                  <a:sym typeface="Quattrocento Sans"/>
                </a:rPr>
                <a:t>Some important columns</a:t>
              </a:r>
              <a:endParaRPr/>
            </a:p>
          </p:txBody>
        </p:sp>
        <p:grpSp>
          <p:nvGrpSpPr>
            <p:cNvPr id="326" name="Google Shape;326;p6"/>
            <p:cNvGrpSpPr/>
            <p:nvPr/>
          </p:nvGrpSpPr>
          <p:grpSpPr>
            <a:xfrm>
              <a:off x="800100" y="3181350"/>
              <a:ext cx="7677150" cy="438150"/>
              <a:chOff x="800100" y="3181350"/>
              <a:chExt cx="7677150" cy="438150"/>
            </a:xfrm>
          </p:grpSpPr>
          <p:sp>
            <p:nvSpPr>
              <p:cNvPr id="327" name="Google Shape;327;p6"/>
              <p:cNvSpPr/>
              <p:nvPr/>
            </p:nvSpPr>
            <p:spPr>
              <a:xfrm>
                <a:off x="800100" y="3181350"/>
                <a:ext cx="914400" cy="438150"/>
              </a:xfrm>
              <a:custGeom>
                <a:rect b="b" l="l" r="r" t="t"/>
                <a:pathLst>
                  <a:path extrusionOk="0" h="438150" w="914400">
                    <a:moveTo>
                      <a:pt x="219075" y="0"/>
                    </a:moveTo>
                    <a:lnTo>
                      <a:pt x="695325" y="0"/>
                    </a:lnTo>
                    <a:cubicBezTo>
                      <a:pt x="816317" y="0"/>
                      <a:pt x="914400" y="98083"/>
                      <a:pt x="914400" y="219075"/>
                    </a:cubicBezTo>
                    <a:lnTo>
                      <a:pt x="914400" y="219075"/>
                    </a:lnTo>
                    <a:cubicBezTo>
                      <a:pt x="914400" y="340067"/>
                      <a:pt x="816317" y="438150"/>
                      <a:pt x="6953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txBox="1"/>
              <p:nvPr/>
            </p:nvSpPr>
            <p:spPr>
              <a:xfrm>
                <a:off x="1097470" y="3328035"/>
                <a:ext cx="319659"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Age</a:t>
                </a:r>
                <a:endParaRPr/>
              </a:p>
            </p:txBody>
          </p:sp>
          <p:sp>
            <p:nvSpPr>
              <p:cNvPr id="329" name="Google Shape;329;p6"/>
              <p:cNvSpPr/>
              <p:nvPr/>
            </p:nvSpPr>
            <p:spPr>
              <a:xfrm>
                <a:off x="1885950" y="3181350"/>
                <a:ext cx="1104900" cy="438150"/>
              </a:xfrm>
              <a:custGeom>
                <a:rect b="b" l="l" r="r" t="t"/>
                <a:pathLst>
                  <a:path extrusionOk="0" h="438150" w="1104900">
                    <a:moveTo>
                      <a:pt x="219075" y="0"/>
                    </a:moveTo>
                    <a:lnTo>
                      <a:pt x="885825" y="0"/>
                    </a:lnTo>
                    <a:cubicBezTo>
                      <a:pt x="1006817" y="0"/>
                      <a:pt x="1104900" y="98083"/>
                      <a:pt x="1104900" y="219075"/>
                    </a:cubicBezTo>
                    <a:lnTo>
                      <a:pt x="1104900" y="219075"/>
                    </a:lnTo>
                    <a:cubicBezTo>
                      <a:pt x="1104900" y="340067"/>
                      <a:pt x="1006817" y="438150"/>
                      <a:pt x="8858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txBox="1"/>
              <p:nvPr/>
            </p:nvSpPr>
            <p:spPr>
              <a:xfrm>
                <a:off x="2133981" y="3328035"/>
                <a:ext cx="608838"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Tenure</a:t>
                </a:r>
                <a:endParaRPr/>
              </a:p>
            </p:txBody>
          </p:sp>
          <p:sp>
            <p:nvSpPr>
              <p:cNvPr id="331" name="Google Shape;331;p6"/>
              <p:cNvSpPr/>
              <p:nvPr/>
            </p:nvSpPr>
            <p:spPr>
              <a:xfrm>
                <a:off x="3162300" y="3181350"/>
                <a:ext cx="1676400" cy="438150"/>
              </a:xfrm>
              <a:custGeom>
                <a:rect b="b" l="l" r="r" t="t"/>
                <a:pathLst>
                  <a:path extrusionOk="0" h="438150" w="1676400">
                    <a:moveTo>
                      <a:pt x="219075" y="0"/>
                    </a:moveTo>
                    <a:lnTo>
                      <a:pt x="1457325" y="0"/>
                    </a:lnTo>
                    <a:cubicBezTo>
                      <a:pt x="1578317" y="0"/>
                      <a:pt x="1676400" y="98083"/>
                      <a:pt x="1676400" y="219075"/>
                    </a:cubicBezTo>
                    <a:lnTo>
                      <a:pt x="1676400" y="219075"/>
                    </a:lnTo>
                    <a:cubicBezTo>
                      <a:pt x="1676400" y="340067"/>
                      <a:pt x="1578317" y="438150"/>
                      <a:pt x="14573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txBox="1"/>
              <p:nvPr/>
            </p:nvSpPr>
            <p:spPr>
              <a:xfrm>
                <a:off x="3288602" y="3328035"/>
                <a:ext cx="1423797"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Monthly Charges</a:t>
                </a:r>
                <a:endParaRPr/>
              </a:p>
            </p:txBody>
          </p:sp>
          <p:sp>
            <p:nvSpPr>
              <p:cNvPr id="333" name="Google Shape;333;p6"/>
              <p:cNvSpPr/>
              <p:nvPr/>
            </p:nvSpPr>
            <p:spPr>
              <a:xfrm>
                <a:off x="5010150" y="3181350"/>
                <a:ext cx="1562100" cy="438150"/>
              </a:xfrm>
              <a:custGeom>
                <a:rect b="b" l="l" r="r" t="t"/>
                <a:pathLst>
                  <a:path extrusionOk="0" h="438150" w="1562100">
                    <a:moveTo>
                      <a:pt x="219075" y="0"/>
                    </a:moveTo>
                    <a:lnTo>
                      <a:pt x="1343025" y="0"/>
                    </a:lnTo>
                    <a:cubicBezTo>
                      <a:pt x="1464017" y="0"/>
                      <a:pt x="1562100" y="98083"/>
                      <a:pt x="1562100" y="219075"/>
                    </a:cubicBezTo>
                    <a:lnTo>
                      <a:pt x="1562100" y="219075"/>
                    </a:lnTo>
                    <a:cubicBezTo>
                      <a:pt x="1562100" y="340067"/>
                      <a:pt x="1464017" y="438150"/>
                      <a:pt x="13430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6"/>
              <p:cNvSpPr txBox="1"/>
              <p:nvPr/>
            </p:nvSpPr>
            <p:spPr>
              <a:xfrm>
                <a:off x="5193220" y="3328035"/>
                <a:ext cx="1195959"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Total Charges</a:t>
                </a:r>
                <a:endParaRPr/>
              </a:p>
            </p:txBody>
          </p:sp>
          <p:sp>
            <p:nvSpPr>
              <p:cNvPr id="335" name="Google Shape;335;p6"/>
              <p:cNvSpPr/>
              <p:nvPr/>
            </p:nvSpPr>
            <p:spPr>
              <a:xfrm>
                <a:off x="6743700" y="3181350"/>
                <a:ext cx="1733550" cy="438150"/>
              </a:xfrm>
              <a:custGeom>
                <a:rect b="b" l="l" r="r" t="t"/>
                <a:pathLst>
                  <a:path extrusionOk="0" h="438150" w="1733550">
                    <a:moveTo>
                      <a:pt x="219075" y="0"/>
                    </a:moveTo>
                    <a:lnTo>
                      <a:pt x="1514475" y="0"/>
                    </a:lnTo>
                    <a:cubicBezTo>
                      <a:pt x="1635467" y="0"/>
                      <a:pt x="1733550" y="98083"/>
                      <a:pt x="1733550" y="219075"/>
                    </a:cubicBezTo>
                    <a:lnTo>
                      <a:pt x="1733550" y="219075"/>
                    </a:lnTo>
                    <a:cubicBezTo>
                      <a:pt x="1733550" y="340067"/>
                      <a:pt x="1635467" y="438150"/>
                      <a:pt x="151447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txBox="1"/>
              <p:nvPr/>
            </p:nvSpPr>
            <p:spPr>
              <a:xfrm>
                <a:off x="6916102" y="3328035"/>
                <a:ext cx="1388745"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Login Frequency</a:t>
                </a:r>
                <a:endParaRPr/>
              </a:p>
            </p:txBody>
          </p:sp>
        </p:grpSp>
        <p:grpSp>
          <p:nvGrpSpPr>
            <p:cNvPr id="337" name="Google Shape;337;p6"/>
            <p:cNvGrpSpPr/>
            <p:nvPr/>
          </p:nvGrpSpPr>
          <p:grpSpPr>
            <a:xfrm>
              <a:off x="800100" y="3733800"/>
              <a:ext cx="8077200" cy="438150"/>
              <a:chOff x="800100" y="3733800"/>
              <a:chExt cx="8077200" cy="438150"/>
            </a:xfrm>
          </p:grpSpPr>
          <p:sp>
            <p:nvSpPr>
              <p:cNvPr id="338" name="Google Shape;338;p6"/>
              <p:cNvSpPr/>
              <p:nvPr/>
            </p:nvSpPr>
            <p:spPr>
              <a:xfrm>
                <a:off x="800100" y="3733800"/>
                <a:ext cx="1600200" cy="438150"/>
              </a:xfrm>
              <a:custGeom>
                <a:rect b="b" l="l" r="r" t="t"/>
                <a:pathLst>
                  <a:path extrusionOk="0" h="438150" w="1600200">
                    <a:moveTo>
                      <a:pt x="219075" y="0"/>
                    </a:moveTo>
                    <a:lnTo>
                      <a:pt x="1381125" y="0"/>
                    </a:lnTo>
                    <a:cubicBezTo>
                      <a:pt x="1502117" y="0"/>
                      <a:pt x="1600200" y="98083"/>
                      <a:pt x="1600200" y="219075"/>
                    </a:cubicBezTo>
                    <a:lnTo>
                      <a:pt x="1600200" y="219075"/>
                    </a:lnTo>
                    <a:cubicBezTo>
                      <a:pt x="1600200" y="340067"/>
                      <a:pt x="1502117" y="438150"/>
                      <a:pt x="13811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6"/>
              <p:cNvSpPr txBox="1"/>
              <p:nvPr/>
            </p:nvSpPr>
            <p:spPr>
              <a:xfrm>
                <a:off x="905828" y="3880485"/>
                <a:ext cx="1388745"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Support Tickets</a:t>
                </a:r>
                <a:endParaRPr/>
              </a:p>
            </p:txBody>
          </p:sp>
          <p:sp>
            <p:nvSpPr>
              <p:cNvPr id="340" name="Google Shape;340;p6"/>
              <p:cNvSpPr/>
              <p:nvPr/>
            </p:nvSpPr>
            <p:spPr>
              <a:xfrm>
                <a:off x="2571750" y="3733800"/>
                <a:ext cx="1333500" cy="438150"/>
              </a:xfrm>
              <a:custGeom>
                <a:rect b="b" l="l" r="r" t="t"/>
                <a:pathLst>
                  <a:path extrusionOk="0" h="438150" w="1333500">
                    <a:moveTo>
                      <a:pt x="219075" y="0"/>
                    </a:moveTo>
                    <a:lnTo>
                      <a:pt x="1114425" y="0"/>
                    </a:lnTo>
                    <a:cubicBezTo>
                      <a:pt x="1235417" y="0"/>
                      <a:pt x="1333500" y="98083"/>
                      <a:pt x="1333500" y="219075"/>
                    </a:cubicBezTo>
                    <a:lnTo>
                      <a:pt x="1333500" y="219075"/>
                    </a:lnTo>
                    <a:cubicBezTo>
                      <a:pt x="1333500" y="340067"/>
                      <a:pt x="1235417" y="438150"/>
                      <a:pt x="11144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txBox="1"/>
              <p:nvPr/>
            </p:nvSpPr>
            <p:spPr>
              <a:xfrm>
                <a:off x="2767584" y="3880485"/>
                <a:ext cx="941832"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Complaints</a:t>
                </a:r>
                <a:endParaRPr/>
              </a:p>
            </p:txBody>
          </p:sp>
          <p:sp>
            <p:nvSpPr>
              <p:cNvPr id="342" name="Google Shape;342;p6"/>
              <p:cNvSpPr/>
              <p:nvPr/>
            </p:nvSpPr>
            <p:spPr>
              <a:xfrm>
                <a:off x="4076700" y="3733800"/>
                <a:ext cx="1428750" cy="438150"/>
              </a:xfrm>
              <a:custGeom>
                <a:rect b="b" l="l" r="r" t="t"/>
                <a:pathLst>
                  <a:path extrusionOk="0" h="438150" w="1428750">
                    <a:moveTo>
                      <a:pt x="219075" y="0"/>
                    </a:moveTo>
                    <a:lnTo>
                      <a:pt x="1209675" y="0"/>
                    </a:lnTo>
                    <a:cubicBezTo>
                      <a:pt x="1330667" y="0"/>
                      <a:pt x="1428750" y="98083"/>
                      <a:pt x="1428750" y="219075"/>
                    </a:cubicBezTo>
                    <a:lnTo>
                      <a:pt x="1428750" y="219075"/>
                    </a:lnTo>
                    <a:cubicBezTo>
                      <a:pt x="1428750" y="340067"/>
                      <a:pt x="1330667" y="438150"/>
                      <a:pt x="120967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6"/>
              <p:cNvSpPr txBox="1"/>
              <p:nvPr/>
            </p:nvSpPr>
            <p:spPr>
              <a:xfrm>
                <a:off x="4267581" y="3880485"/>
                <a:ext cx="1046988"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Usage Hours</a:t>
                </a:r>
                <a:endParaRPr/>
              </a:p>
            </p:txBody>
          </p:sp>
          <p:sp>
            <p:nvSpPr>
              <p:cNvPr id="344" name="Google Shape;344;p6"/>
              <p:cNvSpPr/>
              <p:nvPr/>
            </p:nvSpPr>
            <p:spPr>
              <a:xfrm>
                <a:off x="5676900" y="3733800"/>
                <a:ext cx="2000250" cy="438150"/>
              </a:xfrm>
              <a:custGeom>
                <a:rect b="b" l="l" r="r" t="t"/>
                <a:pathLst>
                  <a:path extrusionOk="0" h="438150" w="2000250">
                    <a:moveTo>
                      <a:pt x="219075" y="0"/>
                    </a:moveTo>
                    <a:lnTo>
                      <a:pt x="1781175" y="0"/>
                    </a:lnTo>
                    <a:cubicBezTo>
                      <a:pt x="1902167" y="0"/>
                      <a:pt x="2000250" y="98083"/>
                      <a:pt x="2000250" y="219075"/>
                    </a:cubicBezTo>
                    <a:lnTo>
                      <a:pt x="2000250" y="219075"/>
                    </a:lnTo>
                    <a:cubicBezTo>
                      <a:pt x="2000250" y="340067"/>
                      <a:pt x="1902167" y="438150"/>
                      <a:pt x="178117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6"/>
              <p:cNvSpPr txBox="1"/>
              <p:nvPr/>
            </p:nvSpPr>
            <p:spPr>
              <a:xfrm>
                <a:off x="5697855" y="3880485"/>
                <a:ext cx="1958340"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Customer Satisfaction</a:t>
                </a:r>
                <a:endParaRPr/>
              </a:p>
            </p:txBody>
          </p:sp>
          <p:sp>
            <p:nvSpPr>
              <p:cNvPr id="346" name="Google Shape;346;p6"/>
              <p:cNvSpPr/>
              <p:nvPr/>
            </p:nvSpPr>
            <p:spPr>
              <a:xfrm>
                <a:off x="7848600" y="3733800"/>
                <a:ext cx="1028700" cy="438150"/>
              </a:xfrm>
              <a:custGeom>
                <a:rect b="b" l="l" r="r" t="t"/>
                <a:pathLst>
                  <a:path extrusionOk="0" h="438150" w="1028700">
                    <a:moveTo>
                      <a:pt x="219075" y="0"/>
                    </a:moveTo>
                    <a:lnTo>
                      <a:pt x="809625" y="0"/>
                    </a:lnTo>
                    <a:cubicBezTo>
                      <a:pt x="930617" y="0"/>
                      <a:pt x="1028700" y="98083"/>
                      <a:pt x="1028700" y="219075"/>
                    </a:cubicBezTo>
                    <a:lnTo>
                      <a:pt x="1028700" y="219075"/>
                    </a:lnTo>
                    <a:cubicBezTo>
                      <a:pt x="1028700" y="340067"/>
                      <a:pt x="930617" y="438150"/>
                      <a:pt x="8096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6"/>
              <p:cNvSpPr txBox="1"/>
              <p:nvPr/>
            </p:nvSpPr>
            <p:spPr>
              <a:xfrm>
                <a:off x="8106728" y="3880485"/>
                <a:ext cx="512445" cy="243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Churn</a:t>
                </a:r>
                <a:endParaRPr/>
              </a:p>
            </p:txBody>
          </p:sp>
        </p:grpSp>
      </p:grpSp>
      <p:grpSp>
        <p:nvGrpSpPr>
          <p:cNvPr id="348" name="Google Shape;348;p6"/>
          <p:cNvGrpSpPr/>
          <p:nvPr/>
        </p:nvGrpSpPr>
        <p:grpSpPr>
          <a:xfrm>
            <a:off x="571500" y="4724400"/>
            <a:ext cx="11049000" cy="1428750"/>
            <a:chOff x="571500" y="4724400"/>
            <a:chExt cx="11049000" cy="1428750"/>
          </a:xfrm>
        </p:grpSpPr>
        <p:sp>
          <p:nvSpPr>
            <p:cNvPr id="349" name="Google Shape;349;p6"/>
            <p:cNvSpPr/>
            <p:nvPr/>
          </p:nvSpPr>
          <p:spPr>
            <a:xfrm>
              <a:off x="571500" y="4724400"/>
              <a:ext cx="11049000" cy="1428750"/>
            </a:xfrm>
            <a:custGeom>
              <a:rect b="b" l="l" r="r" t="t"/>
              <a:pathLst>
                <a:path extrusionOk="0" h="1428750" w="11049000">
                  <a:moveTo>
                    <a:pt x="95250" y="0"/>
                  </a:moveTo>
                  <a:lnTo>
                    <a:pt x="10953750" y="0"/>
                  </a:lnTo>
                  <a:cubicBezTo>
                    <a:pt x="11006355" y="0"/>
                    <a:pt x="11049000" y="42645"/>
                    <a:pt x="11049000" y="95250"/>
                  </a:cubicBezTo>
                  <a:lnTo>
                    <a:pt x="11049000" y="1333500"/>
                  </a:lnTo>
                  <a:cubicBezTo>
                    <a:pt x="11049000" y="1386105"/>
                    <a:pt x="11006355" y="1428750"/>
                    <a:pt x="10953750" y="1428750"/>
                  </a:cubicBezTo>
                  <a:lnTo>
                    <a:pt x="95250" y="1428750"/>
                  </a:lnTo>
                  <a:cubicBezTo>
                    <a:pt x="42645" y="1428750"/>
                    <a:pt x="0" y="1386105"/>
                    <a:pt x="0" y="13335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6"/>
            <p:cNvSpPr/>
            <p:nvPr/>
          </p:nvSpPr>
          <p:spPr>
            <a:xfrm>
              <a:off x="571500" y="4724400"/>
              <a:ext cx="57150" cy="1428750"/>
            </a:xfrm>
            <a:custGeom>
              <a:rect b="b" l="l" r="r" t="t"/>
              <a:pathLst>
                <a:path extrusionOk="0" h="1428750" w="57150">
                  <a:moveTo>
                    <a:pt x="28575" y="0"/>
                  </a:moveTo>
                  <a:lnTo>
                    <a:pt x="28575" y="0"/>
                  </a:lnTo>
                  <a:cubicBezTo>
                    <a:pt x="44357" y="0"/>
                    <a:pt x="57150" y="12793"/>
                    <a:pt x="57150" y="28575"/>
                  </a:cubicBezTo>
                  <a:lnTo>
                    <a:pt x="57150" y="1400175"/>
                  </a:lnTo>
                  <a:cubicBezTo>
                    <a:pt x="57150" y="1415957"/>
                    <a:pt x="44357" y="1428750"/>
                    <a:pt x="28575" y="1428750"/>
                  </a:cubicBezTo>
                  <a:lnTo>
                    <a:pt x="28575" y="1428750"/>
                  </a:lnTo>
                  <a:cubicBezTo>
                    <a:pt x="12793" y="1428750"/>
                    <a:pt x="0" y="1415957"/>
                    <a:pt x="0" y="1400175"/>
                  </a:cubicBezTo>
                  <a:lnTo>
                    <a:pt x="0" y="28575"/>
                  </a:lnTo>
                  <a:cubicBezTo>
                    <a:pt x="0" y="12793"/>
                    <a:pt x="12793" y="0"/>
                    <a:pt x="28575"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6"/>
            <p:cNvSpPr txBox="1"/>
            <p:nvPr/>
          </p:nvSpPr>
          <p:spPr>
            <a:xfrm>
              <a:off x="857250" y="4981575"/>
              <a:ext cx="24419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Target Column: Churn</a:t>
              </a:r>
              <a:endParaRPr/>
            </a:p>
          </p:txBody>
        </p:sp>
        <p:grpSp>
          <p:nvGrpSpPr>
            <p:cNvPr id="352" name="Google Shape;352;p6"/>
            <p:cNvGrpSpPr/>
            <p:nvPr/>
          </p:nvGrpSpPr>
          <p:grpSpPr>
            <a:xfrm>
              <a:off x="876300" y="5372100"/>
              <a:ext cx="4191000" cy="514350"/>
              <a:chOff x="876300" y="5372100"/>
              <a:chExt cx="4191000" cy="514350"/>
            </a:xfrm>
          </p:grpSpPr>
          <p:sp>
            <p:nvSpPr>
              <p:cNvPr id="353" name="Google Shape;353;p6"/>
              <p:cNvSpPr/>
              <p:nvPr/>
            </p:nvSpPr>
            <p:spPr>
              <a:xfrm>
                <a:off x="876300" y="5372100"/>
                <a:ext cx="4191000" cy="514350"/>
              </a:xfrm>
              <a:custGeom>
                <a:rect b="b" l="l" r="r" t="t"/>
                <a:pathLst>
                  <a:path extrusionOk="0" h="514350" w="4191000">
                    <a:moveTo>
                      <a:pt x="95250" y="0"/>
                    </a:moveTo>
                    <a:lnTo>
                      <a:pt x="4095750" y="0"/>
                    </a:lnTo>
                    <a:cubicBezTo>
                      <a:pt x="4148355" y="0"/>
                      <a:pt x="4191000" y="42645"/>
                      <a:pt x="4191000" y="95250"/>
                    </a:cubicBezTo>
                    <a:lnTo>
                      <a:pt x="4191000" y="419100"/>
                    </a:lnTo>
                    <a:cubicBezTo>
                      <a:pt x="4191000" y="471705"/>
                      <a:pt x="4148355" y="514350"/>
                      <a:pt x="4095750" y="514350"/>
                    </a:cubicBezTo>
                    <a:lnTo>
                      <a:pt x="95250" y="514350"/>
                    </a:lnTo>
                    <a:cubicBezTo>
                      <a:pt x="42645" y="514350"/>
                      <a:pt x="0" y="471705"/>
                      <a:pt x="0" y="4191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
              <p:cNvSpPr/>
              <p:nvPr/>
            </p:nvSpPr>
            <p:spPr>
              <a:xfrm>
                <a:off x="1047750" y="5486400"/>
                <a:ext cx="285750" cy="285750"/>
              </a:xfrm>
              <a:custGeom>
                <a:rect b="b" l="l" r="r" t="t"/>
                <a:pathLst>
                  <a:path extrusionOk="0" h="285750" w="285750">
                    <a:moveTo>
                      <a:pt x="57150" y="0"/>
                    </a:moveTo>
                    <a:lnTo>
                      <a:pt x="228600" y="0"/>
                    </a:lnTo>
                    <a:cubicBezTo>
                      <a:pt x="260163" y="0"/>
                      <a:pt x="285750" y="25587"/>
                      <a:pt x="285750" y="57150"/>
                    </a:cubicBezTo>
                    <a:lnTo>
                      <a:pt x="285750" y="228600"/>
                    </a:lnTo>
                    <a:cubicBezTo>
                      <a:pt x="285750" y="260163"/>
                      <a:pt x="260163" y="285750"/>
                      <a:pt x="228600" y="285750"/>
                    </a:cubicBezTo>
                    <a:lnTo>
                      <a:pt x="57150" y="285750"/>
                    </a:lnTo>
                    <a:cubicBezTo>
                      <a:pt x="25587" y="285750"/>
                      <a:pt x="0" y="260163"/>
                      <a:pt x="0" y="228600"/>
                    </a:cubicBezTo>
                    <a:lnTo>
                      <a:pt x="0" y="57150"/>
                    </a:lnTo>
                    <a:cubicBezTo>
                      <a:pt x="0" y="25587"/>
                      <a:pt x="25587" y="0"/>
                      <a:pt x="571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
              <p:cNvSpPr txBox="1"/>
              <p:nvPr/>
            </p:nvSpPr>
            <p:spPr>
              <a:xfrm>
                <a:off x="1120663" y="5548789"/>
                <a:ext cx="139923"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a:t>
                </a:r>
                <a:endParaRPr/>
              </a:p>
            </p:txBody>
          </p:sp>
          <p:sp>
            <p:nvSpPr>
              <p:cNvPr id="356" name="Google Shape;356;p6"/>
              <p:cNvSpPr txBox="1"/>
              <p:nvPr/>
            </p:nvSpPr>
            <p:spPr>
              <a:xfrm>
                <a:off x="1506855" y="5540692"/>
                <a:ext cx="165106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Customer stayed</a:t>
                </a:r>
                <a:endParaRPr/>
              </a:p>
            </p:txBody>
          </p:sp>
        </p:grpSp>
        <p:grpSp>
          <p:nvGrpSpPr>
            <p:cNvPr id="357" name="Google Shape;357;p6"/>
            <p:cNvGrpSpPr/>
            <p:nvPr/>
          </p:nvGrpSpPr>
          <p:grpSpPr>
            <a:xfrm>
              <a:off x="5295900" y="5372100"/>
              <a:ext cx="4191000" cy="514350"/>
              <a:chOff x="5295900" y="5372100"/>
              <a:chExt cx="4191000" cy="514350"/>
            </a:xfrm>
          </p:grpSpPr>
          <p:sp>
            <p:nvSpPr>
              <p:cNvPr id="358" name="Google Shape;358;p6"/>
              <p:cNvSpPr/>
              <p:nvPr/>
            </p:nvSpPr>
            <p:spPr>
              <a:xfrm>
                <a:off x="5295900" y="5372100"/>
                <a:ext cx="4191000" cy="514350"/>
              </a:xfrm>
              <a:custGeom>
                <a:rect b="b" l="l" r="r" t="t"/>
                <a:pathLst>
                  <a:path extrusionOk="0" h="514350" w="4191000">
                    <a:moveTo>
                      <a:pt x="95250" y="0"/>
                    </a:moveTo>
                    <a:lnTo>
                      <a:pt x="4095750" y="0"/>
                    </a:lnTo>
                    <a:cubicBezTo>
                      <a:pt x="4148355" y="0"/>
                      <a:pt x="4191000" y="42645"/>
                      <a:pt x="4191000" y="95250"/>
                    </a:cubicBezTo>
                    <a:lnTo>
                      <a:pt x="4191000" y="419100"/>
                    </a:lnTo>
                    <a:cubicBezTo>
                      <a:pt x="4191000" y="471705"/>
                      <a:pt x="4148355" y="514350"/>
                      <a:pt x="4095750" y="514350"/>
                    </a:cubicBezTo>
                    <a:lnTo>
                      <a:pt x="95250" y="514350"/>
                    </a:lnTo>
                    <a:cubicBezTo>
                      <a:pt x="42645" y="514350"/>
                      <a:pt x="0" y="471705"/>
                      <a:pt x="0" y="4191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
              <p:cNvSpPr/>
              <p:nvPr/>
            </p:nvSpPr>
            <p:spPr>
              <a:xfrm>
                <a:off x="5467350" y="5486400"/>
                <a:ext cx="285750" cy="285750"/>
              </a:xfrm>
              <a:custGeom>
                <a:rect b="b" l="l" r="r" t="t"/>
                <a:pathLst>
                  <a:path extrusionOk="0" h="285750" w="285750">
                    <a:moveTo>
                      <a:pt x="57150" y="0"/>
                    </a:moveTo>
                    <a:lnTo>
                      <a:pt x="228600" y="0"/>
                    </a:lnTo>
                    <a:cubicBezTo>
                      <a:pt x="260163" y="0"/>
                      <a:pt x="285750" y="25587"/>
                      <a:pt x="285750" y="57150"/>
                    </a:cubicBezTo>
                    <a:lnTo>
                      <a:pt x="285750" y="228600"/>
                    </a:lnTo>
                    <a:cubicBezTo>
                      <a:pt x="285750" y="260163"/>
                      <a:pt x="260163" y="285750"/>
                      <a:pt x="228600" y="285750"/>
                    </a:cubicBezTo>
                    <a:lnTo>
                      <a:pt x="57150" y="285750"/>
                    </a:lnTo>
                    <a:cubicBezTo>
                      <a:pt x="25587" y="285750"/>
                      <a:pt x="0" y="260163"/>
                      <a:pt x="0" y="228600"/>
                    </a:cubicBezTo>
                    <a:lnTo>
                      <a:pt x="0" y="57150"/>
                    </a:lnTo>
                    <a:cubicBezTo>
                      <a:pt x="0" y="25587"/>
                      <a:pt x="25587" y="0"/>
                      <a:pt x="571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
              <p:cNvSpPr txBox="1"/>
              <p:nvPr/>
            </p:nvSpPr>
            <p:spPr>
              <a:xfrm>
                <a:off x="5564704" y="5548789"/>
                <a:ext cx="9104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1</a:t>
                </a:r>
                <a:endParaRPr/>
              </a:p>
            </p:txBody>
          </p:sp>
          <p:sp>
            <p:nvSpPr>
              <p:cNvPr id="361" name="Google Shape;361;p6"/>
              <p:cNvSpPr txBox="1"/>
              <p:nvPr/>
            </p:nvSpPr>
            <p:spPr>
              <a:xfrm>
                <a:off x="5926455" y="5540692"/>
                <a:ext cx="138488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Customer left</a:t>
                </a:r>
                <a:endParaRPr/>
              </a:p>
            </p:txBody>
          </p:sp>
        </p:grpSp>
      </p:grpSp>
      <p:grpSp>
        <p:nvGrpSpPr>
          <p:cNvPr id="362" name="Google Shape;362;p6"/>
          <p:cNvGrpSpPr/>
          <p:nvPr/>
        </p:nvGrpSpPr>
        <p:grpSpPr>
          <a:xfrm>
            <a:off x="561022" y="6381750"/>
            <a:ext cx="11069956" cy="345281"/>
            <a:chOff x="561022" y="6381750"/>
            <a:chExt cx="11069956" cy="345281"/>
          </a:xfrm>
        </p:grpSpPr>
        <p:sp>
          <p:nvSpPr>
            <p:cNvPr id="363" name="Google Shape;363;p6"/>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364" name="Google Shape;364;p6"/>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365" name="Google Shape;365;p6"/>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06 / 18</a:t>
              </a:r>
              <a:endParaRPr/>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7"/>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7"/>
          <p:cNvGrpSpPr/>
          <p:nvPr/>
        </p:nvGrpSpPr>
        <p:grpSpPr>
          <a:xfrm>
            <a:off x="541020" y="426720"/>
            <a:ext cx="3170949" cy="697230"/>
            <a:chOff x="541020" y="426720"/>
            <a:chExt cx="3170949" cy="697230"/>
          </a:xfrm>
        </p:grpSpPr>
        <p:sp>
          <p:nvSpPr>
            <p:cNvPr id="373" name="Google Shape;373;p7"/>
            <p:cNvSpPr txBox="1"/>
            <p:nvPr/>
          </p:nvSpPr>
          <p:spPr>
            <a:xfrm>
              <a:off x="541020" y="426720"/>
              <a:ext cx="3170949"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Project Workflow</a:t>
              </a:r>
              <a:endParaRPr/>
            </a:p>
          </p:txBody>
        </p:sp>
        <p:sp>
          <p:nvSpPr>
            <p:cNvPr id="374" name="Google Shape;374;p7"/>
            <p:cNvSpPr txBox="1"/>
            <p:nvPr/>
          </p:nvSpPr>
          <p:spPr>
            <a:xfrm>
              <a:off x="554355" y="806768"/>
              <a:ext cx="269605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How I worked on the project</a:t>
              </a:r>
              <a:endParaRPr/>
            </a:p>
          </p:txBody>
        </p:sp>
        <p:sp>
          <p:nvSpPr>
            <p:cNvPr id="375" name="Google Shape;375;p7"/>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7"/>
          <p:cNvGrpSpPr/>
          <p:nvPr/>
        </p:nvGrpSpPr>
        <p:grpSpPr>
          <a:xfrm>
            <a:off x="1190625" y="2000250"/>
            <a:ext cx="9763125" cy="3343275"/>
            <a:chOff x="1190625" y="2000250"/>
            <a:chExt cx="9763125" cy="3343275"/>
          </a:xfrm>
        </p:grpSpPr>
        <p:sp>
          <p:nvSpPr>
            <p:cNvPr id="377" name="Google Shape;377;p7"/>
            <p:cNvSpPr/>
            <p:nvPr/>
          </p:nvSpPr>
          <p:spPr>
            <a:xfrm>
              <a:off x="1809750" y="2000250"/>
              <a:ext cx="8524875" cy="9525"/>
            </a:xfrm>
            <a:custGeom>
              <a:rect b="b" l="l" r="r" t="t"/>
              <a:pathLst>
                <a:path extrusionOk="0" h="9525" w="8524875">
                  <a:moveTo>
                    <a:pt x="0" y="0"/>
                  </a:moveTo>
                  <a:lnTo>
                    <a:pt x="8524875" y="0"/>
                  </a:lnTo>
                </a:path>
              </a:pathLst>
            </a:custGeom>
            <a:noFill/>
            <a:ln cap="rnd" cmpd="sng" w="28575">
              <a:solidFill>
                <a:srgbClr val="E3E8EF"/>
              </a:solidFill>
              <a:prstDash val="solid"/>
              <a:round/>
              <a:headEnd len="sm" w="sm" type="none"/>
              <a:tailEnd len="sm" w="sm" type="none"/>
            </a:ln>
          </p:spPr>
        </p:sp>
        <p:sp>
          <p:nvSpPr>
            <p:cNvPr id="378" name="Google Shape;378;p7"/>
            <p:cNvSpPr/>
            <p:nvPr/>
          </p:nvSpPr>
          <p:spPr>
            <a:xfrm>
              <a:off x="10334625" y="2000250"/>
              <a:ext cx="619125" cy="1666875"/>
            </a:xfrm>
            <a:custGeom>
              <a:rect b="b" l="l" r="r" t="t"/>
              <a:pathLst>
                <a:path extrusionOk="0" h="1666875" w="619125">
                  <a:moveTo>
                    <a:pt x="0" y="0"/>
                  </a:moveTo>
                  <a:cubicBezTo>
                    <a:pt x="412750" y="0"/>
                    <a:pt x="619125" y="276225"/>
                    <a:pt x="619125" y="828675"/>
                  </a:cubicBezTo>
                  <a:cubicBezTo>
                    <a:pt x="619125" y="1387475"/>
                    <a:pt x="412750" y="1666875"/>
                    <a:pt x="0" y="1666875"/>
                  </a:cubicBezTo>
                </a:path>
              </a:pathLst>
            </a:custGeom>
            <a:noFill/>
            <a:ln cap="flat" cmpd="sng" w="2857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7"/>
            <p:cNvSpPr/>
            <p:nvPr/>
          </p:nvSpPr>
          <p:spPr>
            <a:xfrm>
              <a:off x="1809750" y="3667125"/>
              <a:ext cx="8524875" cy="9525"/>
            </a:xfrm>
            <a:custGeom>
              <a:rect b="b" l="l" r="r" t="t"/>
              <a:pathLst>
                <a:path extrusionOk="0" h="9525" w="8524875">
                  <a:moveTo>
                    <a:pt x="0" y="0"/>
                  </a:moveTo>
                  <a:lnTo>
                    <a:pt x="8524875" y="0"/>
                  </a:lnTo>
                </a:path>
              </a:pathLst>
            </a:custGeom>
            <a:noFill/>
            <a:ln cap="rnd" cmpd="sng" w="28575">
              <a:solidFill>
                <a:srgbClr val="E3E8EF"/>
              </a:solidFill>
              <a:prstDash val="solid"/>
              <a:round/>
              <a:headEnd len="sm" w="sm" type="none"/>
              <a:tailEnd len="sm" w="sm" type="none"/>
            </a:ln>
          </p:spPr>
        </p:sp>
        <p:sp>
          <p:nvSpPr>
            <p:cNvPr id="380" name="Google Shape;380;p7"/>
            <p:cNvSpPr/>
            <p:nvPr/>
          </p:nvSpPr>
          <p:spPr>
            <a:xfrm>
              <a:off x="1190625" y="3667125"/>
              <a:ext cx="619125" cy="1666875"/>
            </a:xfrm>
            <a:custGeom>
              <a:rect b="b" l="l" r="r" t="t"/>
              <a:pathLst>
                <a:path extrusionOk="0" h="1666875" w="619125">
                  <a:moveTo>
                    <a:pt x="619125" y="0"/>
                  </a:moveTo>
                  <a:cubicBezTo>
                    <a:pt x="206375" y="0"/>
                    <a:pt x="0" y="276225"/>
                    <a:pt x="0" y="828675"/>
                  </a:cubicBezTo>
                  <a:cubicBezTo>
                    <a:pt x="0" y="1387475"/>
                    <a:pt x="206375" y="1666875"/>
                    <a:pt x="619125" y="1666875"/>
                  </a:cubicBezTo>
                </a:path>
              </a:pathLst>
            </a:custGeom>
            <a:noFill/>
            <a:ln cap="flat" cmpd="sng" w="2857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1809750" y="5334000"/>
              <a:ext cx="5715000" cy="9525"/>
            </a:xfrm>
            <a:custGeom>
              <a:rect b="b" l="l" r="r" t="t"/>
              <a:pathLst>
                <a:path extrusionOk="0" h="9525" w="5715000">
                  <a:moveTo>
                    <a:pt x="0" y="0"/>
                  </a:moveTo>
                  <a:lnTo>
                    <a:pt x="5715000" y="0"/>
                  </a:lnTo>
                </a:path>
              </a:pathLst>
            </a:custGeom>
            <a:noFill/>
            <a:ln cap="rnd" cmpd="sng" w="28575">
              <a:solidFill>
                <a:srgbClr val="E3E8EF"/>
              </a:solidFill>
              <a:prstDash val="solid"/>
              <a:round/>
              <a:headEnd len="sm" w="sm" type="none"/>
              <a:tailEnd len="sm" w="sm" type="none"/>
            </a:ln>
          </p:spPr>
        </p:sp>
      </p:grpSp>
      <p:grpSp>
        <p:nvGrpSpPr>
          <p:cNvPr id="382" name="Google Shape;382;p7"/>
          <p:cNvGrpSpPr/>
          <p:nvPr/>
        </p:nvGrpSpPr>
        <p:grpSpPr>
          <a:xfrm>
            <a:off x="3124200" y="1924050"/>
            <a:ext cx="5915025" cy="3486150"/>
            <a:chOff x="3124200" y="1924050"/>
            <a:chExt cx="5915025" cy="3486150"/>
          </a:xfrm>
        </p:grpSpPr>
        <p:sp>
          <p:nvSpPr>
            <p:cNvPr id="383" name="Google Shape;383;p7"/>
            <p:cNvSpPr/>
            <p:nvPr/>
          </p:nvSpPr>
          <p:spPr>
            <a:xfrm>
              <a:off x="3124200" y="1924050"/>
              <a:ext cx="114300" cy="152400"/>
            </a:xfrm>
            <a:custGeom>
              <a:rect b="b" l="l" r="r" t="t"/>
              <a:pathLst>
                <a:path extrusionOk="0" h="152400" w="114300">
                  <a:moveTo>
                    <a:pt x="114300" y="76200"/>
                  </a:moveTo>
                  <a:lnTo>
                    <a:pt x="0" y="0"/>
                  </a:lnTo>
                  <a:lnTo>
                    <a:pt x="0" y="152400"/>
                  </a:lnTo>
                  <a:close/>
                </a:path>
              </a:pathLst>
            </a:custGeom>
            <a:solidFill>
              <a:srgbClr val="9AA5B1"/>
            </a:solidFill>
            <a:ln>
              <a:noFill/>
            </a:ln>
          </p:spPr>
        </p:sp>
        <p:sp>
          <p:nvSpPr>
            <p:cNvPr id="384" name="Google Shape;384;p7"/>
            <p:cNvSpPr/>
            <p:nvPr/>
          </p:nvSpPr>
          <p:spPr>
            <a:xfrm>
              <a:off x="5981700" y="1924050"/>
              <a:ext cx="114300" cy="152400"/>
            </a:xfrm>
            <a:custGeom>
              <a:rect b="b" l="l" r="r" t="t"/>
              <a:pathLst>
                <a:path extrusionOk="0" h="152400" w="114300">
                  <a:moveTo>
                    <a:pt x="114300" y="76200"/>
                  </a:moveTo>
                  <a:lnTo>
                    <a:pt x="0" y="0"/>
                  </a:lnTo>
                  <a:lnTo>
                    <a:pt x="0" y="152400"/>
                  </a:lnTo>
                  <a:close/>
                </a:path>
              </a:pathLst>
            </a:custGeom>
            <a:solidFill>
              <a:srgbClr val="9AA5B1"/>
            </a:solidFill>
            <a:ln>
              <a:noFill/>
            </a:ln>
          </p:spPr>
        </p:sp>
        <p:sp>
          <p:nvSpPr>
            <p:cNvPr id="385" name="Google Shape;385;p7"/>
            <p:cNvSpPr/>
            <p:nvPr/>
          </p:nvSpPr>
          <p:spPr>
            <a:xfrm>
              <a:off x="8810625" y="1924050"/>
              <a:ext cx="114300" cy="152400"/>
            </a:xfrm>
            <a:custGeom>
              <a:rect b="b" l="l" r="r" t="t"/>
              <a:pathLst>
                <a:path extrusionOk="0" h="152400" w="114300">
                  <a:moveTo>
                    <a:pt x="114300" y="76200"/>
                  </a:moveTo>
                  <a:lnTo>
                    <a:pt x="0" y="0"/>
                  </a:lnTo>
                  <a:lnTo>
                    <a:pt x="0" y="152400"/>
                  </a:lnTo>
                  <a:close/>
                </a:path>
              </a:pathLst>
            </a:custGeom>
            <a:solidFill>
              <a:srgbClr val="9AA5B1"/>
            </a:solidFill>
            <a:ln>
              <a:noFill/>
            </a:ln>
          </p:spPr>
        </p:sp>
        <p:sp>
          <p:nvSpPr>
            <p:cNvPr id="386" name="Google Shape;386;p7"/>
            <p:cNvSpPr/>
            <p:nvPr/>
          </p:nvSpPr>
          <p:spPr>
            <a:xfrm>
              <a:off x="8924925" y="3590925"/>
              <a:ext cx="114300" cy="152400"/>
            </a:xfrm>
            <a:custGeom>
              <a:rect b="b" l="l" r="r" t="t"/>
              <a:pathLst>
                <a:path extrusionOk="0" h="152400" w="114300">
                  <a:moveTo>
                    <a:pt x="0" y="76200"/>
                  </a:moveTo>
                  <a:lnTo>
                    <a:pt x="114300" y="0"/>
                  </a:lnTo>
                  <a:lnTo>
                    <a:pt x="114300" y="152400"/>
                  </a:lnTo>
                  <a:close/>
                </a:path>
              </a:pathLst>
            </a:custGeom>
            <a:solidFill>
              <a:srgbClr val="9AA5B1"/>
            </a:solidFill>
            <a:ln>
              <a:noFill/>
            </a:ln>
          </p:spPr>
        </p:sp>
        <p:sp>
          <p:nvSpPr>
            <p:cNvPr id="387" name="Google Shape;387;p7"/>
            <p:cNvSpPr/>
            <p:nvPr/>
          </p:nvSpPr>
          <p:spPr>
            <a:xfrm>
              <a:off x="6096000" y="3590925"/>
              <a:ext cx="114300" cy="152400"/>
            </a:xfrm>
            <a:custGeom>
              <a:rect b="b" l="l" r="r" t="t"/>
              <a:pathLst>
                <a:path extrusionOk="0" h="152400" w="114300">
                  <a:moveTo>
                    <a:pt x="0" y="76200"/>
                  </a:moveTo>
                  <a:lnTo>
                    <a:pt x="114300" y="0"/>
                  </a:lnTo>
                  <a:lnTo>
                    <a:pt x="114300" y="152400"/>
                  </a:lnTo>
                  <a:close/>
                </a:path>
              </a:pathLst>
            </a:custGeom>
            <a:solidFill>
              <a:srgbClr val="9AA5B1"/>
            </a:solidFill>
            <a:ln>
              <a:noFill/>
            </a:ln>
          </p:spPr>
        </p:sp>
        <p:sp>
          <p:nvSpPr>
            <p:cNvPr id="388" name="Google Shape;388;p7"/>
            <p:cNvSpPr/>
            <p:nvPr/>
          </p:nvSpPr>
          <p:spPr>
            <a:xfrm>
              <a:off x="3238500" y="3590925"/>
              <a:ext cx="114300" cy="152400"/>
            </a:xfrm>
            <a:custGeom>
              <a:rect b="b" l="l" r="r" t="t"/>
              <a:pathLst>
                <a:path extrusionOk="0" h="152400" w="114300">
                  <a:moveTo>
                    <a:pt x="0" y="76200"/>
                  </a:moveTo>
                  <a:lnTo>
                    <a:pt x="114300" y="0"/>
                  </a:lnTo>
                  <a:lnTo>
                    <a:pt x="114300" y="152400"/>
                  </a:lnTo>
                  <a:close/>
                </a:path>
              </a:pathLst>
            </a:custGeom>
            <a:solidFill>
              <a:srgbClr val="9AA5B1"/>
            </a:solidFill>
            <a:ln>
              <a:noFill/>
            </a:ln>
          </p:spPr>
        </p:sp>
        <p:sp>
          <p:nvSpPr>
            <p:cNvPr id="389" name="Google Shape;389;p7"/>
            <p:cNvSpPr/>
            <p:nvPr/>
          </p:nvSpPr>
          <p:spPr>
            <a:xfrm>
              <a:off x="3124200" y="5257800"/>
              <a:ext cx="114300" cy="152400"/>
            </a:xfrm>
            <a:custGeom>
              <a:rect b="b" l="l" r="r" t="t"/>
              <a:pathLst>
                <a:path extrusionOk="0" h="152400" w="114300">
                  <a:moveTo>
                    <a:pt x="114300" y="76200"/>
                  </a:moveTo>
                  <a:lnTo>
                    <a:pt x="0" y="0"/>
                  </a:lnTo>
                  <a:lnTo>
                    <a:pt x="0" y="152400"/>
                  </a:lnTo>
                  <a:close/>
                </a:path>
              </a:pathLst>
            </a:custGeom>
            <a:solidFill>
              <a:srgbClr val="9AA5B1"/>
            </a:solidFill>
            <a:ln>
              <a:noFill/>
            </a:ln>
          </p:spPr>
        </p:sp>
        <p:sp>
          <p:nvSpPr>
            <p:cNvPr id="390" name="Google Shape;390;p7"/>
            <p:cNvSpPr/>
            <p:nvPr/>
          </p:nvSpPr>
          <p:spPr>
            <a:xfrm>
              <a:off x="5981700" y="5257800"/>
              <a:ext cx="114300" cy="152400"/>
            </a:xfrm>
            <a:custGeom>
              <a:rect b="b" l="l" r="r" t="t"/>
              <a:pathLst>
                <a:path extrusionOk="0" h="152400" w="114300">
                  <a:moveTo>
                    <a:pt x="114300" y="76200"/>
                  </a:moveTo>
                  <a:lnTo>
                    <a:pt x="0" y="0"/>
                  </a:lnTo>
                  <a:lnTo>
                    <a:pt x="0" y="152400"/>
                  </a:lnTo>
                  <a:close/>
                </a:path>
              </a:pathLst>
            </a:custGeom>
            <a:solidFill>
              <a:srgbClr val="9AA5B1"/>
            </a:solidFill>
            <a:ln>
              <a:noFill/>
            </a:ln>
          </p:spPr>
        </p:sp>
      </p:grpSp>
      <p:grpSp>
        <p:nvGrpSpPr>
          <p:cNvPr id="391" name="Google Shape;391;p7"/>
          <p:cNvGrpSpPr/>
          <p:nvPr/>
        </p:nvGrpSpPr>
        <p:grpSpPr>
          <a:xfrm>
            <a:off x="1183011" y="1714500"/>
            <a:ext cx="1253478" cy="926306"/>
            <a:chOff x="1183011" y="1714500"/>
            <a:chExt cx="1253478" cy="926306"/>
          </a:xfrm>
        </p:grpSpPr>
        <p:sp>
          <p:nvSpPr>
            <p:cNvPr id="392" name="Google Shape;392;p7"/>
            <p:cNvSpPr/>
            <p:nvPr/>
          </p:nvSpPr>
          <p:spPr>
            <a:xfrm>
              <a:off x="1524000" y="1714500"/>
              <a:ext cx="571500" cy="571500"/>
            </a:xfrm>
            <a:prstGeom prst="ellipse">
              <a:avLst/>
            </a:prstGeom>
            <a:solidFill>
              <a:srgbClr val="1565C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7"/>
            <p:cNvSpPr txBox="1"/>
            <p:nvPr/>
          </p:nvSpPr>
          <p:spPr>
            <a:xfrm>
              <a:off x="1710460" y="1919764"/>
              <a:ext cx="198581"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01</a:t>
              </a:r>
              <a:endParaRPr/>
            </a:p>
          </p:txBody>
        </p:sp>
        <p:sp>
          <p:nvSpPr>
            <p:cNvPr id="394" name="Google Shape;394;p7"/>
            <p:cNvSpPr txBox="1"/>
            <p:nvPr/>
          </p:nvSpPr>
          <p:spPr>
            <a:xfrm>
              <a:off x="1183011" y="2412206"/>
              <a:ext cx="125347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Customer Data</a:t>
              </a:r>
              <a:endParaRPr/>
            </a:p>
          </p:txBody>
        </p:sp>
      </p:grpSp>
      <p:grpSp>
        <p:nvGrpSpPr>
          <p:cNvPr id="395" name="Google Shape;395;p7"/>
          <p:cNvGrpSpPr/>
          <p:nvPr/>
        </p:nvGrpSpPr>
        <p:grpSpPr>
          <a:xfrm>
            <a:off x="4100894" y="1714500"/>
            <a:ext cx="1132713" cy="926306"/>
            <a:chOff x="4100894" y="1714500"/>
            <a:chExt cx="1132713" cy="926306"/>
          </a:xfrm>
        </p:grpSpPr>
        <p:sp>
          <p:nvSpPr>
            <p:cNvPr id="396" name="Google Shape;396;p7"/>
            <p:cNvSpPr/>
            <p:nvPr/>
          </p:nvSpPr>
          <p:spPr>
            <a:xfrm>
              <a:off x="4381500" y="1714500"/>
              <a:ext cx="571500" cy="571500"/>
            </a:xfrm>
            <a:prstGeom prst="ellipse">
              <a:avLst/>
            </a:prstGeom>
            <a:solidFill>
              <a:srgbClr val="42A5F5"/>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7"/>
            <p:cNvSpPr txBox="1"/>
            <p:nvPr/>
          </p:nvSpPr>
          <p:spPr>
            <a:xfrm>
              <a:off x="4543519" y="1919764"/>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02</a:t>
              </a:r>
              <a:endParaRPr/>
            </a:p>
          </p:txBody>
        </p:sp>
        <p:sp>
          <p:nvSpPr>
            <p:cNvPr id="398" name="Google Shape;398;p7"/>
            <p:cNvSpPr txBox="1"/>
            <p:nvPr/>
          </p:nvSpPr>
          <p:spPr>
            <a:xfrm>
              <a:off x="4100894" y="2412206"/>
              <a:ext cx="1132713"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Data Cleaning</a:t>
              </a:r>
              <a:endParaRPr/>
            </a:p>
          </p:txBody>
        </p:sp>
      </p:grpSp>
      <p:grpSp>
        <p:nvGrpSpPr>
          <p:cNvPr id="399" name="Google Shape;399;p7"/>
          <p:cNvGrpSpPr/>
          <p:nvPr/>
        </p:nvGrpSpPr>
        <p:grpSpPr>
          <a:xfrm>
            <a:off x="6958394" y="1714500"/>
            <a:ext cx="1132713" cy="926306"/>
            <a:chOff x="6958394" y="1714500"/>
            <a:chExt cx="1132713" cy="926306"/>
          </a:xfrm>
        </p:grpSpPr>
        <p:sp>
          <p:nvSpPr>
            <p:cNvPr id="400" name="Google Shape;400;p7"/>
            <p:cNvSpPr/>
            <p:nvPr/>
          </p:nvSpPr>
          <p:spPr>
            <a:xfrm>
              <a:off x="7239000" y="1714500"/>
              <a:ext cx="571500" cy="571500"/>
            </a:xfrm>
            <a:prstGeom prst="ellipse">
              <a:avLst/>
            </a:prstGeom>
            <a:solidFill>
              <a:srgbClr val="1565C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7"/>
            <p:cNvSpPr txBox="1"/>
            <p:nvPr/>
          </p:nvSpPr>
          <p:spPr>
            <a:xfrm>
              <a:off x="7401019" y="1919764"/>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03</a:t>
              </a:r>
              <a:endParaRPr/>
            </a:p>
          </p:txBody>
        </p:sp>
        <p:sp>
          <p:nvSpPr>
            <p:cNvPr id="402" name="Google Shape;402;p7"/>
            <p:cNvSpPr txBox="1"/>
            <p:nvPr/>
          </p:nvSpPr>
          <p:spPr>
            <a:xfrm>
              <a:off x="6958394" y="2412206"/>
              <a:ext cx="1132713"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Data Analysis</a:t>
              </a:r>
              <a:endParaRPr/>
            </a:p>
          </p:txBody>
        </p:sp>
      </p:grpSp>
      <p:grpSp>
        <p:nvGrpSpPr>
          <p:cNvPr id="403" name="Google Shape;403;p7"/>
          <p:cNvGrpSpPr/>
          <p:nvPr/>
        </p:nvGrpSpPr>
        <p:grpSpPr>
          <a:xfrm>
            <a:off x="9483608" y="1714500"/>
            <a:ext cx="1702034" cy="926306"/>
            <a:chOff x="9483608" y="1714500"/>
            <a:chExt cx="1702034" cy="926306"/>
          </a:xfrm>
        </p:grpSpPr>
        <p:sp>
          <p:nvSpPr>
            <p:cNvPr id="404" name="Google Shape;404;p7"/>
            <p:cNvSpPr/>
            <p:nvPr/>
          </p:nvSpPr>
          <p:spPr>
            <a:xfrm>
              <a:off x="10048875" y="1714500"/>
              <a:ext cx="571500" cy="571500"/>
            </a:xfrm>
            <a:prstGeom prst="ellipse">
              <a:avLst/>
            </a:prstGeom>
            <a:solidFill>
              <a:srgbClr val="42A5F5"/>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7"/>
            <p:cNvSpPr txBox="1"/>
            <p:nvPr/>
          </p:nvSpPr>
          <p:spPr>
            <a:xfrm>
              <a:off x="10210894" y="1919764"/>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04</a:t>
              </a:r>
              <a:endParaRPr/>
            </a:p>
          </p:txBody>
        </p:sp>
        <p:sp>
          <p:nvSpPr>
            <p:cNvPr id="406" name="Google Shape;406;p7"/>
            <p:cNvSpPr txBox="1"/>
            <p:nvPr/>
          </p:nvSpPr>
          <p:spPr>
            <a:xfrm>
              <a:off x="9483608" y="2412206"/>
              <a:ext cx="170203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Feature Engineering</a:t>
              </a:r>
              <a:endParaRPr/>
            </a:p>
          </p:txBody>
        </p:sp>
      </p:grpSp>
      <p:grpSp>
        <p:nvGrpSpPr>
          <p:cNvPr id="407" name="Google Shape;407;p7"/>
          <p:cNvGrpSpPr/>
          <p:nvPr/>
        </p:nvGrpSpPr>
        <p:grpSpPr>
          <a:xfrm>
            <a:off x="9962355" y="3381375"/>
            <a:ext cx="744539" cy="926306"/>
            <a:chOff x="9962355" y="3381375"/>
            <a:chExt cx="744539" cy="926306"/>
          </a:xfrm>
        </p:grpSpPr>
        <p:sp>
          <p:nvSpPr>
            <p:cNvPr id="408" name="Google Shape;408;p7"/>
            <p:cNvSpPr/>
            <p:nvPr/>
          </p:nvSpPr>
          <p:spPr>
            <a:xfrm>
              <a:off x="10048875" y="3381375"/>
              <a:ext cx="571500" cy="571500"/>
            </a:xfrm>
            <a:prstGeom prst="ellipse">
              <a:avLst/>
            </a:prstGeom>
            <a:solidFill>
              <a:srgbClr val="1565C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7"/>
            <p:cNvSpPr txBox="1"/>
            <p:nvPr/>
          </p:nvSpPr>
          <p:spPr>
            <a:xfrm>
              <a:off x="10210894" y="3586639"/>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05</a:t>
              </a:r>
              <a:endParaRPr/>
            </a:p>
          </p:txBody>
        </p:sp>
        <p:sp>
          <p:nvSpPr>
            <p:cNvPr id="410" name="Google Shape;410;p7"/>
            <p:cNvSpPr txBox="1"/>
            <p:nvPr/>
          </p:nvSpPr>
          <p:spPr>
            <a:xfrm>
              <a:off x="9962355" y="4079081"/>
              <a:ext cx="74453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Encoding</a:t>
              </a:r>
              <a:endParaRPr/>
            </a:p>
          </p:txBody>
        </p:sp>
      </p:grpSp>
      <p:grpSp>
        <p:nvGrpSpPr>
          <p:cNvPr id="411" name="Google Shape;411;p7"/>
          <p:cNvGrpSpPr/>
          <p:nvPr/>
        </p:nvGrpSpPr>
        <p:grpSpPr>
          <a:xfrm>
            <a:off x="6837628" y="3381375"/>
            <a:ext cx="1374243" cy="926306"/>
            <a:chOff x="6837628" y="3381375"/>
            <a:chExt cx="1374243" cy="926306"/>
          </a:xfrm>
        </p:grpSpPr>
        <p:sp>
          <p:nvSpPr>
            <p:cNvPr id="412" name="Google Shape;412;p7"/>
            <p:cNvSpPr/>
            <p:nvPr/>
          </p:nvSpPr>
          <p:spPr>
            <a:xfrm>
              <a:off x="7239000" y="3381375"/>
              <a:ext cx="571500" cy="571500"/>
            </a:xfrm>
            <a:prstGeom prst="ellipse">
              <a:avLst/>
            </a:prstGeom>
            <a:solidFill>
              <a:srgbClr val="42A5F5"/>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
            <p:cNvSpPr txBox="1"/>
            <p:nvPr/>
          </p:nvSpPr>
          <p:spPr>
            <a:xfrm>
              <a:off x="7401019" y="3586639"/>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06</a:t>
              </a:r>
              <a:endParaRPr/>
            </a:p>
          </p:txBody>
        </p:sp>
        <p:sp>
          <p:nvSpPr>
            <p:cNvPr id="414" name="Google Shape;414;p7"/>
            <p:cNvSpPr txBox="1"/>
            <p:nvPr/>
          </p:nvSpPr>
          <p:spPr>
            <a:xfrm>
              <a:off x="6837628" y="4079081"/>
              <a:ext cx="1374243"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Train/Test Split</a:t>
              </a:r>
              <a:endParaRPr/>
            </a:p>
          </p:txBody>
        </p:sp>
      </p:grpSp>
      <p:grpSp>
        <p:nvGrpSpPr>
          <p:cNvPr id="415" name="Google Shape;415;p7"/>
          <p:cNvGrpSpPr/>
          <p:nvPr/>
        </p:nvGrpSpPr>
        <p:grpSpPr>
          <a:xfrm>
            <a:off x="4234598" y="3381375"/>
            <a:ext cx="865305" cy="926306"/>
            <a:chOff x="4234598" y="3381375"/>
            <a:chExt cx="865305" cy="926306"/>
          </a:xfrm>
        </p:grpSpPr>
        <p:sp>
          <p:nvSpPr>
            <p:cNvPr id="416" name="Google Shape;416;p7"/>
            <p:cNvSpPr/>
            <p:nvPr/>
          </p:nvSpPr>
          <p:spPr>
            <a:xfrm>
              <a:off x="4381500" y="3381375"/>
              <a:ext cx="571500" cy="571500"/>
            </a:xfrm>
            <a:prstGeom prst="ellipse">
              <a:avLst/>
            </a:prstGeom>
            <a:solidFill>
              <a:srgbClr val="1565C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txBox="1"/>
            <p:nvPr/>
          </p:nvSpPr>
          <p:spPr>
            <a:xfrm>
              <a:off x="4543519" y="3586639"/>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07</a:t>
              </a:r>
              <a:endParaRPr/>
            </a:p>
          </p:txBody>
        </p:sp>
        <p:sp>
          <p:nvSpPr>
            <p:cNvPr id="418" name="Google Shape;418;p7"/>
            <p:cNvSpPr txBox="1"/>
            <p:nvPr/>
          </p:nvSpPr>
          <p:spPr>
            <a:xfrm>
              <a:off x="4234598" y="4079081"/>
              <a:ext cx="865305"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ML Models</a:t>
              </a:r>
              <a:endParaRPr/>
            </a:p>
          </p:txBody>
        </p:sp>
      </p:grpSp>
      <p:grpSp>
        <p:nvGrpSpPr>
          <p:cNvPr id="419" name="Google Shape;419;p7"/>
          <p:cNvGrpSpPr/>
          <p:nvPr/>
        </p:nvGrpSpPr>
        <p:grpSpPr>
          <a:xfrm>
            <a:off x="1105376" y="3381375"/>
            <a:ext cx="1408747" cy="926306"/>
            <a:chOff x="1105376" y="3381375"/>
            <a:chExt cx="1408747" cy="926306"/>
          </a:xfrm>
        </p:grpSpPr>
        <p:sp>
          <p:nvSpPr>
            <p:cNvPr id="420" name="Google Shape;420;p7"/>
            <p:cNvSpPr/>
            <p:nvPr/>
          </p:nvSpPr>
          <p:spPr>
            <a:xfrm>
              <a:off x="1524000" y="3381375"/>
              <a:ext cx="571500" cy="571500"/>
            </a:xfrm>
            <a:prstGeom prst="ellipse">
              <a:avLst/>
            </a:prstGeom>
            <a:solidFill>
              <a:srgbClr val="42A5F5"/>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
            <p:cNvSpPr txBox="1"/>
            <p:nvPr/>
          </p:nvSpPr>
          <p:spPr>
            <a:xfrm>
              <a:off x="1686019" y="3586639"/>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08</a:t>
              </a:r>
              <a:endParaRPr/>
            </a:p>
          </p:txBody>
        </p:sp>
        <p:sp>
          <p:nvSpPr>
            <p:cNvPr id="422" name="Google Shape;422;p7"/>
            <p:cNvSpPr txBox="1"/>
            <p:nvPr/>
          </p:nvSpPr>
          <p:spPr>
            <a:xfrm>
              <a:off x="1105376" y="4079081"/>
              <a:ext cx="1408747"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Model Evaluation</a:t>
              </a:r>
              <a:endParaRPr/>
            </a:p>
          </p:txBody>
        </p:sp>
      </p:grpSp>
      <p:grpSp>
        <p:nvGrpSpPr>
          <p:cNvPr id="423" name="Google Shape;423;p7"/>
          <p:cNvGrpSpPr/>
          <p:nvPr/>
        </p:nvGrpSpPr>
        <p:grpSpPr>
          <a:xfrm>
            <a:off x="1101063" y="5048250"/>
            <a:ext cx="1417374" cy="926306"/>
            <a:chOff x="1101063" y="5048250"/>
            <a:chExt cx="1417374" cy="926306"/>
          </a:xfrm>
        </p:grpSpPr>
        <p:sp>
          <p:nvSpPr>
            <p:cNvPr id="424" name="Google Shape;424;p7"/>
            <p:cNvSpPr/>
            <p:nvPr/>
          </p:nvSpPr>
          <p:spPr>
            <a:xfrm>
              <a:off x="1524000" y="5048250"/>
              <a:ext cx="571500" cy="571500"/>
            </a:xfrm>
            <a:prstGeom prst="ellipse">
              <a:avLst/>
            </a:prstGeom>
            <a:solidFill>
              <a:srgbClr val="1565C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7"/>
            <p:cNvSpPr txBox="1"/>
            <p:nvPr/>
          </p:nvSpPr>
          <p:spPr>
            <a:xfrm>
              <a:off x="1686019" y="5253514"/>
              <a:ext cx="247462"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09</a:t>
              </a:r>
              <a:endParaRPr/>
            </a:p>
          </p:txBody>
        </p:sp>
        <p:sp>
          <p:nvSpPr>
            <p:cNvPr id="426" name="Google Shape;426;p7"/>
            <p:cNvSpPr txBox="1"/>
            <p:nvPr/>
          </p:nvSpPr>
          <p:spPr>
            <a:xfrm>
              <a:off x="1101063" y="5745956"/>
              <a:ext cx="141737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Churn Prediction</a:t>
              </a:r>
              <a:endParaRPr/>
            </a:p>
          </p:txBody>
        </p:sp>
      </p:grpSp>
      <p:grpSp>
        <p:nvGrpSpPr>
          <p:cNvPr id="427" name="Google Shape;427;p7"/>
          <p:cNvGrpSpPr/>
          <p:nvPr/>
        </p:nvGrpSpPr>
        <p:grpSpPr>
          <a:xfrm>
            <a:off x="3880929" y="5048250"/>
            <a:ext cx="1572643" cy="926306"/>
            <a:chOff x="3880929" y="5048250"/>
            <a:chExt cx="1572643" cy="926306"/>
          </a:xfrm>
        </p:grpSpPr>
        <p:sp>
          <p:nvSpPr>
            <p:cNvPr id="428" name="Google Shape;428;p7"/>
            <p:cNvSpPr/>
            <p:nvPr/>
          </p:nvSpPr>
          <p:spPr>
            <a:xfrm>
              <a:off x="4381500" y="5048250"/>
              <a:ext cx="571500" cy="571500"/>
            </a:xfrm>
            <a:prstGeom prst="ellipse">
              <a:avLst/>
            </a:prstGeom>
            <a:solidFill>
              <a:srgbClr val="42A5F5"/>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txBox="1"/>
            <p:nvPr/>
          </p:nvSpPr>
          <p:spPr>
            <a:xfrm>
              <a:off x="4567960" y="5253514"/>
              <a:ext cx="198581"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10</a:t>
              </a:r>
              <a:endParaRPr/>
            </a:p>
          </p:txBody>
        </p:sp>
        <p:sp>
          <p:nvSpPr>
            <p:cNvPr id="430" name="Google Shape;430;p7"/>
            <p:cNvSpPr txBox="1"/>
            <p:nvPr/>
          </p:nvSpPr>
          <p:spPr>
            <a:xfrm>
              <a:off x="3880929" y="5745956"/>
              <a:ext cx="1572643"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Risk Classification</a:t>
              </a:r>
              <a:endParaRPr/>
            </a:p>
          </p:txBody>
        </p:sp>
      </p:grpSp>
      <p:grpSp>
        <p:nvGrpSpPr>
          <p:cNvPr id="431" name="Google Shape;431;p7"/>
          <p:cNvGrpSpPr/>
          <p:nvPr/>
        </p:nvGrpSpPr>
        <p:grpSpPr>
          <a:xfrm>
            <a:off x="6609037" y="5048250"/>
            <a:ext cx="1831425" cy="926306"/>
            <a:chOff x="6609037" y="5048250"/>
            <a:chExt cx="1831425" cy="926306"/>
          </a:xfrm>
        </p:grpSpPr>
        <p:sp>
          <p:nvSpPr>
            <p:cNvPr id="432" name="Google Shape;432;p7"/>
            <p:cNvSpPr/>
            <p:nvPr/>
          </p:nvSpPr>
          <p:spPr>
            <a:xfrm>
              <a:off x="7239000" y="5048250"/>
              <a:ext cx="571500" cy="571500"/>
            </a:xfrm>
            <a:prstGeom prst="ellipse">
              <a:avLst/>
            </a:prstGeom>
            <a:solidFill>
              <a:srgbClr val="FF8F00"/>
            </a:solidFill>
            <a:ln>
              <a:noFill/>
            </a:ln>
            <a:effectLst>
              <a:outerShdw blurRad="114300" rotWithShape="0" algn="ctr" dir="5400000" dist="28575">
                <a:srgbClr val="000000">
                  <a:alpha val="1058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
            <p:cNvSpPr txBox="1"/>
            <p:nvPr/>
          </p:nvSpPr>
          <p:spPr>
            <a:xfrm>
              <a:off x="7449900" y="5253514"/>
              <a:ext cx="149700" cy="259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275" u="none" cap="none" strike="noStrike">
                  <a:solidFill>
                    <a:srgbClr val="FFFFFF"/>
                  </a:solidFill>
                  <a:latin typeface="Quattrocento Sans"/>
                  <a:ea typeface="Quattrocento Sans"/>
                  <a:cs typeface="Quattrocento Sans"/>
                  <a:sym typeface="Quattrocento Sans"/>
                </a:rPr>
                <a:t>11</a:t>
              </a:r>
              <a:endParaRPr/>
            </a:p>
          </p:txBody>
        </p:sp>
        <p:sp>
          <p:nvSpPr>
            <p:cNvPr id="434" name="Google Shape;434;p7"/>
            <p:cNvSpPr txBox="1"/>
            <p:nvPr/>
          </p:nvSpPr>
          <p:spPr>
            <a:xfrm>
              <a:off x="6609037" y="5745956"/>
              <a:ext cx="1831425"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1F2933"/>
                  </a:solidFill>
                  <a:latin typeface="Quattrocento Sans"/>
                  <a:ea typeface="Quattrocento Sans"/>
                  <a:cs typeface="Quattrocento Sans"/>
                  <a:sym typeface="Quattrocento Sans"/>
                </a:rPr>
                <a:t>Customer Risk Report</a:t>
              </a:r>
              <a:endParaRPr/>
            </a:p>
          </p:txBody>
        </p:sp>
      </p:grpSp>
      <p:grpSp>
        <p:nvGrpSpPr>
          <p:cNvPr id="435" name="Google Shape;435;p7"/>
          <p:cNvGrpSpPr/>
          <p:nvPr/>
        </p:nvGrpSpPr>
        <p:grpSpPr>
          <a:xfrm>
            <a:off x="561022" y="6381750"/>
            <a:ext cx="11069956" cy="345281"/>
            <a:chOff x="561022" y="6381750"/>
            <a:chExt cx="11069956" cy="345281"/>
          </a:xfrm>
        </p:grpSpPr>
        <p:sp>
          <p:nvSpPr>
            <p:cNvPr id="436" name="Google Shape;436;p7"/>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437" name="Google Shape;437;p7"/>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438" name="Google Shape;438;p7"/>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07 / 18</a:t>
              </a:r>
              <a:endParaRPr/>
            </a:p>
          </p:txBody>
        </p:sp>
      </p:gr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8"/>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8"/>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5" name="Google Shape;445;p8"/>
          <p:cNvGrpSpPr/>
          <p:nvPr/>
        </p:nvGrpSpPr>
        <p:grpSpPr>
          <a:xfrm>
            <a:off x="541020" y="483870"/>
            <a:ext cx="2416454" cy="487680"/>
            <a:chOff x="541020" y="483870"/>
            <a:chExt cx="2416454" cy="487680"/>
          </a:xfrm>
        </p:grpSpPr>
        <p:sp>
          <p:nvSpPr>
            <p:cNvPr id="446" name="Google Shape;446;p8"/>
            <p:cNvSpPr txBox="1"/>
            <p:nvPr/>
          </p:nvSpPr>
          <p:spPr>
            <a:xfrm>
              <a:off x="541020" y="483870"/>
              <a:ext cx="2416454"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Data Cleaning</a:t>
              </a:r>
              <a:endParaRPr/>
            </a:p>
          </p:txBody>
        </p:sp>
        <p:sp>
          <p:nvSpPr>
            <p:cNvPr id="447" name="Google Shape;447;p8"/>
            <p:cNvSpPr/>
            <p:nvPr/>
          </p:nvSpPr>
          <p:spPr>
            <a:xfrm>
              <a:off x="571500" y="8953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8"/>
          <p:cNvGrpSpPr/>
          <p:nvPr/>
        </p:nvGrpSpPr>
        <p:grpSpPr>
          <a:xfrm>
            <a:off x="550545" y="1619250"/>
            <a:ext cx="2109858" cy="2135981"/>
            <a:chOff x="550545" y="1619250"/>
            <a:chExt cx="2109858" cy="2135981"/>
          </a:xfrm>
        </p:grpSpPr>
        <p:sp>
          <p:nvSpPr>
            <p:cNvPr id="449" name="Google Shape;449;p8"/>
            <p:cNvSpPr/>
            <p:nvPr/>
          </p:nvSpPr>
          <p:spPr>
            <a:xfrm>
              <a:off x="571500" y="1619250"/>
              <a:ext cx="533400" cy="533400"/>
            </a:xfrm>
            <a:custGeom>
              <a:rect b="b" l="l" r="r" t="t"/>
              <a:pathLst>
                <a:path extrusionOk="0" h="533400" w="533400">
                  <a:moveTo>
                    <a:pt x="133350" y="0"/>
                  </a:moveTo>
                  <a:lnTo>
                    <a:pt x="400050" y="0"/>
                  </a:lnTo>
                  <a:cubicBezTo>
                    <a:pt x="473697" y="0"/>
                    <a:pt x="533400" y="59703"/>
                    <a:pt x="533400" y="133350"/>
                  </a:cubicBezTo>
                  <a:lnTo>
                    <a:pt x="533400" y="400050"/>
                  </a:lnTo>
                  <a:cubicBezTo>
                    <a:pt x="533400" y="473697"/>
                    <a:pt x="473697" y="533400"/>
                    <a:pt x="400050" y="533400"/>
                  </a:cubicBezTo>
                  <a:lnTo>
                    <a:pt x="133350" y="533400"/>
                  </a:lnTo>
                  <a:cubicBezTo>
                    <a:pt x="59703" y="533400"/>
                    <a:pt x="0" y="473697"/>
                    <a:pt x="0" y="400050"/>
                  </a:cubicBezTo>
                  <a:lnTo>
                    <a:pt x="0" y="133350"/>
                  </a:lnTo>
                  <a:cubicBezTo>
                    <a:pt x="0" y="59703"/>
                    <a:pt x="59703" y="0"/>
                    <a:pt x="133350" y="0"/>
                  </a:cubicBezTo>
                  <a:close/>
                </a:path>
              </a:pathLst>
            </a:cu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8"/>
            <p:cNvGrpSpPr/>
            <p:nvPr/>
          </p:nvGrpSpPr>
          <p:grpSpPr>
            <a:xfrm>
              <a:off x="723900" y="1785938"/>
              <a:ext cx="228600" cy="200025"/>
              <a:chOff x="723900" y="1785938"/>
              <a:chExt cx="228600" cy="200025"/>
            </a:xfrm>
          </p:grpSpPr>
          <p:sp>
            <p:nvSpPr>
              <p:cNvPr id="451" name="Google Shape;451;p8"/>
              <p:cNvSpPr/>
              <p:nvPr/>
            </p:nvSpPr>
            <p:spPr>
              <a:xfrm>
                <a:off x="723900" y="1785938"/>
                <a:ext cx="228600" cy="28575"/>
              </a:xfrm>
              <a:custGeom>
                <a:rect b="b" l="l" r="r" t="t"/>
                <a:pathLst>
                  <a:path extrusionOk="0" h="28575" w="228600">
                    <a:moveTo>
                      <a:pt x="0" y="28575"/>
                    </a:moveTo>
                    <a:lnTo>
                      <a:pt x="228600" y="28575"/>
                    </a:lnTo>
                    <a:lnTo>
                      <a:pt x="228600" y="0"/>
                    </a:lnTo>
                    <a:lnTo>
                      <a:pt x="0" y="0"/>
                    </a:lnTo>
                    <a:lnTo>
                      <a:pt x="0" y="28575"/>
                    </a:lnTo>
                    <a:close/>
                  </a:path>
                </a:pathLst>
              </a:custGeom>
              <a:solidFill>
                <a:srgbClr val="1565C0"/>
              </a:solidFill>
              <a:ln>
                <a:noFill/>
              </a:ln>
            </p:spPr>
          </p:sp>
          <p:sp>
            <p:nvSpPr>
              <p:cNvPr id="452" name="Google Shape;452;p8"/>
              <p:cNvSpPr/>
              <p:nvPr/>
            </p:nvSpPr>
            <p:spPr>
              <a:xfrm>
                <a:off x="752475" y="1843088"/>
                <a:ext cx="171450" cy="28575"/>
              </a:xfrm>
              <a:custGeom>
                <a:rect b="b" l="l" r="r" t="t"/>
                <a:pathLst>
                  <a:path extrusionOk="0" h="28575" w="171450">
                    <a:moveTo>
                      <a:pt x="0" y="28575"/>
                    </a:moveTo>
                    <a:lnTo>
                      <a:pt x="171450" y="28575"/>
                    </a:lnTo>
                    <a:lnTo>
                      <a:pt x="171450" y="0"/>
                    </a:lnTo>
                    <a:lnTo>
                      <a:pt x="0" y="0"/>
                    </a:lnTo>
                    <a:lnTo>
                      <a:pt x="0" y="28575"/>
                    </a:lnTo>
                    <a:close/>
                  </a:path>
                </a:pathLst>
              </a:custGeom>
              <a:solidFill>
                <a:srgbClr val="1565C0"/>
              </a:solidFill>
              <a:ln>
                <a:noFill/>
              </a:ln>
            </p:spPr>
          </p:sp>
          <p:sp>
            <p:nvSpPr>
              <p:cNvPr id="453" name="Google Shape;453;p8"/>
              <p:cNvSpPr/>
              <p:nvPr/>
            </p:nvSpPr>
            <p:spPr>
              <a:xfrm>
                <a:off x="781050" y="1900238"/>
                <a:ext cx="114300" cy="28575"/>
              </a:xfrm>
              <a:custGeom>
                <a:rect b="b" l="l" r="r" t="t"/>
                <a:pathLst>
                  <a:path extrusionOk="0" h="28575" w="114300">
                    <a:moveTo>
                      <a:pt x="0" y="28575"/>
                    </a:moveTo>
                    <a:lnTo>
                      <a:pt x="114300" y="28575"/>
                    </a:lnTo>
                    <a:lnTo>
                      <a:pt x="114300" y="0"/>
                    </a:lnTo>
                    <a:lnTo>
                      <a:pt x="0" y="0"/>
                    </a:lnTo>
                    <a:lnTo>
                      <a:pt x="0" y="28575"/>
                    </a:lnTo>
                    <a:close/>
                  </a:path>
                </a:pathLst>
              </a:custGeom>
              <a:solidFill>
                <a:srgbClr val="1565C0"/>
              </a:solidFill>
              <a:ln>
                <a:noFill/>
              </a:ln>
            </p:spPr>
          </p:sp>
          <p:sp>
            <p:nvSpPr>
              <p:cNvPr id="454" name="Google Shape;454;p8"/>
              <p:cNvSpPr/>
              <p:nvPr/>
            </p:nvSpPr>
            <p:spPr>
              <a:xfrm>
                <a:off x="809625" y="1957388"/>
                <a:ext cx="57150" cy="28575"/>
              </a:xfrm>
              <a:custGeom>
                <a:rect b="b" l="l" r="r" t="t"/>
                <a:pathLst>
                  <a:path extrusionOk="0" h="28575" w="57150">
                    <a:moveTo>
                      <a:pt x="57150" y="28575"/>
                    </a:moveTo>
                    <a:lnTo>
                      <a:pt x="0" y="28575"/>
                    </a:lnTo>
                    <a:lnTo>
                      <a:pt x="0" y="0"/>
                    </a:lnTo>
                    <a:lnTo>
                      <a:pt x="57150" y="0"/>
                    </a:lnTo>
                    <a:lnTo>
                      <a:pt x="57150" y="28575"/>
                    </a:lnTo>
                    <a:close/>
                  </a:path>
                </a:pathLst>
              </a:custGeom>
              <a:solidFill>
                <a:srgbClr val="1565C0"/>
              </a:solidFill>
              <a:ln>
                <a:noFill/>
              </a:ln>
            </p:spPr>
          </p:sp>
        </p:grpSp>
        <p:sp>
          <p:nvSpPr>
            <p:cNvPr id="455" name="Google Shape;455;p8"/>
            <p:cNvSpPr txBox="1"/>
            <p:nvPr/>
          </p:nvSpPr>
          <p:spPr>
            <a:xfrm>
              <a:off x="550545" y="2355532"/>
              <a:ext cx="1851086"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1565C0"/>
                  </a:solidFill>
                  <a:latin typeface="Quattrocento Sans"/>
                  <a:ea typeface="Quattrocento Sans"/>
                  <a:cs typeface="Quattrocento Sans"/>
                  <a:sym typeface="Quattrocento Sans"/>
                </a:rPr>
                <a:t>What I checked</a:t>
              </a:r>
              <a:endParaRPr/>
            </a:p>
          </p:txBody>
        </p:sp>
        <p:sp>
          <p:nvSpPr>
            <p:cNvPr id="456" name="Google Shape;456;p8"/>
            <p:cNvSpPr txBox="1"/>
            <p:nvPr/>
          </p:nvSpPr>
          <p:spPr>
            <a:xfrm>
              <a:off x="553402" y="2894171"/>
              <a:ext cx="1950910"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I first checked the</a:t>
              </a:r>
              <a:endParaRPr/>
            </a:p>
          </p:txBody>
        </p:sp>
        <p:sp>
          <p:nvSpPr>
            <p:cNvPr id="457" name="Google Shape;457;p8"/>
            <p:cNvSpPr txBox="1"/>
            <p:nvPr/>
          </p:nvSpPr>
          <p:spPr>
            <a:xfrm>
              <a:off x="553402" y="3179921"/>
              <a:ext cx="1586698"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dataset before</a:t>
              </a:r>
              <a:endParaRPr/>
            </a:p>
          </p:txBody>
        </p:sp>
        <p:sp>
          <p:nvSpPr>
            <p:cNvPr id="458" name="Google Shape;458;p8"/>
            <p:cNvSpPr txBox="1"/>
            <p:nvPr/>
          </p:nvSpPr>
          <p:spPr>
            <a:xfrm>
              <a:off x="553402" y="3465671"/>
              <a:ext cx="2107001"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training the models.</a:t>
              </a:r>
              <a:endParaRPr/>
            </a:p>
          </p:txBody>
        </p:sp>
      </p:grpSp>
      <p:sp>
        <p:nvSpPr>
          <p:cNvPr id="459" name="Google Shape;459;p8"/>
          <p:cNvSpPr/>
          <p:nvPr/>
        </p:nvSpPr>
        <p:spPr>
          <a:xfrm>
            <a:off x="4381500" y="1524000"/>
            <a:ext cx="9525" cy="4191000"/>
          </a:xfrm>
          <a:custGeom>
            <a:rect b="b" l="l" r="r" t="t"/>
            <a:pathLst>
              <a:path extrusionOk="0" h="4191000" w="9525">
                <a:moveTo>
                  <a:pt x="0" y="0"/>
                </a:moveTo>
                <a:lnTo>
                  <a:pt x="0" y="4191000"/>
                </a:lnTo>
              </a:path>
            </a:pathLst>
          </a:custGeom>
          <a:noFill/>
          <a:ln cap="flat" cmpd="sng" w="9525">
            <a:solidFill>
              <a:srgbClr val="E3E8EF"/>
            </a:solidFill>
            <a:prstDash val="solid"/>
            <a:round/>
            <a:headEnd len="sm" w="sm" type="none"/>
            <a:tailEnd len="sm" w="sm" type="none"/>
          </a:ln>
        </p:spPr>
      </p:sp>
      <p:grpSp>
        <p:nvGrpSpPr>
          <p:cNvPr id="460" name="Google Shape;460;p8"/>
          <p:cNvGrpSpPr/>
          <p:nvPr/>
        </p:nvGrpSpPr>
        <p:grpSpPr>
          <a:xfrm>
            <a:off x="4762500" y="1652588"/>
            <a:ext cx="6858000" cy="2883693"/>
            <a:chOff x="4762500" y="1652588"/>
            <a:chExt cx="6858000" cy="2883693"/>
          </a:xfrm>
        </p:grpSpPr>
        <p:grpSp>
          <p:nvGrpSpPr>
            <p:cNvPr id="461" name="Google Shape;461;p8"/>
            <p:cNvGrpSpPr/>
            <p:nvPr/>
          </p:nvGrpSpPr>
          <p:grpSpPr>
            <a:xfrm>
              <a:off x="4776788" y="1652588"/>
              <a:ext cx="2646449" cy="292893"/>
              <a:chOff x="4776788" y="1652588"/>
              <a:chExt cx="2646449" cy="292893"/>
            </a:xfrm>
          </p:grpSpPr>
          <p:sp>
            <p:nvSpPr>
              <p:cNvPr id="462" name="Google Shape;462;p8"/>
              <p:cNvSpPr/>
              <p:nvPr/>
            </p:nvSpPr>
            <p:spPr>
              <a:xfrm>
                <a:off x="4776788" y="1652588"/>
                <a:ext cx="200025" cy="200025"/>
              </a:xfrm>
              <a:custGeom>
                <a:rect b="b" l="l" r="r" t="t"/>
                <a:pathLst>
                  <a:path extrusionOk="0" h="200025" w="200025">
                    <a:moveTo>
                      <a:pt x="200025" y="0"/>
                    </a:moveTo>
                    <a:lnTo>
                      <a:pt x="0" y="0"/>
                    </a:lnTo>
                    <a:lnTo>
                      <a:pt x="0" y="200025"/>
                    </a:lnTo>
                    <a:lnTo>
                      <a:pt x="200025" y="200025"/>
                    </a:lnTo>
                    <a:lnTo>
                      <a:pt x="200025" y="0"/>
                    </a:lnTo>
                    <a:close/>
                    <a:moveTo>
                      <a:pt x="167265" y="67253"/>
                    </a:moveTo>
                    <a:lnTo>
                      <a:pt x="147060" y="47047"/>
                    </a:lnTo>
                    <a:lnTo>
                      <a:pt x="78581" y="115526"/>
                    </a:lnTo>
                    <a:lnTo>
                      <a:pt x="52965" y="89910"/>
                    </a:lnTo>
                    <a:lnTo>
                      <a:pt x="32760" y="110115"/>
                    </a:lnTo>
                    <a:lnTo>
                      <a:pt x="78581" y="155937"/>
                    </a:lnTo>
                    <a:lnTo>
                      <a:pt x="167265" y="67253"/>
                    </a:lnTo>
                    <a:close/>
                  </a:path>
                </a:pathLst>
              </a:custGeom>
              <a:solidFill>
                <a:srgbClr val="1565C0"/>
              </a:solidFill>
              <a:ln>
                <a:noFill/>
              </a:ln>
            </p:spPr>
          </p:sp>
          <p:sp>
            <p:nvSpPr>
              <p:cNvPr id="463" name="Google Shape;463;p8"/>
              <p:cNvSpPr txBox="1"/>
              <p:nvPr/>
            </p:nvSpPr>
            <p:spPr>
              <a:xfrm>
                <a:off x="5087302" y="1655921"/>
                <a:ext cx="2335935"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Checked missing values</a:t>
                </a:r>
                <a:endParaRPr/>
              </a:p>
            </p:txBody>
          </p:sp>
        </p:grpSp>
        <p:sp>
          <p:nvSpPr>
            <p:cNvPr id="464" name="Google Shape;464;p8"/>
            <p:cNvSpPr/>
            <p:nvPr/>
          </p:nvSpPr>
          <p:spPr>
            <a:xfrm>
              <a:off x="4762500" y="2057400"/>
              <a:ext cx="6858000" cy="9525"/>
            </a:xfrm>
            <a:custGeom>
              <a:rect b="b" l="l" r="r" t="t"/>
              <a:pathLst>
                <a:path extrusionOk="0" h="9525" w="6858000">
                  <a:moveTo>
                    <a:pt x="0" y="0"/>
                  </a:moveTo>
                  <a:lnTo>
                    <a:pt x="6858000" y="0"/>
                  </a:lnTo>
                </a:path>
              </a:pathLst>
            </a:custGeom>
            <a:noFill/>
            <a:ln cap="flat" cmpd="sng" w="9525">
              <a:solidFill>
                <a:srgbClr val="E3E8EF"/>
              </a:solidFill>
              <a:prstDash val="solid"/>
              <a:round/>
              <a:headEnd len="sm" w="sm" type="none"/>
              <a:tailEnd len="sm" w="sm" type="none"/>
            </a:ln>
          </p:spPr>
        </p:sp>
        <p:grpSp>
          <p:nvGrpSpPr>
            <p:cNvPr id="465" name="Google Shape;465;p8"/>
            <p:cNvGrpSpPr/>
            <p:nvPr/>
          </p:nvGrpSpPr>
          <p:grpSpPr>
            <a:xfrm>
              <a:off x="4776788" y="2300288"/>
              <a:ext cx="3510152" cy="292893"/>
              <a:chOff x="4776788" y="2300288"/>
              <a:chExt cx="3510152" cy="292893"/>
            </a:xfrm>
          </p:grpSpPr>
          <p:sp>
            <p:nvSpPr>
              <p:cNvPr id="466" name="Google Shape;466;p8"/>
              <p:cNvSpPr/>
              <p:nvPr/>
            </p:nvSpPr>
            <p:spPr>
              <a:xfrm>
                <a:off x="4776788" y="2300288"/>
                <a:ext cx="200025" cy="200025"/>
              </a:xfrm>
              <a:custGeom>
                <a:rect b="b" l="l" r="r" t="t"/>
                <a:pathLst>
                  <a:path extrusionOk="0" h="200025" w="200025">
                    <a:moveTo>
                      <a:pt x="200025" y="0"/>
                    </a:moveTo>
                    <a:lnTo>
                      <a:pt x="0" y="0"/>
                    </a:lnTo>
                    <a:lnTo>
                      <a:pt x="0" y="200025"/>
                    </a:lnTo>
                    <a:lnTo>
                      <a:pt x="200025" y="200025"/>
                    </a:lnTo>
                    <a:lnTo>
                      <a:pt x="200025" y="0"/>
                    </a:lnTo>
                    <a:close/>
                    <a:moveTo>
                      <a:pt x="167265" y="67253"/>
                    </a:moveTo>
                    <a:lnTo>
                      <a:pt x="147060" y="47047"/>
                    </a:lnTo>
                    <a:lnTo>
                      <a:pt x="78581" y="115526"/>
                    </a:lnTo>
                    <a:lnTo>
                      <a:pt x="52965" y="89910"/>
                    </a:lnTo>
                    <a:lnTo>
                      <a:pt x="32760" y="110115"/>
                    </a:lnTo>
                    <a:lnTo>
                      <a:pt x="78581" y="155937"/>
                    </a:lnTo>
                    <a:lnTo>
                      <a:pt x="167265" y="67253"/>
                    </a:lnTo>
                    <a:close/>
                  </a:path>
                </a:pathLst>
              </a:custGeom>
              <a:solidFill>
                <a:srgbClr val="1565C0"/>
              </a:solidFill>
              <a:ln>
                <a:noFill/>
              </a:ln>
            </p:spPr>
          </p:sp>
          <p:sp>
            <p:nvSpPr>
              <p:cNvPr id="467" name="Google Shape;467;p8"/>
              <p:cNvSpPr txBox="1"/>
              <p:nvPr/>
            </p:nvSpPr>
            <p:spPr>
              <a:xfrm>
                <a:off x="5087302" y="2303621"/>
                <a:ext cx="3199638"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Checked duplicate Customer IDs</a:t>
                </a:r>
                <a:endParaRPr/>
              </a:p>
            </p:txBody>
          </p:sp>
        </p:grpSp>
        <p:sp>
          <p:nvSpPr>
            <p:cNvPr id="468" name="Google Shape;468;p8"/>
            <p:cNvSpPr/>
            <p:nvPr/>
          </p:nvSpPr>
          <p:spPr>
            <a:xfrm>
              <a:off x="4762500" y="2705100"/>
              <a:ext cx="6858000" cy="9525"/>
            </a:xfrm>
            <a:custGeom>
              <a:rect b="b" l="l" r="r" t="t"/>
              <a:pathLst>
                <a:path extrusionOk="0" h="9525" w="6858000">
                  <a:moveTo>
                    <a:pt x="0" y="0"/>
                  </a:moveTo>
                  <a:lnTo>
                    <a:pt x="6858000" y="0"/>
                  </a:lnTo>
                </a:path>
              </a:pathLst>
            </a:custGeom>
            <a:noFill/>
            <a:ln cap="flat" cmpd="sng" w="9525">
              <a:solidFill>
                <a:srgbClr val="E3E8EF"/>
              </a:solidFill>
              <a:prstDash val="solid"/>
              <a:round/>
              <a:headEnd len="sm" w="sm" type="none"/>
              <a:tailEnd len="sm" w="sm" type="none"/>
            </a:ln>
          </p:spPr>
        </p:sp>
        <p:grpSp>
          <p:nvGrpSpPr>
            <p:cNvPr id="469" name="Google Shape;469;p8"/>
            <p:cNvGrpSpPr/>
            <p:nvPr/>
          </p:nvGrpSpPr>
          <p:grpSpPr>
            <a:xfrm>
              <a:off x="4776788" y="2947988"/>
              <a:ext cx="2552794" cy="292893"/>
              <a:chOff x="4776788" y="2947988"/>
              <a:chExt cx="2552794" cy="292893"/>
            </a:xfrm>
          </p:grpSpPr>
          <p:sp>
            <p:nvSpPr>
              <p:cNvPr id="470" name="Google Shape;470;p8"/>
              <p:cNvSpPr/>
              <p:nvPr/>
            </p:nvSpPr>
            <p:spPr>
              <a:xfrm>
                <a:off x="4776788" y="2947988"/>
                <a:ext cx="200025" cy="200025"/>
              </a:xfrm>
              <a:custGeom>
                <a:rect b="b" l="l" r="r" t="t"/>
                <a:pathLst>
                  <a:path extrusionOk="0" h="200025" w="200025">
                    <a:moveTo>
                      <a:pt x="200025" y="0"/>
                    </a:moveTo>
                    <a:lnTo>
                      <a:pt x="0" y="0"/>
                    </a:lnTo>
                    <a:lnTo>
                      <a:pt x="0" y="200025"/>
                    </a:lnTo>
                    <a:lnTo>
                      <a:pt x="200025" y="200025"/>
                    </a:lnTo>
                    <a:lnTo>
                      <a:pt x="200025" y="0"/>
                    </a:lnTo>
                    <a:close/>
                    <a:moveTo>
                      <a:pt x="167265" y="67253"/>
                    </a:moveTo>
                    <a:lnTo>
                      <a:pt x="147060" y="47047"/>
                    </a:lnTo>
                    <a:lnTo>
                      <a:pt x="78581" y="115526"/>
                    </a:lnTo>
                    <a:lnTo>
                      <a:pt x="52965" y="89910"/>
                    </a:lnTo>
                    <a:lnTo>
                      <a:pt x="32760" y="110115"/>
                    </a:lnTo>
                    <a:lnTo>
                      <a:pt x="78581" y="155937"/>
                    </a:lnTo>
                    <a:lnTo>
                      <a:pt x="167265" y="67253"/>
                    </a:lnTo>
                    <a:close/>
                  </a:path>
                </a:pathLst>
              </a:custGeom>
              <a:solidFill>
                <a:srgbClr val="1565C0"/>
              </a:solidFill>
              <a:ln>
                <a:noFill/>
              </a:ln>
            </p:spPr>
          </p:sp>
          <p:sp>
            <p:nvSpPr>
              <p:cNvPr id="471" name="Google Shape;471;p8"/>
              <p:cNvSpPr txBox="1"/>
              <p:nvPr/>
            </p:nvSpPr>
            <p:spPr>
              <a:xfrm>
                <a:off x="5087302" y="2951321"/>
                <a:ext cx="2242280"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Checked invalid values</a:t>
                </a:r>
                <a:endParaRPr/>
              </a:p>
            </p:txBody>
          </p:sp>
        </p:grpSp>
        <p:sp>
          <p:nvSpPr>
            <p:cNvPr id="472" name="Google Shape;472;p8"/>
            <p:cNvSpPr/>
            <p:nvPr/>
          </p:nvSpPr>
          <p:spPr>
            <a:xfrm>
              <a:off x="4762500" y="3352800"/>
              <a:ext cx="6858000" cy="9525"/>
            </a:xfrm>
            <a:custGeom>
              <a:rect b="b" l="l" r="r" t="t"/>
              <a:pathLst>
                <a:path extrusionOk="0" h="9525" w="6858000">
                  <a:moveTo>
                    <a:pt x="0" y="0"/>
                  </a:moveTo>
                  <a:lnTo>
                    <a:pt x="6858000" y="0"/>
                  </a:lnTo>
                </a:path>
              </a:pathLst>
            </a:custGeom>
            <a:noFill/>
            <a:ln cap="flat" cmpd="sng" w="9525">
              <a:solidFill>
                <a:srgbClr val="E3E8EF"/>
              </a:solidFill>
              <a:prstDash val="solid"/>
              <a:round/>
              <a:headEnd len="sm" w="sm" type="none"/>
              <a:tailEnd len="sm" w="sm" type="none"/>
            </a:ln>
          </p:spPr>
        </p:sp>
        <p:grpSp>
          <p:nvGrpSpPr>
            <p:cNvPr id="473" name="Google Shape;473;p8"/>
            <p:cNvGrpSpPr/>
            <p:nvPr/>
          </p:nvGrpSpPr>
          <p:grpSpPr>
            <a:xfrm>
              <a:off x="4776788" y="3595688"/>
              <a:ext cx="2303049" cy="292893"/>
              <a:chOff x="4776788" y="3595688"/>
              <a:chExt cx="2303049" cy="292893"/>
            </a:xfrm>
          </p:grpSpPr>
          <p:sp>
            <p:nvSpPr>
              <p:cNvPr id="474" name="Google Shape;474;p8"/>
              <p:cNvSpPr/>
              <p:nvPr/>
            </p:nvSpPr>
            <p:spPr>
              <a:xfrm>
                <a:off x="4776788" y="3595688"/>
                <a:ext cx="200025" cy="200025"/>
              </a:xfrm>
              <a:custGeom>
                <a:rect b="b" l="l" r="r" t="t"/>
                <a:pathLst>
                  <a:path extrusionOk="0" h="200025" w="200025">
                    <a:moveTo>
                      <a:pt x="200025" y="0"/>
                    </a:moveTo>
                    <a:lnTo>
                      <a:pt x="0" y="0"/>
                    </a:lnTo>
                    <a:lnTo>
                      <a:pt x="0" y="200025"/>
                    </a:lnTo>
                    <a:lnTo>
                      <a:pt x="200025" y="200025"/>
                    </a:lnTo>
                    <a:lnTo>
                      <a:pt x="200025" y="0"/>
                    </a:lnTo>
                    <a:close/>
                    <a:moveTo>
                      <a:pt x="167265" y="67253"/>
                    </a:moveTo>
                    <a:lnTo>
                      <a:pt x="147060" y="47047"/>
                    </a:lnTo>
                    <a:lnTo>
                      <a:pt x="78581" y="115526"/>
                    </a:lnTo>
                    <a:lnTo>
                      <a:pt x="52965" y="89910"/>
                    </a:lnTo>
                    <a:lnTo>
                      <a:pt x="32760" y="110115"/>
                    </a:lnTo>
                    <a:lnTo>
                      <a:pt x="78581" y="155937"/>
                    </a:lnTo>
                    <a:lnTo>
                      <a:pt x="167265" y="67253"/>
                    </a:lnTo>
                    <a:close/>
                  </a:path>
                </a:pathLst>
              </a:custGeom>
              <a:solidFill>
                <a:srgbClr val="1565C0"/>
              </a:solidFill>
              <a:ln>
                <a:noFill/>
              </a:ln>
            </p:spPr>
          </p:sp>
          <p:sp>
            <p:nvSpPr>
              <p:cNvPr id="475" name="Google Shape;475;p8"/>
              <p:cNvSpPr txBox="1"/>
              <p:nvPr/>
            </p:nvSpPr>
            <p:spPr>
              <a:xfrm>
                <a:off x="5087302" y="3599021"/>
                <a:ext cx="1992535"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Checked data types</a:t>
                </a:r>
                <a:endParaRPr/>
              </a:p>
            </p:txBody>
          </p:sp>
        </p:grpSp>
        <p:sp>
          <p:nvSpPr>
            <p:cNvPr id="476" name="Google Shape;476;p8"/>
            <p:cNvSpPr/>
            <p:nvPr/>
          </p:nvSpPr>
          <p:spPr>
            <a:xfrm>
              <a:off x="4762500" y="4000500"/>
              <a:ext cx="6858000" cy="9525"/>
            </a:xfrm>
            <a:custGeom>
              <a:rect b="b" l="l" r="r" t="t"/>
              <a:pathLst>
                <a:path extrusionOk="0" h="9525" w="6858000">
                  <a:moveTo>
                    <a:pt x="0" y="0"/>
                  </a:moveTo>
                  <a:lnTo>
                    <a:pt x="6858000" y="0"/>
                  </a:lnTo>
                </a:path>
              </a:pathLst>
            </a:custGeom>
            <a:noFill/>
            <a:ln cap="flat" cmpd="sng" w="9525">
              <a:solidFill>
                <a:srgbClr val="E3E8EF"/>
              </a:solidFill>
              <a:prstDash val="solid"/>
              <a:round/>
              <a:headEnd len="sm" w="sm" type="none"/>
              <a:tailEnd len="sm" w="sm" type="none"/>
            </a:ln>
          </p:spPr>
        </p:sp>
        <p:grpSp>
          <p:nvGrpSpPr>
            <p:cNvPr id="477" name="Google Shape;477;p8"/>
            <p:cNvGrpSpPr/>
            <p:nvPr/>
          </p:nvGrpSpPr>
          <p:grpSpPr>
            <a:xfrm>
              <a:off x="4776788" y="4243388"/>
              <a:ext cx="3624619" cy="292893"/>
              <a:chOff x="4776788" y="4243388"/>
              <a:chExt cx="3624619" cy="292893"/>
            </a:xfrm>
          </p:grpSpPr>
          <p:sp>
            <p:nvSpPr>
              <p:cNvPr id="478" name="Google Shape;478;p8"/>
              <p:cNvSpPr/>
              <p:nvPr/>
            </p:nvSpPr>
            <p:spPr>
              <a:xfrm>
                <a:off x="4776788" y="4243388"/>
                <a:ext cx="200025" cy="200025"/>
              </a:xfrm>
              <a:custGeom>
                <a:rect b="b" l="l" r="r" t="t"/>
                <a:pathLst>
                  <a:path extrusionOk="0" h="200025" w="200025">
                    <a:moveTo>
                      <a:pt x="200025" y="0"/>
                    </a:moveTo>
                    <a:lnTo>
                      <a:pt x="0" y="0"/>
                    </a:lnTo>
                    <a:lnTo>
                      <a:pt x="0" y="200025"/>
                    </a:lnTo>
                    <a:lnTo>
                      <a:pt x="200025" y="200025"/>
                    </a:lnTo>
                    <a:lnTo>
                      <a:pt x="200025" y="0"/>
                    </a:lnTo>
                    <a:close/>
                    <a:moveTo>
                      <a:pt x="167265" y="67253"/>
                    </a:moveTo>
                    <a:lnTo>
                      <a:pt x="147060" y="47047"/>
                    </a:lnTo>
                    <a:lnTo>
                      <a:pt x="78581" y="115526"/>
                    </a:lnTo>
                    <a:lnTo>
                      <a:pt x="52965" y="89910"/>
                    </a:lnTo>
                    <a:lnTo>
                      <a:pt x="32760" y="110115"/>
                    </a:lnTo>
                    <a:lnTo>
                      <a:pt x="78581" y="155937"/>
                    </a:lnTo>
                    <a:lnTo>
                      <a:pt x="167265" y="67253"/>
                    </a:lnTo>
                    <a:close/>
                  </a:path>
                </a:pathLst>
              </a:custGeom>
              <a:solidFill>
                <a:srgbClr val="1565C0"/>
              </a:solidFill>
              <a:ln>
                <a:noFill/>
              </a:ln>
            </p:spPr>
          </p:sp>
          <p:sp>
            <p:nvSpPr>
              <p:cNvPr id="479" name="Google Shape;479;p8"/>
              <p:cNvSpPr txBox="1"/>
              <p:nvPr/>
            </p:nvSpPr>
            <p:spPr>
              <a:xfrm>
                <a:off x="5087302" y="4246721"/>
                <a:ext cx="3314105"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425" u="none" cap="none" strike="noStrike">
                    <a:solidFill>
                      <a:srgbClr val="1F2933"/>
                    </a:solidFill>
                    <a:latin typeface="Quattrocento Sans"/>
                    <a:ea typeface="Quattrocento Sans"/>
                    <a:cs typeface="Quattrocento Sans"/>
                    <a:sym typeface="Quattrocento Sans"/>
                  </a:rPr>
                  <a:t>Handled missing numerical values</a:t>
                </a:r>
                <a:endParaRPr/>
              </a:p>
            </p:txBody>
          </p:sp>
        </p:grpSp>
      </p:grpSp>
      <p:grpSp>
        <p:nvGrpSpPr>
          <p:cNvPr id="480" name="Google Shape;480;p8"/>
          <p:cNvGrpSpPr/>
          <p:nvPr/>
        </p:nvGrpSpPr>
        <p:grpSpPr>
          <a:xfrm>
            <a:off x="561022" y="6381750"/>
            <a:ext cx="11069956" cy="345281"/>
            <a:chOff x="561022" y="6381750"/>
            <a:chExt cx="11069956" cy="345281"/>
          </a:xfrm>
        </p:grpSpPr>
        <p:sp>
          <p:nvSpPr>
            <p:cNvPr id="481" name="Google Shape;481;p8"/>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482" name="Google Shape;482;p8"/>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483" name="Google Shape;483;p8"/>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08 / 18</a:t>
              </a:r>
              <a:endParaRPr/>
            </a:p>
          </p:txBody>
        </p:sp>
      </p:grpSp>
      <p:grpSp>
        <p:nvGrpSpPr>
          <p:cNvPr id="484" name="Google Shape;484;p8"/>
          <p:cNvGrpSpPr/>
          <p:nvPr/>
        </p:nvGrpSpPr>
        <p:grpSpPr>
          <a:xfrm>
            <a:off x="4762500" y="4724400"/>
            <a:ext cx="6858000" cy="1042868"/>
            <a:chOff x="4762500" y="4724400"/>
            <a:chExt cx="6858000" cy="1042868"/>
          </a:xfrm>
        </p:grpSpPr>
        <p:sp>
          <p:nvSpPr>
            <p:cNvPr id="485" name="Google Shape;485;p8"/>
            <p:cNvSpPr/>
            <p:nvPr/>
          </p:nvSpPr>
          <p:spPr>
            <a:xfrm>
              <a:off x="4762500" y="4724400"/>
              <a:ext cx="6858000" cy="990600"/>
            </a:xfrm>
            <a:custGeom>
              <a:rect b="b" l="l" r="r" t="t"/>
              <a:pathLst>
                <a:path extrusionOk="0" h="990600" w="6858000">
                  <a:moveTo>
                    <a:pt x="114300" y="0"/>
                  </a:moveTo>
                  <a:lnTo>
                    <a:pt x="6743700" y="0"/>
                  </a:lnTo>
                  <a:cubicBezTo>
                    <a:pt x="6806826" y="0"/>
                    <a:pt x="6858000" y="51174"/>
                    <a:pt x="6858000" y="114300"/>
                  </a:cubicBezTo>
                  <a:lnTo>
                    <a:pt x="6858000" y="876300"/>
                  </a:lnTo>
                  <a:cubicBezTo>
                    <a:pt x="6858000" y="939426"/>
                    <a:pt x="6806826" y="990600"/>
                    <a:pt x="6743700" y="990600"/>
                  </a:cubicBezTo>
                  <a:lnTo>
                    <a:pt x="114300" y="990600"/>
                  </a:lnTo>
                  <a:cubicBezTo>
                    <a:pt x="51174" y="990600"/>
                    <a:pt x="0" y="939426"/>
                    <a:pt x="0" y="876300"/>
                  </a:cubicBezTo>
                  <a:lnTo>
                    <a:pt x="0" y="114300"/>
                  </a:lnTo>
                  <a:cubicBezTo>
                    <a:pt x="0" y="51174"/>
                    <a:pt x="51174" y="0"/>
                    <a:pt x="11430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4762500" y="4724400"/>
              <a:ext cx="57150" cy="990600"/>
            </a:xfrm>
            <a:custGeom>
              <a:rect b="b" l="l" r="r" t="t"/>
              <a:pathLst>
                <a:path extrusionOk="0" h="990600" w="57150">
                  <a:moveTo>
                    <a:pt x="28575" y="0"/>
                  </a:moveTo>
                  <a:lnTo>
                    <a:pt x="28575" y="0"/>
                  </a:lnTo>
                  <a:cubicBezTo>
                    <a:pt x="44357" y="0"/>
                    <a:pt x="57150" y="12793"/>
                    <a:pt x="57150" y="28575"/>
                  </a:cubicBezTo>
                  <a:lnTo>
                    <a:pt x="57150" y="962025"/>
                  </a:lnTo>
                  <a:cubicBezTo>
                    <a:pt x="57150" y="977807"/>
                    <a:pt x="44357" y="990600"/>
                    <a:pt x="28575" y="990600"/>
                  </a:cubicBezTo>
                  <a:lnTo>
                    <a:pt x="28575" y="990600"/>
                  </a:lnTo>
                  <a:cubicBezTo>
                    <a:pt x="12793" y="990600"/>
                    <a:pt x="0" y="977807"/>
                    <a:pt x="0" y="962025"/>
                  </a:cubicBezTo>
                  <a:lnTo>
                    <a:pt x="0" y="28575"/>
                  </a:lnTo>
                  <a:cubicBezTo>
                    <a:pt x="0" y="12793"/>
                    <a:pt x="12793" y="0"/>
                    <a:pt x="28575" y="0"/>
                  </a:cubicBez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8"/>
            <p:cNvSpPr txBox="1"/>
            <p:nvPr/>
          </p:nvSpPr>
          <p:spPr>
            <a:xfrm>
              <a:off x="5393055" y="4978718"/>
              <a:ext cx="6657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Result</a:t>
              </a:r>
              <a:endParaRPr/>
            </a:p>
          </p:txBody>
        </p:sp>
        <p:sp>
          <p:nvSpPr>
            <p:cNvPr id="488" name="Google Shape;488;p8"/>
            <p:cNvSpPr txBox="1"/>
            <p:nvPr/>
          </p:nvSpPr>
          <p:spPr>
            <a:xfrm>
              <a:off x="5393055" y="5264468"/>
              <a:ext cx="46284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After cleaning, the data was ready for analysis</a:t>
              </a:r>
              <a:endParaRPr/>
            </a:p>
          </p:txBody>
        </p:sp>
        <p:sp>
          <p:nvSpPr>
            <p:cNvPr id="489" name="Google Shape;489;p8"/>
            <p:cNvSpPr txBox="1"/>
            <p:nvPr/>
          </p:nvSpPr>
          <p:spPr>
            <a:xfrm>
              <a:off x="5393055" y="5493068"/>
              <a:ext cx="1887600" cy="27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and model training.</a:t>
              </a:r>
              <a:endParaRPr/>
            </a:p>
          </p:txBody>
        </p:sp>
        <p:sp>
          <p:nvSpPr>
            <p:cNvPr id="490" name="Google Shape;490;p8"/>
            <p:cNvSpPr/>
            <p:nvPr/>
          </p:nvSpPr>
          <p:spPr>
            <a:xfrm>
              <a:off x="4973000" y="4982475"/>
              <a:ext cx="266700" cy="266700"/>
            </a:xfrm>
            <a:custGeom>
              <a:rect b="b" l="l" r="r" t="t"/>
              <a:pathLst>
                <a:path extrusionOk="0" h="266700" w="266700">
                  <a:moveTo>
                    <a:pt x="133350" y="266700"/>
                  </a:moveTo>
                  <a:cubicBezTo>
                    <a:pt x="206998" y="266700"/>
                    <a:pt x="266700" y="206998"/>
                    <a:pt x="266700" y="133350"/>
                  </a:cubicBezTo>
                  <a:cubicBezTo>
                    <a:pt x="266700" y="59703"/>
                    <a:pt x="206998" y="0"/>
                    <a:pt x="133350" y="0"/>
                  </a:cubicBezTo>
                  <a:cubicBezTo>
                    <a:pt x="59703" y="0"/>
                    <a:pt x="0" y="59703"/>
                    <a:pt x="0" y="133350"/>
                  </a:cubicBezTo>
                  <a:cubicBezTo>
                    <a:pt x="0" y="206998"/>
                    <a:pt x="59703" y="266700"/>
                    <a:pt x="133350" y="266700"/>
                  </a:cubicBezTo>
                  <a:close/>
                  <a:moveTo>
                    <a:pt x="211811" y="95130"/>
                  </a:moveTo>
                  <a:lnTo>
                    <a:pt x="188239" y="71557"/>
                  </a:lnTo>
                  <a:lnTo>
                    <a:pt x="108347" y="151449"/>
                  </a:lnTo>
                  <a:lnTo>
                    <a:pt x="78462" y="121563"/>
                  </a:lnTo>
                  <a:lnTo>
                    <a:pt x="54888" y="145137"/>
                  </a:lnTo>
                  <a:lnTo>
                    <a:pt x="108347" y="198595"/>
                  </a:lnTo>
                  <a:lnTo>
                    <a:pt x="211811" y="95130"/>
                  </a:ln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9"/>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 name="Google Shape;497;p9"/>
          <p:cNvGrpSpPr/>
          <p:nvPr/>
        </p:nvGrpSpPr>
        <p:grpSpPr>
          <a:xfrm>
            <a:off x="541020" y="426720"/>
            <a:ext cx="4661535" cy="697230"/>
            <a:chOff x="541020" y="426720"/>
            <a:chExt cx="4661535" cy="697230"/>
          </a:xfrm>
        </p:grpSpPr>
        <p:sp>
          <p:nvSpPr>
            <p:cNvPr id="498" name="Google Shape;498;p9"/>
            <p:cNvSpPr txBox="1"/>
            <p:nvPr/>
          </p:nvSpPr>
          <p:spPr>
            <a:xfrm>
              <a:off x="541020" y="426720"/>
              <a:ext cx="4661535"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Exploratory Data Analysis</a:t>
              </a:r>
              <a:endParaRPr/>
            </a:p>
          </p:txBody>
        </p:sp>
        <p:sp>
          <p:nvSpPr>
            <p:cNvPr id="499" name="Google Shape;499;p9"/>
            <p:cNvSpPr txBox="1"/>
            <p:nvPr/>
          </p:nvSpPr>
          <p:spPr>
            <a:xfrm>
              <a:off x="554355" y="806768"/>
              <a:ext cx="263690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What I found from the data</a:t>
              </a:r>
              <a:endParaRPr/>
            </a:p>
          </p:txBody>
        </p:sp>
        <p:sp>
          <p:nvSpPr>
            <p:cNvPr id="500" name="Google Shape;500;p9"/>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9"/>
          <p:cNvGrpSpPr/>
          <p:nvPr/>
        </p:nvGrpSpPr>
        <p:grpSpPr>
          <a:xfrm>
            <a:off x="571500" y="5524500"/>
            <a:ext cx="11049000" cy="647700"/>
            <a:chOff x="571500" y="5524500"/>
            <a:chExt cx="11049000" cy="647700"/>
          </a:xfrm>
        </p:grpSpPr>
        <p:sp>
          <p:nvSpPr>
            <p:cNvPr id="502" name="Google Shape;502;p9"/>
            <p:cNvSpPr/>
            <p:nvPr/>
          </p:nvSpPr>
          <p:spPr>
            <a:xfrm>
              <a:off x="571500" y="5524500"/>
              <a:ext cx="11049000" cy="647700"/>
            </a:xfrm>
            <a:custGeom>
              <a:rect b="b" l="l" r="r" t="t"/>
              <a:pathLst>
                <a:path extrusionOk="0" h="647700" w="11049000">
                  <a:moveTo>
                    <a:pt x="95250" y="0"/>
                  </a:moveTo>
                  <a:lnTo>
                    <a:pt x="10953750" y="0"/>
                  </a:lnTo>
                  <a:cubicBezTo>
                    <a:pt x="11006355" y="0"/>
                    <a:pt x="11049000" y="42645"/>
                    <a:pt x="11049000" y="95250"/>
                  </a:cubicBezTo>
                  <a:lnTo>
                    <a:pt x="11049000" y="552450"/>
                  </a:lnTo>
                  <a:cubicBezTo>
                    <a:pt x="11049000" y="605055"/>
                    <a:pt x="11006355" y="647700"/>
                    <a:pt x="10953750" y="647700"/>
                  </a:cubicBezTo>
                  <a:lnTo>
                    <a:pt x="95250" y="647700"/>
                  </a:lnTo>
                  <a:cubicBezTo>
                    <a:pt x="42645" y="647700"/>
                    <a:pt x="0" y="605055"/>
                    <a:pt x="0" y="552450"/>
                  </a:cubicBezTo>
                  <a:lnTo>
                    <a:pt x="0" y="95250"/>
                  </a:lnTo>
                  <a:cubicBezTo>
                    <a:pt x="0" y="42645"/>
                    <a:pt x="42645" y="0"/>
                    <a:pt x="9525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9"/>
            <p:cNvSpPr/>
            <p:nvPr/>
          </p:nvSpPr>
          <p:spPr>
            <a:xfrm>
              <a:off x="571500" y="5524500"/>
              <a:ext cx="57150" cy="647700"/>
            </a:xfrm>
            <a:custGeom>
              <a:rect b="b" l="l" r="r" t="t"/>
              <a:pathLst>
                <a:path extrusionOk="0" h="647700" w="57150">
                  <a:moveTo>
                    <a:pt x="28575" y="0"/>
                  </a:moveTo>
                  <a:lnTo>
                    <a:pt x="28575" y="0"/>
                  </a:lnTo>
                  <a:cubicBezTo>
                    <a:pt x="44357" y="0"/>
                    <a:pt x="57150" y="12793"/>
                    <a:pt x="57150" y="28575"/>
                  </a:cubicBezTo>
                  <a:lnTo>
                    <a:pt x="57150" y="619125"/>
                  </a:lnTo>
                  <a:cubicBezTo>
                    <a:pt x="57150" y="634907"/>
                    <a:pt x="44357" y="647700"/>
                    <a:pt x="28575" y="647700"/>
                  </a:cubicBezTo>
                  <a:lnTo>
                    <a:pt x="28575" y="647700"/>
                  </a:lnTo>
                  <a:cubicBezTo>
                    <a:pt x="12793" y="647700"/>
                    <a:pt x="0" y="634907"/>
                    <a:pt x="0" y="619125"/>
                  </a:cubicBezTo>
                  <a:lnTo>
                    <a:pt x="0" y="28575"/>
                  </a:lnTo>
                  <a:cubicBezTo>
                    <a:pt x="0" y="12793"/>
                    <a:pt x="12793" y="0"/>
                    <a:pt x="28575"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4" name="Google Shape;504;p9"/>
            <p:cNvGrpSpPr/>
            <p:nvPr/>
          </p:nvGrpSpPr>
          <p:grpSpPr>
            <a:xfrm>
              <a:off x="838200" y="5748338"/>
              <a:ext cx="228600" cy="200025"/>
              <a:chOff x="838200" y="5748338"/>
              <a:chExt cx="228600" cy="200025"/>
            </a:xfrm>
          </p:grpSpPr>
          <p:sp>
            <p:nvSpPr>
              <p:cNvPr id="505" name="Google Shape;505;p9"/>
              <p:cNvSpPr/>
              <p:nvPr/>
            </p:nvSpPr>
            <p:spPr>
              <a:xfrm>
                <a:off x="1009650" y="5748338"/>
                <a:ext cx="57150" cy="200025"/>
              </a:xfrm>
              <a:custGeom>
                <a:rect b="b" l="l" r="r" t="t"/>
                <a:pathLst>
                  <a:path extrusionOk="0" h="200025" w="57150">
                    <a:moveTo>
                      <a:pt x="57150" y="0"/>
                    </a:moveTo>
                    <a:lnTo>
                      <a:pt x="0" y="0"/>
                    </a:lnTo>
                    <a:lnTo>
                      <a:pt x="0" y="200025"/>
                    </a:lnTo>
                    <a:lnTo>
                      <a:pt x="57150" y="200025"/>
                    </a:lnTo>
                    <a:lnTo>
                      <a:pt x="57150" y="0"/>
                    </a:lnTo>
                    <a:close/>
                  </a:path>
                </a:pathLst>
              </a:custGeom>
              <a:solidFill>
                <a:srgbClr val="1565C0"/>
              </a:solidFill>
              <a:ln>
                <a:noFill/>
              </a:ln>
            </p:spPr>
          </p:sp>
          <p:sp>
            <p:nvSpPr>
              <p:cNvPr id="506" name="Google Shape;506;p9"/>
              <p:cNvSpPr/>
              <p:nvPr/>
            </p:nvSpPr>
            <p:spPr>
              <a:xfrm>
                <a:off x="923925" y="5805488"/>
                <a:ext cx="57150" cy="142875"/>
              </a:xfrm>
              <a:custGeom>
                <a:rect b="b" l="l" r="r" t="t"/>
                <a:pathLst>
                  <a:path extrusionOk="0" h="142875" w="57150">
                    <a:moveTo>
                      <a:pt x="0" y="0"/>
                    </a:moveTo>
                    <a:lnTo>
                      <a:pt x="57150" y="0"/>
                    </a:lnTo>
                    <a:lnTo>
                      <a:pt x="57150" y="142875"/>
                    </a:lnTo>
                    <a:lnTo>
                      <a:pt x="0" y="142875"/>
                    </a:lnTo>
                    <a:lnTo>
                      <a:pt x="0" y="0"/>
                    </a:lnTo>
                    <a:close/>
                  </a:path>
                </a:pathLst>
              </a:custGeom>
              <a:solidFill>
                <a:srgbClr val="1565C0"/>
              </a:solidFill>
              <a:ln>
                <a:noFill/>
              </a:ln>
            </p:spPr>
          </p:sp>
          <p:sp>
            <p:nvSpPr>
              <p:cNvPr id="507" name="Google Shape;507;p9"/>
              <p:cNvSpPr/>
              <p:nvPr/>
            </p:nvSpPr>
            <p:spPr>
              <a:xfrm>
                <a:off x="838200" y="5862638"/>
                <a:ext cx="57150" cy="85725"/>
              </a:xfrm>
              <a:custGeom>
                <a:rect b="b" l="l" r="r" t="t"/>
                <a:pathLst>
                  <a:path extrusionOk="0" h="85725" w="57150">
                    <a:moveTo>
                      <a:pt x="0" y="0"/>
                    </a:moveTo>
                    <a:lnTo>
                      <a:pt x="57150" y="0"/>
                    </a:lnTo>
                    <a:lnTo>
                      <a:pt x="57150" y="85725"/>
                    </a:lnTo>
                    <a:lnTo>
                      <a:pt x="0" y="85725"/>
                    </a:lnTo>
                    <a:lnTo>
                      <a:pt x="0" y="0"/>
                    </a:lnTo>
                    <a:close/>
                  </a:path>
                </a:pathLst>
              </a:custGeom>
              <a:solidFill>
                <a:srgbClr val="1565C0"/>
              </a:solidFill>
              <a:ln>
                <a:noFill/>
              </a:ln>
            </p:spPr>
          </p:sp>
        </p:grpSp>
        <p:sp>
          <p:nvSpPr>
            <p:cNvPr id="508" name="Google Shape;508;p9"/>
            <p:cNvSpPr txBox="1"/>
            <p:nvPr/>
          </p:nvSpPr>
          <p:spPr>
            <a:xfrm>
              <a:off x="1183005" y="5683568"/>
              <a:ext cx="185611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565C0"/>
                  </a:solidFill>
                  <a:latin typeface="Quattrocento Sans"/>
                  <a:ea typeface="Quattrocento Sans"/>
                  <a:cs typeface="Quattrocento Sans"/>
                  <a:sym typeface="Quattrocento Sans"/>
                </a:rPr>
                <a:t>Main observation:</a:t>
              </a:r>
              <a:endParaRPr/>
            </a:p>
          </p:txBody>
        </p:sp>
        <p:sp>
          <p:nvSpPr>
            <p:cNvPr id="509" name="Google Shape;509;p9"/>
            <p:cNvSpPr txBox="1"/>
            <p:nvPr/>
          </p:nvSpPr>
          <p:spPr>
            <a:xfrm>
              <a:off x="2745105" y="5683568"/>
              <a:ext cx="712246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Monthly Charges showed a strong relationship with Churn in this dataset.</a:t>
              </a:r>
              <a:endParaRPr/>
            </a:p>
          </p:txBody>
        </p:sp>
      </p:grpSp>
      <p:grpSp>
        <p:nvGrpSpPr>
          <p:cNvPr id="510" name="Google Shape;510;p9"/>
          <p:cNvGrpSpPr/>
          <p:nvPr/>
        </p:nvGrpSpPr>
        <p:grpSpPr>
          <a:xfrm>
            <a:off x="561022" y="6381750"/>
            <a:ext cx="11069956" cy="345281"/>
            <a:chOff x="561022" y="6381750"/>
            <a:chExt cx="11069956" cy="345281"/>
          </a:xfrm>
        </p:grpSpPr>
        <p:sp>
          <p:nvSpPr>
            <p:cNvPr id="511" name="Google Shape;511;p9"/>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512" name="Google Shape;512;p9"/>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513" name="Google Shape;513;p9"/>
            <p:cNvSpPr txBox="1"/>
            <p:nvPr/>
          </p:nvSpPr>
          <p:spPr>
            <a:xfrm>
              <a:off x="11236500" y="6559391"/>
              <a:ext cx="394478"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09 / 18</a:t>
              </a:r>
              <a:endParaRPr/>
            </a:p>
          </p:txBody>
        </p:sp>
      </p:grpSp>
      <p:pic>
        <p:nvPicPr>
          <p:cNvPr id="514" name="Google Shape;514;p9"/>
          <p:cNvPicPr preferRelativeResize="0"/>
          <p:nvPr/>
        </p:nvPicPr>
        <p:blipFill>
          <a:blip r:embed="rId3">
            <a:alphaModFix/>
          </a:blip>
          <a:stretch>
            <a:fillRect/>
          </a:stretch>
        </p:blipFill>
        <p:spPr>
          <a:xfrm>
            <a:off x="0" y="1513962"/>
            <a:ext cx="3999051" cy="3620525"/>
          </a:xfrm>
          <a:prstGeom prst="rect">
            <a:avLst/>
          </a:prstGeom>
          <a:gradFill>
            <a:gsLst>
              <a:gs pos="0">
                <a:srgbClr val="1565C0">
                  <a:alpha val="5098"/>
                </a:srgbClr>
              </a:gs>
              <a:gs pos="100000">
                <a:srgbClr val="1565C0">
                  <a:alpha val="0"/>
                </a:srgbClr>
              </a:gs>
            </a:gsLst>
            <a:path path="circle">
              <a:fillToRect b="50%" l="50%" r="50%" t="50%"/>
            </a:path>
            <a:tileRect/>
          </a:gradFill>
          <a:ln>
            <a:noFill/>
          </a:ln>
        </p:spPr>
      </p:pic>
      <p:pic>
        <p:nvPicPr>
          <p:cNvPr id="515" name="Google Shape;515;p9"/>
          <p:cNvPicPr preferRelativeResize="0"/>
          <p:nvPr/>
        </p:nvPicPr>
        <p:blipFill>
          <a:blip r:embed="rId4">
            <a:alphaModFix/>
          </a:blip>
          <a:stretch>
            <a:fillRect/>
          </a:stretch>
        </p:blipFill>
        <p:spPr>
          <a:xfrm>
            <a:off x="7456725" y="1451350"/>
            <a:ext cx="4469950" cy="3745700"/>
          </a:xfrm>
          <a:prstGeom prst="rect">
            <a:avLst/>
          </a:prstGeom>
          <a:gradFill>
            <a:gsLst>
              <a:gs pos="0">
                <a:srgbClr val="1565C0">
                  <a:alpha val="5098"/>
                </a:srgbClr>
              </a:gs>
              <a:gs pos="100000">
                <a:srgbClr val="1565C0">
                  <a:alpha val="0"/>
                </a:srgbClr>
              </a:gs>
            </a:gsLst>
            <a:path path="circle">
              <a:fillToRect b="50%" l="50%" r="50%" t="50%"/>
            </a:path>
            <a:tileRect/>
          </a:gradFill>
          <a:ln>
            <a:noFill/>
          </a:ln>
        </p:spPr>
      </p:pic>
      <p:pic>
        <p:nvPicPr>
          <p:cNvPr id="516" name="Google Shape;516;p9"/>
          <p:cNvPicPr preferRelativeResize="0"/>
          <p:nvPr/>
        </p:nvPicPr>
        <p:blipFill rotWithShape="1">
          <a:blip r:embed="rId5">
            <a:alphaModFix/>
          </a:blip>
          <a:srcRect b="0" l="-1850" r="1850" t="0"/>
          <a:stretch/>
        </p:blipFill>
        <p:spPr>
          <a:xfrm>
            <a:off x="3897900" y="1700950"/>
            <a:ext cx="3784076" cy="2983450"/>
          </a:xfrm>
          <a:prstGeom prst="rect">
            <a:avLst/>
          </a:prstGeom>
          <a:noFill/>
          <a:ln>
            <a:noFill/>
          </a:ln>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0"/>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3" name="Google Shape;523;p10"/>
          <p:cNvGrpSpPr/>
          <p:nvPr/>
        </p:nvGrpSpPr>
        <p:grpSpPr>
          <a:xfrm>
            <a:off x="541020" y="426720"/>
            <a:ext cx="3631006" cy="697230"/>
            <a:chOff x="541020" y="426720"/>
            <a:chExt cx="3631006" cy="697230"/>
          </a:xfrm>
        </p:grpSpPr>
        <p:sp>
          <p:nvSpPr>
            <p:cNvPr id="524" name="Google Shape;524;p10"/>
            <p:cNvSpPr txBox="1"/>
            <p:nvPr/>
          </p:nvSpPr>
          <p:spPr>
            <a:xfrm>
              <a:off x="541020" y="426720"/>
              <a:ext cx="3631006"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Feature Engineering</a:t>
              </a:r>
              <a:endParaRPr/>
            </a:p>
          </p:txBody>
        </p:sp>
        <p:sp>
          <p:nvSpPr>
            <p:cNvPr id="525" name="Google Shape;525;p10"/>
            <p:cNvSpPr txBox="1"/>
            <p:nvPr/>
          </p:nvSpPr>
          <p:spPr>
            <a:xfrm>
              <a:off x="554355" y="806768"/>
              <a:ext cx="183837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Features I created</a:t>
              </a:r>
              <a:endParaRPr/>
            </a:p>
          </p:txBody>
        </p:sp>
        <p:sp>
          <p:nvSpPr>
            <p:cNvPr id="526" name="Google Shape;526;p10"/>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10"/>
          <p:cNvGrpSpPr/>
          <p:nvPr/>
        </p:nvGrpSpPr>
        <p:grpSpPr>
          <a:xfrm>
            <a:off x="571500" y="1333500"/>
            <a:ext cx="3524250" cy="2095500"/>
            <a:chOff x="571500" y="1333500"/>
            <a:chExt cx="3524250" cy="2095500"/>
          </a:xfrm>
        </p:grpSpPr>
        <p:sp>
          <p:nvSpPr>
            <p:cNvPr id="528" name="Google Shape;528;p10"/>
            <p:cNvSpPr/>
            <p:nvPr/>
          </p:nvSpPr>
          <p:spPr>
            <a:xfrm>
              <a:off x="571500" y="1333500"/>
              <a:ext cx="3524250" cy="2095500"/>
            </a:xfrm>
            <a:custGeom>
              <a:rect b="b" l="l" r="r" t="t"/>
              <a:pathLst>
                <a:path extrusionOk="0" h="2095500" w="3524250">
                  <a:moveTo>
                    <a:pt x="95250" y="0"/>
                  </a:moveTo>
                  <a:lnTo>
                    <a:pt x="3429000" y="0"/>
                  </a:lnTo>
                  <a:cubicBezTo>
                    <a:pt x="3481605" y="0"/>
                    <a:pt x="3524250" y="42645"/>
                    <a:pt x="3524250" y="95250"/>
                  </a:cubicBezTo>
                  <a:lnTo>
                    <a:pt x="3524250" y="2000250"/>
                  </a:lnTo>
                  <a:cubicBezTo>
                    <a:pt x="3524250" y="2052855"/>
                    <a:pt x="3481605" y="2095500"/>
                    <a:pt x="3429000" y="2095500"/>
                  </a:cubicBezTo>
                  <a:lnTo>
                    <a:pt x="95250" y="2095500"/>
                  </a:lnTo>
                  <a:cubicBezTo>
                    <a:pt x="42645" y="2095500"/>
                    <a:pt x="0" y="2052855"/>
                    <a:pt x="0" y="200025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0"/>
            <p:cNvSpPr/>
            <p:nvPr/>
          </p:nvSpPr>
          <p:spPr>
            <a:xfrm>
              <a:off x="571500" y="1333500"/>
              <a:ext cx="3524250" cy="38100"/>
            </a:xfrm>
            <a:custGeom>
              <a:rect b="b" l="l" r="r" t="t"/>
              <a:pathLst>
                <a:path extrusionOk="0" h="38100" w="3524250">
                  <a:moveTo>
                    <a:pt x="19050" y="0"/>
                  </a:moveTo>
                  <a:lnTo>
                    <a:pt x="3505200" y="0"/>
                  </a:lnTo>
                  <a:cubicBezTo>
                    <a:pt x="3515721" y="0"/>
                    <a:pt x="3524250" y="8529"/>
                    <a:pt x="3524250" y="19050"/>
                  </a:cubicBezTo>
                  <a:lnTo>
                    <a:pt x="3524250" y="19050"/>
                  </a:lnTo>
                  <a:cubicBezTo>
                    <a:pt x="3524250" y="29571"/>
                    <a:pt x="3515721" y="38100"/>
                    <a:pt x="350520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0"/>
            <p:cNvGrpSpPr/>
            <p:nvPr/>
          </p:nvGrpSpPr>
          <p:grpSpPr>
            <a:xfrm>
              <a:off x="837009" y="1599009"/>
              <a:ext cx="250032" cy="250031"/>
              <a:chOff x="837009" y="1599009"/>
              <a:chExt cx="250032" cy="250031"/>
            </a:xfrm>
          </p:grpSpPr>
          <p:sp>
            <p:nvSpPr>
              <p:cNvPr id="531" name="Google Shape;531;p10"/>
              <p:cNvSpPr/>
              <p:nvPr/>
            </p:nvSpPr>
            <p:spPr>
              <a:xfrm>
                <a:off x="837009" y="1599009"/>
                <a:ext cx="250031" cy="250031"/>
              </a:xfrm>
              <a:custGeom>
                <a:rect b="b" l="l" r="r" t="t"/>
                <a:pathLst>
                  <a:path extrusionOk="0" h="250031" w="250031">
                    <a:moveTo>
                      <a:pt x="0" y="0"/>
                    </a:moveTo>
                    <a:lnTo>
                      <a:pt x="0" y="250031"/>
                    </a:lnTo>
                    <a:lnTo>
                      <a:pt x="250031" y="250031"/>
                    </a:lnTo>
                    <a:lnTo>
                      <a:pt x="250031" y="214312"/>
                    </a:lnTo>
                    <a:lnTo>
                      <a:pt x="35719" y="214312"/>
                    </a:lnTo>
                    <a:lnTo>
                      <a:pt x="35719" y="0"/>
                    </a:lnTo>
                    <a:lnTo>
                      <a:pt x="0" y="0"/>
                    </a:lnTo>
                    <a:close/>
                  </a:path>
                </a:pathLst>
              </a:custGeom>
              <a:solidFill>
                <a:srgbClr val="1565C0"/>
              </a:solidFill>
              <a:ln>
                <a:noFill/>
              </a:ln>
            </p:spPr>
          </p:sp>
          <p:sp>
            <p:nvSpPr>
              <p:cNvPr id="532" name="Google Shape;532;p10"/>
              <p:cNvSpPr/>
              <p:nvPr/>
            </p:nvSpPr>
            <p:spPr>
              <a:xfrm>
                <a:off x="908447" y="1634728"/>
                <a:ext cx="178594" cy="142875"/>
              </a:xfrm>
              <a:custGeom>
                <a:rect b="b" l="l" r="r" t="t"/>
                <a:pathLst>
                  <a:path extrusionOk="0" h="142875" w="178594">
                    <a:moveTo>
                      <a:pt x="0" y="71438"/>
                    </a:moveTo>
                    <a:lnTo>
                      <a:pt x="35719" y="35719"/>
                    </a:lnTo>
                    <a:lnTo>
                      <a:pt x="89297" y="89297"/>
                    </a:lnTo>
                    <a:lnTo>
                      <a:pt x="178594" y="0"/>
                    </a:lnTo>
                    <a:lnTo>
                      <a:pt x="178594" y="142875"/>
                    </a:lnTo>
                    <a:lnTo>
                      <a:pt x="0" y="142875"/>
                    </a:lnTo>
                    <a:lnTo>
                      <a:pt x="0" y="71438"/>
                    </a:lnTo>
                    <a:close/>
                  </a:path>
                </a:pathLst>
              </a:custGeom>
              <a:solidFill>
                <a:srgbClr val="1565C0"/>
              </a:solidFill>
              <a:ln>
                <a:noFill/>
              </a:ln>
            </p:spPr>
          </p:sp>
        </p:grpSp>
        <p:sp>
          <p:nvSpPr>
            <p:cNvPr id="533" name="Google Shape;533;p10"/>
            <p:cNvSpPr txBox="1"/>
            <p:nvPr/>
          </p:nvSpPr>
          <p:spPr>
            <a:xfrm>
              <a:off x="839152" y="2075021"/>
              <a:ext cx="2614817"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Customer Lifetime Value</a:t>
              </a:r>
              <a:endParaRPr/>
            </a:p>
          </p:txBody>
        </p:sp>
        <p:sp>
          <p:nvSpPr>
            <p:cNvPr id="534" name="Google Shape;534;p10"/>
            <p:cNvSpPr/>
            <p:nvPr/>
          </p:nvSpPr>
          <p:spPr>
            <a:xfrm>
              <a:off x="857250" y="2419350"/>
              <a:ext cx="295275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txBox="1"/>
            <p:nvPr/>
          </p:nvSpPr>
          <p:spPr>
            <a:xfrm>
              <a:off x="842010" y="2651760"/>
              <a:ext cx="696468"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Formula</a:t>
              </a:r>
              <a:endParaRPr/>
            </a:p>
          </p:txBody>
        </p:sp>
        <p:sp>
          <p:nvSpPr>
            <p:cNvPr id="536" name="Google Shape;536;p10"/>
            <p:cNvSpPr txBox="1"/>
            <p:nvPr/>
          </p:nvSpPr>
          <p:spPr>
            <a:xfrm>
              <a:off x="840105" y="2921318"/>
              <a:ext cx="260141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FF8F00"/>
                  </a:solidFill>
                  <a:latin typeface="Quattrocento Sans"/>
                  <a:ea typeface="Quattrocento Sans"/>
                  <a:cs typeface="Quattrocento Sans"/>
                  <a:sym typeface="Quattrocento Sans"/>
                </a:rPr>
                <a:t>Monthly Charges × Tenure</a:t>
              </a:r>
              <a:endParaRPr/>
            </a:p>
          </p:txBody>
        </p:sp>
      </p:grpSp>
      <p:grpSp>
        <p:nvGrpSpPr>
          <p:cNvPr id="537" name="Google Shape;537;p10"/>
          <p:cNvGrpSpPr/>
          <p:nvPr/>
        </p:nvGrpSpPr>
        <p:grpSpPr>
          <a:xfrm>
            <a:off x="4333875" y="1333500"/>
            <a:ext cx="4305395" cy="2095500"/>
            <a:chOff x="4333875" y="1333500"/>
            <a:chExt cx="4305395" cy="2095500"/>
          </a:xfrm>
        </p:grpSpPr>
        <p:sp>
          <p:nvSpPr>
            <p:cNvPr id="538" name="Google Shape;538;p10"/>
            <p:cNvSpPr/>
            <p:nvPr/>
          </p:nvSpPr>
          <p:spPr>
            <a:xfrm>
              <a:off x="4333875" y="1333500"/>
              <a:ext cx="3524250" cy="2095500"/>
            </a:xfrm>
            <a:custGeom>
              <a:rect b="b" l="l" r="r" t="t"/>
              <a:pathLst>
                <a:path extrusionOk="0" h="2095500" w="3524250">
                  <a:moveTo>
                    <a:pt x="95250" y="0"/>
                  </a:moveTo>
                  <a:lnTo>
                    <a:pt x="3429000" y="0"/>
                  </a:lnTo>
                  <a:cubicBezTo>
                    <a:pt x="3481605" y="0"/>
                    <a:pt x="3524250" y="42645"/>
                    <a:pt x="3524250" y="95250"/>
                  </a:cubicBezTo>
                  <a:lnTo>
                    <a:pt x="3524250" y="2000250"/>
                  </a:lnTo>
                  <a:cubicBezTo>
                    <a:pt x="3524250" y="2052855"/>
                    <a:pt x="3481605" y="2095500"/>
                    <a:pt x="3429000" y="2095500"/>
                  </a:cubicBezTo>
                  <a:lnTo>
                    <a:pt x="95250" y="2095500"/>
                  </a:lnTo>
                  <a:cubicBezTo>
                    <a:pt x="42645" y="2095500"/>
                    <a:pt x="0" y="2052855"/>
                    <a:pt x="0" y="200025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0"/>
            <p:cNvSpPr/>
            <p:nvPr/>
          </p:nvSpPr>
          <p:spPr>
            <a:xfrm>
              <a:off x="4333875" y="1333500"/>
              <a:ext cx="3524250" cy="38100"/>
            </a:xfrm>
            <a:custGeom>
              <a:rect b="b" l="l" r="r" t="t"/>
              <a:pathLst>
                <a:path extrusionOk="0" h="38100" w="3524250">
                  <a:moveTo>
                    <a:pt x="19050" y="0"/>
                  </a:moveTo>
                  <a:lnTo>
                    <a:pt x="3505200" y="0"/>
                  </a:lnTo>
                  <a:cubicBezTo>
                    <a:pt x="3515721" y="0"/>
                    <a:pt x="3524250" y="8529"/>
                    <a:pt x="3524250" y="19050"/>
                  </a:cubicBezTo>
                  <a:lnTo>
                    <a:pt x="3524250" y="19050"/>
                  </a:lnTo>
                  <a:cubicBezTo>
                    <a:pt x="3524250" y="29571"/>
                    <a:pt x="3515721" y="38100"/>
                    <a:pt x="350520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 name="Google Shape;540;p10"/>
            <p:cNvGrpSpPr/>
            <p:nvPr/>
          </p:nvGrpSpPr>
          <p:grpSpPr>
            <a:xfrm>
              <a:off x="4599384" y="1599009"/>
              <a:ext cx="250031" cy="250031"/>
              <a:chOff x="4599384" y="1599009"/>
              <a:chExt cx="250031" cy="250031"/>
            </a:xfrm>
          </p:grpSpPr>
          <p:sp>
            <p:nvSpPr>
              <p:cNvPr id="541" name="Google Shape;541;p10"/>
              <p:cNvSpPr/>
              <p:nvPr/>
            </p:nvSpPr>
            <p:spPr>
              <a:xfrm>
                <a:off x="4599384" y="1599009"/>
                <a:ext cx="250031" cy="156518"/>
              </a:xfrm>
              <a:custGeom>
                <a:rect b="b" l="l" r="r" t="t"/>
                <a:pathLst>
                  <a:path extrusionOk="0" h="156518" w="250031">
                    <a:moveTo>
                      <a:pt x="250031" y="0"/>
                    </a:moveTo>
                    <a:lnTo>
                      <a:pt x="0" y="0"/>
                    </a:lnTo>
                    <a:lnTo>
                      <a:pt x="0" y="107156"/>
                    </a:lnTo>
                    <a:lnTo>
                      <a:pt x="42540" y="107156"/>
                    </a:lnTo>
                    <a:lnTo>
                      <a:pt x="69329" y="53578"/>
                    </a:lnTo>
                    <a:lnTo>
                      <a:pt x="109264" y="53578"/>
                    </a:lnTo>
                    <a:lnTo>
                      <a:pt x="160734" y="156518"/>
                    </a:lnTo>
                    <a:lnTo>
                      <a:pt x="185416" y="107156"/>
                    </a:lnTo>
                    <a:lnTo>
                      <a:pt x="250031" y="107156"/>
                    </a:lnTo>
                    <a:lnTo>
                      <a:pt x="250031" y="0"/>
                    </a:lnTo>
                    <a:close/>
                  </a:path>
                </a:pathLst>
              </a:custGeom>
              <a:solidFill>
                <a:srgbClr val="1565C0"/>
              </a:solidFill>
              <a:ln>
                <a:noFill/>
              </a:ln>
            </p:spPr>
          </p:sp>
          <p:sp>
            <p:nvSpPr>
              <p:cNvPr id="542" name="Google Shape;542;p10"/>
              <p:cNvSpPr/>
              <p:nvPr/>
            </p:nvSpPr>
            <p:spPr>
              <a:xfrm>
                <a:off x="4599384" y="1692522"/>
                <a:ext cx="250031" cy="156518"/>
              </a:xfrm>
              <a:custGeom>
                <a:rect b="b" l="l" r="r" t="t"/>
                <a:pathLst>
                  <a:path extrusionOk="0" h="156518" w="250031">
                    <a:moveTo>
                      <a:pt x="250031" y="49362"/>
                    </a:moveTo>
                    <a:lnTo>
                      <a:pt x="207490" y="49362"/>
                    </a:lnTo>
                    <a:lnTo>
                      <a:pt x="180701" y="102940"/>
                    </a:lnTo>
                    <a:lnTo>
                      <a:pt x="140767" y="102940"/>
                    </a:lnTo>
                    <a:lnTo>
                      <a:pt x="89297" y="0"/>
                    </a:lnTo>
                    <a:lnTo>
                      <a:pt x="64616" y="49362"/>
                    </a:lnTo>
                    <a:lnTo>
                      <a:pt x="0" y="49362"/>
                    </a:lnTo>
                    <a:lnTo>
                      <a:pt x="0" y="156518"/>
                    </a:lnTo>
                    <a:lnTo>
                      <a:pt x="250031" y="156518"/>
                    </a:lnTo>
                    <a:lnTo>
                      <a:pt x="250031" y="49362"/>
                    </a:lnTo>
                    <a:close/>
                  </a:path>
                </a:pathLst>
              </a:custGeom>
              <a:solidFill>
                <a:srgbClr val="1565C0"/>
              </a:solidFill>
              <a:ln>
                <a:noFill/>
              </a:ln>
            </p:spPr>
          </p:sp>
        </p:grpSp>
        <p:sp>
          <p:nvSpPr>
            <p:cNvPr id="543" name="Google Shape;543;p10"/>
            <p:cNvSpPr txBox="1"/>
            <p:nvPr/>
          </p:nvSpPr>
          <p:spPr>
            <a:xfrm>
              <a:off x="4601528" y="2075021"/>
              <a:ext cx="1948309"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Engagement Score</a:t>
              </a:r>
              <a:endParaRPr/>
            </a:p>
          </p:txBody>
        </p:sp>
        <p:sp>
          <p:nvSpPr>
            <p:cNvPr id="544" name="Google Shape;544;p10"/>
            <p:cNvSpPr/>
            <p:nvPr/>
          </p:nvSpPr>
          <p:spPr>
            <a:xfrm>
              <a:off x="4619625" y="2419350"/>
              <a:ext cx="295275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0"/>
            <p:cNvSpPr txBox="1"/>
            <p:nvPr/>
          </p:nvSpPr>
          <p:spPr>
            <a:xfrm>
              <a:off x="4604385" y="2651760"/>
              <a:ext cx="757809"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Based on</a:t>
              </a:r>
              <a:endParaRPr/>
            </a:p>
          </p:txBody>
        </p:sp>
        <p:sp>
          <p:nvSpPr>
            <p:cNvPr id="546" name="Google Shape;546;p10"/>
            <p:cNvSpPr txBox="1"/>
            <p:nvPr/>
          </p:nvSpPr>
          <p:spPr>
            <a:xfrm>
              <a:off x="4602480" y="2921318"/>
              <a:ext cx="403679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Login frequency · Usage · Recent activity</a:t>
              </a:r>
              <a:endParaRPr/>
            </a:p>
          </p:txBody>
        </p:sp>
      </p:grpSp>
      <p:grpSp>
        <p:nvGrpSpPr>
          <p:cNvPr id="547" name="Google Shape;547;p10"/>
          <p:cNvGrpSpPr/>
          <p:nvPr/>
        </p:nvGrpSpPr>
        <p:grpSpPr>
          <a:xfrm>
            <a:off x="8096250" y="1333500"/>
            <a:ext cx="3524250" cy="2095500"/>
            <a:chOff x="8096250" y="1333500"/>
            <a:chExt cx="3524250" cy="2095500"/>
          </a:xfrm>
        </p:grpSpPr>
        <p:sp>
          <p:nvSpPr>
            <p:cNvPr id="548" name="Google Shape;548;p10"/>
            <p:cNvSpPr/>
            <p:nvPr/>
          </p:nvSpPr>
          <p:spPr>
            <a:xfrm>
              <a:off x="8096250" y="1333500"/>
              <a:ext cx="3524250" cy="2095500"/>
            </a:xfrm>
            <a:custGeom>
              <a:rect b="b" l="l" r="r" t="t"/>
              <a:pathLst>
                <a:path extrusionOk="0" h="2095500" w="3524250">
                  <a:moveTo>
                    <a:pt x="95250" y="0"/>
                  </a:moveTo>
                  <a:lnTo>
                    <a:pt x="3429000" y="0"/>
                  </a:lnTo>
                  <a:cubicBezTo>
                    <a:pt x="3481605" y="0"/>
                    <a:pt x="3524250" y="42645"/>
                    <a:pt x="3524250" y="95250"/>
                  </a:cubicBezTo>
                  <a:lnTo>
                    <a:pt x="3524250" y="2000250"/>
                  </a:lnTo>
                  <a:cubicBezTo>
                    <a:pt x="3524250" y="2052855"/>
                    <a:pt x="3481605" y="2095500"/>
                    <a:pt x="3429000" y="2095500"/>
                  </a:cubicBezTo>
                  <a:lnTo>
                    <a:pt x="95250" y="2095500"/>
                  </a:lnTo>
                  <a:cubicBezTo>
                    <a:pt x="42645" y="2095500"/>
                    <a:pt x="0" y="2052855"/>
                    <a:pt x="0" y="200025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0"/>
            <p:cNvSpPr/>
            <p:nvPr/>
          </p:nvSpPr>
          <p:spPr>
            <a:xfrm>
              <a:off x="8096250" y="1333500"/>
              <a:ext cx="3524250" cy="38100"/>
            </a:xfrm>
            <a:custGeom>
              <a:rect b="b" l="l" r="r" t="t"/>
              <a:pathLst>
                <a:path extrusionOk="0" h="38100" w="3524250">
                  <a:moveTo>
                    <a:pt x="19050" y="0"/>
                  </a:moveTo>
                  <a:lnTo>
                    <a:pt x="3505200" y="0"/>
                  </a:lnTo>
                  <a:cubicBezTo>
                    <a:pt x="3515721" y="0"/>
                    <a:pt x="3524250" y="8529"/>
                    <a:pt x="3524250" y="19050"/>
                  </a:cubicBezTo>
                  <a:lnTo>
                    <a:pt x="3524250" y="19050"/>
                  </a:lnTo>
                  <a:cubicBezTo>
                    <a:pt x="3524250" y="29571"/>
                    <a:pt x="3515721" y="38100"/>
                    <a:pt x="350520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a:off x="8361759" y="1581150"/>
              <a:ext cx="250031" cy="285750"/>
            </a:xfrm>
            <a:custGeom>
              <a:rect b="b" l="l" r="r" t="t"/>
              <a:pathLst>
                <a:path extrusionOk="0" h="285750" w="250031">
                  <a:moveTo>
                    <a:pt x="125016" y="285750"/>
                  </a:moveTo>
                  <a:lnTo>
                    <a:pt x="59831" y="239189"/>
                  </a:lnTo>
                  <a:cubicBezTo>
                    <a:pt x="22284" y="212369"/>
                    <a:pt x="0" y="169069"/>
                    <a:pt x="0" y="122927"/>
                  </a:cubicBezTo>
                  <a:lnTo>
                    <a:pt x="0" y="53578"/>
                  </a:lnTo>
                  <a:lnTo>
                    <a:pt x="125016" y="0"/>
                  </a:lnTo>
                  <a:lnTo>
                    <a:pt x="250031" y="53578"/>
                  </a:lnTo>
                  <a:lnTo>
                    <a:pt x="250031" y="122927"/>
                  </a:lnTo>
                  <a:cubicBezTo>
                    <a:pt x="250031" y="169069"/>
                    <a:pt x="227748" y="212369"/>
                    <a:pt x="190201" y="239189"/>
                  </a:cubicBezTo>
                  <a:lnTo>
                    <a:pt x="125016" y="285750"/>
                  </a:lnTo>
                  <a:close/>
                  <a:moveTo>
                    <a:pt x="200152" y="101925"/>
                  </a:moveTo>
                  <a:lnTo>
                    <a:pt x="174895" y="76668"/>
                  </a:lnTo>
                  <a:lnTo>
                    <a:pt x="107156" y="144407"/>
                  </a:lnTo>
                  <a:lnTo>
                    <a:pt x="75136" y="112387"/>
                  </a:lnTo>
                  <a:lnTo>
                    <a:pt x="49879" y="137644"/>
                  </a:lnTo>
                  <a:lnTo>
                    <a:pt x="107156" y="194921"/>
                  </a:lnTo>
                  <a:lnTo>
                    <a:pt x="200152" y="101925"/>
                  </a:ln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0"/>
            <p:cNvSpPr txBox="1"/>
            <p:nvPr/>
          </p:nvSpPr>
          <p:spPr>
            <a:xfrm>
              <a:off x="8363902" y="2075021"/>
              <a:ext cx="1369212"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Support Risk</a:t>
              </a:r>
              <a:endParaRPr/>
            </a:p>
          </p:txBody>
        </p:sp>
        <p:sp>
          <p:nvSpPr>
            <p:cNvPr id="552" name="Google Shape;552;p10"/>
            <p:cNvSpPr/>
            <p:nvPr/>
          </p:nvSpPr>
          <p:spPr>
            <a:xfrm>
              <a:off x="8382000" y="2419350"/>
              <a:ext cx="295275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0"/>
            <p:cNvSpPr txBox="1"/>
            <p:nvPr/>
          </p:nvSpPr>
          <p:spPr>
            <a:xfrm>
              <a:off x="8366760" y="2651760"/>
              <a:ext cx="757809"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Based on</a:t>
              </a:r>
              <a:endParaRPr/>
            </a:p>
          </p:txBody>
        </p:sp>
        <p:sp>
          <p:nvSpPr>
            <p:cNvPr id="554" name="Google Shape;554;p10"/>
            <p:cNvSpPr txBox="1"/>
            <p:nvPr/>
          </p:nvSpPr>
          <p:spPr>
            <a:xfrm>
              <a:off x="8364855" y="2921318"/>
              <a:ext cx="281435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Support tickets · Complaints</a:t>
              </a:r>
              <a:endParaRPr/>
            </a:p>
          </p:txBody>
        </p:sp>
      </p:grpSp>
      <p:grpSp>
        <p:nvGrpSpPr>
          <p:cNvPr id="555" name="Google Shape;555;p10"/>
          <p:cNvGrpSpPr/>
          <p:nvPr/>
        </p:nvGrpSpPr>
        <p:grpSpPr>
          <a:xfrm>
            <a:off x="571500" y="3657600"/>
            <a:ext cx="5381625" cy="1866900"/>
            <a:chOff x="571500" y="3657600"/>
            <a:chExt cx="5381625" cy="1866900"/>
          </a:xfrm>
        </p:grpSpPr>
        <p:sp>
          <p:nvSpPr>
            <p:cNvPr id="556" name="Google Shape;556;p10"/>
            <p:cNvSpPr/>
            <p:nvPr/>
          </p:nvSpPr>
          <p:spPr>
            <a:xfrm>
              <a:off x="571500" y="3657600"/>
              <a:ext cx="5381625" cy="1866900"/>
            </a:xfrm>
            <a:custGeom>
              <a:rect b="b" l="l" r="r" t="t"/>
              <a:pathLst>
                <a:path extrusionOk="0" h="1866900" w="5381625">
                  <a:moveTo>
                    <a:pt x="95250" y="0"/>
                  </a:moveTo>
                  <a:lnTo>
                    <a:pt x="5286375" y="0"/>
                  </a:lnTo>
                  <a:cubicBezTo>
                    <a:pt x="5338980" y="0"/>
                    <a:pt x="5381625" y="42645"/>
                    <a:pt x="5381625" y="95250"/>
                  </a:cubicBezTo>
                  <a:lnTo>
                    <a:pt x="5381625" y="1771650"/>
                  </a:lnTo>
                  <a:cubicBezTo>
                    <a:pt x="5381625" y="1824255"/>
                    <a:pt x="5338980" y="1866900"/>
                    <a:pt x="5286375" y="1866900"/>
                  </a:cubicBezTo>
                  <a:lnTo>
                    <a:pt x="95250" y="1866900"/>
                  </a:lnTo>
                  <a:cubicBezTo>
                    <a:pt x="42645" y="1866900"/>
                    <a:pt x="0" y="1824255"/>
                    <a:pt x="0" y="177165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0"/>
            <p:cNvSpPr/>
            <p:nvPr/>
          </p:nvSpPr>
          <p:spPr>
            <a:xfrm>
              <a:off x="571500" y="3657600"/>
              <a:ext cx="5381625" cy="38100"/>
            </a:xfrm>
            <a:custGeom>
              <a:rect b="b" l="l" r="r" t="t"/>
              <a:pathLst>
                <a:path extrusionOk="0" h="38100" w="5381625">
                  <a:moveTo>
                    <a:pt x="19050" y="0"/>
                  </a:moveTo>
                  <a:lnTo>
                    <a:pt x="5362575" y="0"/>
                  </a:lnTo>
                  <a:cubicBezTo>
                    <a:pt x="5373096" y="0"/>
                    <a:pt x="5381625" y="8529"/>
                    <a:pt x="5381625" y="19050"/>
                  </a:cubicBezTo>
                  <a:lnTo>
                    <a:pt x="5381625" y="19050"/>
                  </a:lnTo>
                  <a:cubicBezTo>
                    <a:pt x="5381625" y="29571"/>
                    <a:pt x="5373096" y="38100"/>
                    <a:pt x="5362575"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0"/>
            <p:cNvSpPr/>
            <p:nvPr/>
          </p:nvSpPr>
          <p:spPr>
            <a:xfrm>
              <a:off x="857250" y="3942159"/>
              <a:ext cx="285750" cy="232172"/>
            </a:xfrm>
            <a:custGeom>
              <a:rect b="b" l="l" r="r" t="t"/>
              <a:pathLst>
                <a:path extrusionOk="0" h="232172" w="285750">
                  <a:moveTo>
                    <a:pt x="31337" y="232172"/>
                  </a:moveTo>
                  <a:cubicBezTo>
                    <a:pt x="11729" y="207712"/>
                    <a:pt x="0" y="176663"/>
                    <a:pt x="0" y="142875"/>
                  </a:cubicBezTo>
                  <a:cubicBezTo>
                    <a:pt x="0" y="63967"/>
                    <a:pt x="63967" y="0"/>
                    <a:pt x="142875" y="0"/>
                  </a:cubicBezTo>
                  <a:cubicBezTo>
                    <a:pt x="221783" y="0"/>
                    <a:pt x="285750" y="63967"/>
                    <a:pt x="285750" y="142875"/>
                  </a:cubicBezTo>
                  <a:cubicBezTo>
                    <a:pt x="285750" y="176663"/>
                    <a:pt x="274022" y="207712"/>
                    <a:pt x="254414" y="232172"/>
                  </a:cubicBezTo>
                  <a:lnTo>
                    <a:pt x="164337" y="232172"/>
                  </a:lnTo>
                  <a:lnTo>
                    <a:pt x="227427" y="163929"/>
                  </a:lnTo>
                  <a:lnTo>
                    <a:pt x="201198" y="139681"/>
                  </a:lnTo>
                  <a:lnTo>
                    <a:pt x="115693" y="232172"/>
                  </a:lnTo>
                  <a:lnTo>
                    <a:pt x="31337" y="232172"/>
                  </a:lnTo>
                  <a:close/>
                  <a:moveTo>
                    <a:pt x="125016" y="53578"/>
                  </a:moveTo>
                  <a:cubicBezTo>
                    <a:pt x="125016" y="63442"/>
                    <a:pt x="133011" y="71438"/>
                    <a:pt x="142875" y="71438"/>
                  </a:cubicBezTo>
                  <a:cubicBezTo>
                    <a:pt x="152738" y="71438"/>
                    <a:pt x="160734" y="63442"/>
                    <a:pt x="160734" y="53578"/>
                  </a:cubicBezTo>
                  <a:cubicBezTo>
                    <a:pt x="160734" y="43715"/>
                    <a:pt x="152738" y="35719"/>
                    <a:pt x="142875" y="35719"/>
                  </a:cubicBezTo>
                  <a:cubicBezTo>
                    <a:pt x="133011" y="35719"/>
                    <a:pt x="125016" y="43715"/>
                    <a:pt x="125016" y="53578"/>
                  </a:cubicBezTo>
                  <a:close/>
                  <a:moveTo>
                    <a:pt x="205383" y="98227"/>
                  </a:moveTo>
                  <a:cubicBezTo>
                    <a:pt x="195519" y="98227"/>
                    <a:pt x="187523" y="90231"/>
                    <a:pt x="187523" y="80367"/>
                  </a:cubicBezTo>
                  <a:cubicBezTo>
                    <a:pt x="187523" y="70504"/>
                    <a:pt x="195519" y="62508"/>
                    <a:pt x="205383" y="62508"/>
                  </a:cubicBezTo>
                  <a:cubicBezTo>
                    <a:pt x="215247" y="62508"/>
                    <a:pt x="223242" y="70504"/>
                    <a:pt x="223242" y="80367"/>
                  </a:cubicBezTo>
                  <a:cubicBezTo>
                    <a:pt x="223242" y="90231"/>
                    <a:pt x="215247" y="98227"/>
                    <a:pt x="205383" y="98227"/>
                  </a:cubicBezTo>
                  <a:close/>
                  <a:moveTo>
                    <a:pt x="35719" y="142875"/>
                  </a:moveTo>
                  <a:cubicBezTo>
                    <a:pt x="35719" y="152739"/>
                    <a:pt x="43715" y="160734"/>
                    <a:pt x="53578" y="160734"/>
                  </a:cubicBezTo>
                  <a:cubicBezTo>
                    <a:pt x="63442" y="160734"/>
                    <a:pt x="71438" y="152739"/>
                    <a:pt x="71438" y="142875"/>
                  </a:cubicBezTo>
                  <a:cubicBezTo>
                    <a:pt x="71438" y="133012"/>
                    <a:pt x="63442" y="125016"/>
                    <a:pt x="53578" y="125016"/>
                  </a:cubicBezTo>
                  <a:cubicBezTo>
                    <a:pt x="43715" y="125016"/>
                    <a:pt x="35719" y="133012"/>
                    <a:pt x="35719" y="142875"/>
                  </a:cubicBezTo>
                  <a:close/>
                  <a:moveTo>
                    <a:pt x="80367" y="98227"/>
                  </a:moveTo>
                  <a:cubicBezTo>
                    <a:pt x="70504" y="98227"/>
                    <a:pt x="62508" y="90231"/>
                    <a:pt x="62508" y="80367"/>
                  </a:cubicBezTo>
                  <a:cubicBezTo>
                    <a:pt x="62508" y="70504"/>
                    <a:pt x="70504" y="62508"/>
                    <a:pt x="80367" y="62508"/>
                  </a:cubicBezTo>
                  <a:cubicBezTo>
                    <a:pt x="90231" y="62508"/>
                    <a:pt x="98227" y="70504"/>
                    <a:pt x="98227" y="80367"/>
                  </a:cubicBezTo>
                  <a:cubicBezTo>
                    <a:pt x="98227" y="90231"/>
                    <a:pt x="90231" y="98227"/>
                    <a:pt x="80367" y="98227"/>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txBox="1"/>
            <p:nvPr/>
          </p:nvSpPr>
          <p:spPr>
            <a:xfrm>
              <a:off x="877252" y="4437221"/>
              <a:ext cx="1565886"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Inactivity Flag</a:t>
              </a:r>
              <a:endParaRPr/>
            </a:p>
          </p:txBody>
        </p:sp>
        <p:sp>
          <p:nvSpPr>
            <p:cNvPr id="560" name="Google Shape;560;p10"/>
            <p:cNvSpPr/>
            <p:nvPr/>
          </p:nvSpPr>
          <p:spPr>
            <a:xfrm>
              <a:off x="895350" y="4781550"/>
              <a:ext cx="476250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
            <p:cNvSpPr txBox="1"/>
            <p:nvPr/>
          </p:nvSpPr>
          <p:spPr>
            <a:xfrm>
              <a:off x="878205" y="4997768"/>
              <a:ext cx="334670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Identifies customers who have not</a:t>
              </a:r>
              <a:endParaRPr/>
            </a:p>
          </p:txBody>
        </p:sp>
        <p:sp>
          <p:nvSpPr>
            <p:cNvPr id="562" name="Google Shape;562;p10"/>
            <p:cNvSpPr txBox="1"/>
            <p:nvPr/>
          </p:nvSpPr>
          <p:spPr>
            <a:xfrm>
              <a:off x="878205" y="5245418"/>
              <a:ext cx="184823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logged in recently.</a:t>
              </a:r>
              <a:endParaRPr/>
            </a:p>
          </p:txBody>
        </p:sp>
      </p:grpSp>
      <p:grpSp>
        <p:nvGrpSpPr>
          <p:cNvPr id="563" name="Google Shape;563;p10"/>
          <p:cNvGrpSpPr/>
          <p:nvPr/>
        </p:nvGrpSpPr>
        <p:grpSpPr>
          <a:xfrm>
            <a:off x="6238875" y="3657600"/>
            <a:ext cx="5381625" cy="1866900"/>
            <a:chOff x="6238875" y="3657600"/>
            <a:chExt cx="5381625" cy="1866900"/>
          </a:xfrm>
        </p:grpSpPr>
        <p:sp>
          <p:nvSpPr>
            <p:cNvPr id="564" name="Google Shape;564;p10"/>
            <p:cNvSpPr/>
            <p:nvPr/>
          </p:nvSpPr>
          <p:spPr>
            <a:xfrm>
              <a:off x="6238875" y="3657600"/>
              <a:ext cx="5381625" cy="1866900"/>
            </a:xfrm>
            <a:custGeom>
              <a:rect b="b" l="l" r="r" t="t"/>
              <a:pathLst>
                <a:path extrusionOk="0" h="1866900" w="5381625">
                  <a:moveTo>
                    <a:pt x="95250" y="0"/>
                  </a:moveTo>
                  <a:lnTo>
                    <a:pt x="5286375" y="0"/>
                  </a:lnTo>
                  <a:cubicBezTo>
                    <a:pt x="5338980" y="0"/>
                    <a:pt x="5381625" y="42645"/>
                    <a:pt x="5381625" y="95250"/>
                  </a:cubicBezTo>
                  <a:lnTo>
                    <a:pt x="5381625" y="1771650"/>
                  </a:lnTo>
                  <a:cubicBezTo>
                    <a:pt x="5381625" y="1824255"/>
                    <a:pt x="5338980" y="1866900"/>
                    <a:pt x="5286375" y="1866900"/>
                  </a:cubicBezTo>
                  <a:lnTo>
                    <a:pt x="95250" y="1866900"/>
                  </a:lnTo>
                  <a:cubicBezTo>
                    <a:pt x="42645" y="1866900"/>
                    <a:pt x="0" y="1824255"/>
                    <a:pt x="0" y="177165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
            <p:cNvSpPr/>
            <p:nvPr/>
          </p:nvSpPr>
          <p:spPr>
            <a:xfrm>
              <a:off x="6238875" y="3657600"/>
              <a:ext cx="5381625" cy="38100"/>
            </a:xfrm>
            <a:custGeom>
              <a:rect b="b" l="l" r="r" t="t"/>
              <a:pathLst>
                <a:path extrusionOk="0" h="38100" w="5381625">
                  <a:moveTo>
                    <a:pt x="19050" y="0"/>
                  </a:moveTo>
                  <a:lnTo>
                    <a:pt x="5362575" y="0"/>
                  </a:lnTo>
                  <a:cubicBezTo>
                    <a:pt x="5373096" y="0"/>
                    <a:pt x="5381625" y="8529"/>
                    <a:pt x="5381625" y="19050"/>
                  </a:cubicBezTo>
                  <a:lnTo>
                    <a:pt x="5381625" y="19050"/>
                  </a:lnTo>
                  <a:cubicBezTo>
                    <a:pt x="5381625" y="29571"/>
                    <a:pt x="5373096" y="38100"/>
                    <a:pt x="5362575"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10"/>
            <p:cNvGrpSpPr/>
            <p:nvPr/>
          </p:nvGrpSpPr>
          <p:grpSpPr>
            <a:xfrm>
              <a:off x="6542484" y="3942159"/>
              <a:ext cx="250031" cy="250031"/>
              <a:chOff x="6542484" y="3942159"/>
              <a:chExt cx="250031" cy="250031"/>
            </a:xfrm>
          </p:grpSpPr>
          <p:sp>
            <p:nvSpPr>
              <p:cNvPr id="567" name="Google Shape;567;p10"/>
              <p:cNvSpPr/>
              <p:nvPr/>
            </p:nvSpPr>
            <p:spPr>
              <a:xfrm>
                <a:off x="6542484" y="3942159"/>
                <a:ext cx="250031" cy="107156"/>
              </a:xfrm>
              <a:custGeom>
                <a:rect b="b" l="l" r="r" t="t"/>
                <a:pathLst>
                  <a:path extrusionOk="0" h="107156" w="250031">
                    <a:moveTo>
                      <a:pt x="35719" y="0"/>
                    </a:moveTo>
                    <a:lnTo>
                      <a:pt x="125016" y="0"/>
                    </a:lnTo>
                    <a:lnTo>
                      <a:pt x="125016" y="35719"/>
                    </a:lnTo>
                    <a:lnTo>
                      <a:pt x="250031" y="35719"/>
                    </a:lnTo>
                    <a:lnTo>
                      <a:pt x="250031" y="71438"/>
                    </a:lnTo>
                    <a:lnTo>
                      <a:pt x="125016" y="71438"/>
                    </a:lnTo>
                    <a:lnTo>
                      <a:pt x="125016" y="107156"/>
                    </a:lnTo>
                    <a:lnTo>
                      <a:pt x="35719" y="107156"/>
                    </a:lnTo>
                    <a:lnTo>
                      <a:pt x="35719" y="71438"/>
                    </a:lnTo>
                    <a:lnTo>
                      <a:pt x="0" y="71438"/>
                    </a:lnTo>
                    <a:lnTo>
                      <a:pt x="0" y="35719"/>
                    </a:lnTo>
                    <a:lnTo>
                      <a:pt x="35719" y="35719"/>
                    </a:lnTo>
                    <a:lnTo>
                      <a:pt x="35719" y="0"/>
                    </a:lnTo>
                    <a:close/>
                  </a:path>
                </a:pathLst>
              </a:custGeom>
              <a:solidFill>
                <a:srgbClr val="1565C0"/>
              </a:solidFill>
              <a:ln>
                <a:noFill/>
              </a:ln>
            </p:spPr>
          </p:sp>
          <p:sp>
            <p:nvSpPr>
              <p:cNvPr id="568" name="Google Shape;568;p10"/>
              <p:cNvSpPr/>
              <p:nvPr/>
            </p:nvSpPr>
            <p:spPr>
              <a:xfrm>
                <a:off x="6542484" y="4085034"/>
                <a:ext cx="250031" cy="107156"/>
              </a:xfrm>
              <a:custGeom>
                <a:rect b="b" l="l" r="r" t="t"/>
                <a:pathLst>
                  <a:path extrusionOk="0" h="107156" w="250031">
                    <a:moveTo>
                      <a:pt x="214312" y="71438"/>
                    </a:moveTo>
                    <a:lnTo>
                      <a:pt x="250031" y="71438"/>
                    </a:lnTo>
                    <a:lnTo>
                      <a:pt x="250031" y="35719"/>
                    </a:lnTo>
                    <a:lnTo>
                      <a:pt x="214312" y="35719"/>
                    </a:lnTo>
                    <a:lnTo>
                      <a:pt x="214312" y="0"/>
                    </a:lnTo>
                    <a:lnTo>
                      <a:pt x="125016" y="0"/>
                    </a:lnTo>
                    <a:lnTo>
                      <a:pt x="125016" y="35719"/>
                    </a:lnTo>
                    <a:lnTo>
                      <a:pt x="0" y="35719"/>
                    </a:lnTo>
                    <a:lnTo>
                      <a:pt x="0" y="71438"/>
                    </a:lnTo>
                    <a:lnTo>
                      <a:pt x="125016" y="71438"/>
                    </a:lnTo>
                    <a:lnTo>
                      <a:pt x="125016" y="107156"/>
                    </a:lnTo>
                    <a:lnTo>
                      <a:pt x="214312" y="107156"/>
                    </a:lnTo>
                    <a:lnTo>
                      <a:pt x="214312" y="71438"/>
                    </a:lnTo>
                    <a:close/>
                  </a:path>
                </a:pathLst>
              </a:custGeom>
              <a:solidFill>
                <a:srgbClr val="1565C0"/>
              </a:solidFill>
              <a:ln>
                <a:noFill/>
              </a:ln>
            </p:spPr>
          </p:sp>
        </p:grpSp>
        <p:sp>
          <p:nvSpPr>
            <p:cNvPr id="569" name="Google Shape;569;p10"/>
            <p:cNvSpPr txBox="1"/>
            <p:nvPr/>
          </p:nvSpPr>
          <p:spPr>
            <a:xfrm>
              <a:off x="6544628" y="4437221"/>
              <a:ext cx="1128832"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Risk Score</a:t>
              </a:r>
              <a:endParaRPr/>
            </a:p>
          </p:txBody>
        </p:sp>
        <p:sp>
          <p:nvSpPr>
            <p:cNvPr id="570" name="Google Shape;570;p10"/>
            <p:cNvSpPr/>
            <p:nvPr/>
          </p:nvSpPr>
          <p:spPr>
            <a:xfrm>
              <a:off x="6562725" y="4781550"/>
              <a:ext cx="476250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txBox="1"/>
            <p:nvPr/>
          </p:nvSpPr>
          <p:spPr>
            <a:xfrm>
              <a:off x="6545580" y="4997768"/>
              <a:ext cx="341571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A simple risk score calculated from</a:t>
              </a:r>
              <a:endParaRPr/>
            </a:p>
          </p:txBody>
        </p:sp>
        <p:sp>
          <p:nvSpPr>
            <p:cNvPr id="572" name="Google Shape;572;p10"/>
            <p:cNvSpPr txBox="1"/>
            <p:nvPr/>
          </p:nvSpPr>
          <p:spPr>
            <a:xfrm>
              <a:off x="6545580" y="5245418"/>
              <a:ext cx="2972086"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customer behavior indicators.</a:t>
              </a:r>
              <a:endParaRPr/>
            </a:p>
          </p:txBody>
        </p:sp>
      </p:grpSp>
      <p:grpSp>
        <p:nvGrpSpPr>
          <p:cNvPr id="573" name="Google Shape;573;p10"/>
          <p:cNvGrpSpPr/>
          <p:nvPr/>
        </p:nvGrpSpPr>
        <p:grpSpPr>
          <a:xfrm>
            <a:off x="561022" y="6381750"/>
            <a:ext cx="11069955" cy="345281"/>
            <a:chOff x="561022" y="6381750"/>
            <a:chExt cx="11069955" cy="345281"/>
          </a:xfrm>
        </p:grpSpPr>
        <p:sp>
          <p:nvSpPr>
            <p:cNvPr id="574" name="Google Shape;574;p10"/>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575" name="Google Shape;575;p10"/>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576" name="Google Shape;576;p10"/>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10 / 18</a:t>
              </a:r>
              <a:endParaRP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1"/>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3" name="Google Shape;583;p11"/>
          <p:cNvGrpSpPr/>
          <p:nvPr/>
        </p:nvGrpSpPr>
        <p:grpSpPr>
          <a:xfrm>
            <a:off x="541020" y="426720"/>
            <a:ext cx="4403903" cy="697230"/>
            <a:chOff x="541020" y="426720"/>
            <a:chExt cx="4403903" cy="697230"/>
          </a:xfrm>
        </p:grpSpPr>
        <p:sp>
          <p:nvSpPr>
            <p:cNvPr id="584" name="Google Shape;584;p11"/>
            <p:cNvSpPr txBox="1"/>
            <p:nvPr/>
          </p:nvSpPr>
          <p:spPr>
            <a:xfrm>
              <a:off x="541020" y="426720"/>
              <a:ext cx="4403903"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Machine Learning Models</a:t>
              </a:r>
              <a:endParaRPr/>
            </a:p>
          </p:txBody>
        </p:sp>
        <p:sp>
          <p:nvSpPr>
            <p:cNvPr id="585" name="Google Shape;585;p11"/>
            <p:cNvSpPr txBox="1"/>
            <p:nvPr/>
          </p:nvSpPr>
          <p:spPr>
            <a:xfrm>
              <a:off x="554355" y="806768"/>
              <a:ext cx="150318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Models I Tested</a:t>
              </a:r>
              <a:endParaRPr/>
            </a:p>
          </p:txBody>
        </p:sp>
        <p:sp>
          <p:nvSpPr>
            <p:cNvPr id="586" name="Google Shape;586;p11"/>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11"/>
          <p:cNvGrpSpPr/>
          <p:nvPr/>
        </p:nvGrpSpPr>
        <p:grpSpPr>
          <a:xfrm>
            <a:off x="557212" y="1459706"/>
            <a:ext cx="6586538" cy="711994"/>
            <a:chOff x="557212" y="1459706"/>
            <a:chExt cx="6586538" cy="711994"/>
          </a:xfrm>
        </p:grpSpPr>
        <p:sp>
          <p:nvSpPr>
            <p:cNvPr id="588" name="Google Shape;588;p11"/>
            <p:cNvSpPr txBox="1"/>
            <p:nvPr/>
          </p:nvSpPr>
          <p:spPr>
            <a:xfrm>
              <a:off x="557212" y="1459706"/>
              <a:ext cx="139149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25" u="none" cap="none" strike="noStrike">
                  <a:solidFill>
                    <a:srgbClr val="1565C0"/>
                  </a:solidFill>
                  <a:latin typeface="Quattrocento Sans"/>
                  <a:ea typeface="Quattrocento Sans"/>
                  <a:cs typeface="Quattrocento Sans"/>
                  <a:sym typeface="Quattrocento Sans"/>
                </a:rPr>
                <a:t>MODELS I TESTED</a:t>
              </a:r>
              <a:endParaRPr/>
            </a:p>
          </p:txBody>
        </p:sp>
        <p:grpSp>
          <p:nvGrpSpPr>
            <p:cNvPr id="589" name="Google Shape;589;p11"/>
            <p:cNvGrpSpPr/>
            <p:nvPr/>
          </p:nvGrpSpPr>
          <p:grpSpPr>
            <a:xfrm>
              <a:off x="571500" y="1733550"/>
              <a:ext cx="2381250" cy="438150"/>
              <a:chOff x="571500" y="1733550"/>
              <a:chExt cx="2381250" cy="438150"/>
            </a:xfrm>
          </p:grpSpPr>
          <p:sp>
            <p:nvSpPr>
              <p:cNvPr id="590" name="Google Shape;590;p11"/>
              <p:cNvSpPr/>
              <p:nvPr/>
            </p:nvSpPr>
            <p:spPr>
              <a:xfrm>
                <a:off x="571500" y="1733550"/>
                <a:ext cx="2381250" cy="438150"/>
              </a:xfrm>
              <a:custGeom>
                <a:rect b="b" l="l" r="r" t="t"/>
                <a:pathLst>
                  <a:path extrusionOk="0" h="438150" w="2381250">
                    <a:moveTo>
                      <a:pt x="219075" y="0"/>
                    </a:moveTo>
                    <a:lnTo>
                      <a:pt x="2162175" y="0"/>
                    </a:lnTo>
                    <a:cubicBezTo>
                      <a:pt x="2283167" y="0"/>
                      <a:pt x="2381250" y="98083"/>
                      <a:pt x="2381250" y="219075"/>
                    </a:cubicBezTo>
                    <a:lnTo>
                      <a:pt x="2381250" y="219075"/>
                    </a:lnTo>
                    <a:cubicBezTo>
                      <a:pt x="2381250" y="340067"/>
                      <a:pt x="2283167" y="438150"/>
                      <a:pt x="2162175" y="438150"/>
                    </a:cubicBezTo>
                    <a:lnTo>
                      <a:pt x="219075" y="438150"/>
                    </a:lnTo>
                    <a:cubicBezTo>
                      <a:pt x="98083" y="438150"/>
                      <a:pt x="0" y="340067"/>
                      <a:pt x="0" y="219075"/>
                    </a:cubicBezTo>
                    <a:lnTo>
                      <a:pt x="0" y="219075"/>
                    </a:lnTo>
                    <a:cubicBezTo>
                      <a:pt x="0" y="98083"/>
                      <a:pt x="98083" y="0"/>
                      <a:pt x="219075" y="0"/>
                    </a:cubicBezTo>
                    <a:close/>
                  </a:path>
                </a:pathLst>
              </a:custGeom>
              <a:solidFill>
                <a:srgbClr val="F4F7FB"/>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11"/>
              <p:cNvGrpSpPr/>
              <p:nvPr/>
            </p:nvGrpSpPr>
            <p:grpSpPr>
              <a:xfrm>
                <a:off x="812006" y="1869281"/>
                <a:ext cx="166688" cy="166688"/>
                <a:chOff x="812006" y="1869281"/>
                <a:chExt cx="166688" cy="166688"/>
              </a:xfrm>
            </p:grpSpPr>
            <p:sp>
              <p:nvSpPr>
                <p:cNvPr id="592" name="Google Shape;592;p11"/>
                <p:cNvSpPr/>
                <p:nvPr/>
              </p:nvSpPr>
              <p:spPr>
                <a:xfrm>
                  <a:off x="812006" y="1869281"/>
                  <a:ext cx="166688" cy="166688"/>
                </a:xfrm>
                <a:custGeom>
                  <a:rect b="b" l="l" r="r" t="t"/>
                  <a:pathLst>
                    <a:path extrusionOk="0" h="166688" w="166688">
                      <a:moveTo>
                        <a:pt x="0" y="0"/>
                      </a:moveTo>
                      <a:lnTo>
                        <a:pt x="0" y="166688"/>
                      </a:lnTo>
                      <a:lnTo>
                        <a:pt x="166688" y="166688"/>
                      </a:lnTo>
                      <a:lnTo>
                        <a:pt x="166688" y="142875"/>
                      </a:lnTo>
                      <a:lnTo>
                        <a:pt x="23812" y="142875"/>
                      </a:lnTo>
                      <a:lnTo>
                        <a:pt x="23812" y="0"/>
                      </a:lnTo>
                      <a:lnTo>
                        <a:pt x="0" y="0"/>
                      </a:lnTo>
                      <a:close/>
                    </a:path>
                  </a:pathLst>
                </a:custGeom>
                <a:solidFill>
                  <a:srgbClr val="1565C0"/>
                </a:solidFill>
                <a:ln>
                  <a:noFill/>
                </a:ln>
              </p:spPr>
            </p:sp>
            <p:sp>
              <p:nvSpPr>
                <p:cNvPr id="593" name="Google Shape;593;p11"/>
                <p:cNvSpPr/>
                <p:nvPr/>
              </p:nvSpPr>
              <p:spPr>
                <a:xfrm>
                  <a:off x="859631" y="1893094"/>
                  <a:ext cx="119062" cy="95250"/>
                </a:xfrm>
                <a:custGeom>
                  <a:rect b="b" l="l" r="r" t="t"/>
                  <a:pathLst>
                    <a:path extrusionOk="0" h="95250" w="119062">
                      <a:moveTo>
                        <a:pt x="0" y="47625"/>
                      </a:moveTo>
                      <a:lnTo>
                        <a:pt x="23812" y="23812"/>
                      </a:lnTo>
                      <a:lnTo>
                        <a:pt x="59531" y="59531"/>
                      </a:lnTo>
                      <a:lnTo>
                        <a:pt x="119062" y="0"/>
                      </a:lnTo>
                      <a:lnTo>
                        <a:pt x="119062" y="95250"/>
                      </a:lnTo>
                      <a:lnTo>
                        <a:pt x="0" y="95250"/>
                      </a:lnTo>
                      <a:lnTo>
                        <a:pt x="0" y="47625"/>
                      </a:lnTo>
                      <a:close/>
                    </a:path>
                  </a:pathLst>
                </a:custGeom>
                <a:solidFill>
                  <a:srgbClr val="1565C0"/>
                </a:solidFill>
                <a:ln>
                  <a:noFill/>
                </a:ln>
              </p:spPr>
            </p:sp>
          </p:grpSp>
          <p:sp>
            <p:nvSpPr>
              <p:cNvPr id="594" name="Google Shape;594;p11"/>
              <p:cNvSpPr txBox="1"/>
              <p:nvPr/>
            </p:nvSpPr>
            <p:spPr>
              <a:xfrm>
                <a:off x="1089660" y="1880235"/>
                <a:ext cx="1686687"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Logistic Regression</a:t>
                </a:r>
                <a:endParaRPr/>
              </a:p>
            </p:txBody>
          </p:sp>
        </p:grpSp>
        <p:grpSp>
          <p:nvGrpSpPr>
            <p:cNvPr id="595" name="Google Shape;595;p11"/>
            <p:cNvGrpSpPr/>
            <p:nvPr/>
          </p:nvGrpSpPr>
          <p:grpSpPr>
            <a:xfrm>
              <a:off x="3143250" y="1733550"/>
              <a:ext cx="1905000" cy="438150"/>
              <a:chOff x="3143250" y="1733550"/>
              <a:chExt cx="1905000" cy="438150"/>
            </a:xfrm>
          </p:grpSpPr>
          <p:sp>
            <p:nvSpPr>
              <p:cNvPr id="596" name="Google Shape;596;p11"/>
              <p:cNvSpPr/>
              <p:nvPr/>
            </p:nvSpPr>
            <p:spPr>
              <a:xfrm>
                <a:off x="3143250" y="1733550"/>
                <a:ext cx="1905000" cy="438150"/>
              </a:xfrm>
              <a:custGeom>
                <a:rect b="b" l="l" r="r" t="t"/>
                <a:pathLst>
                  <a:path extrusionOk="0" h="438150" w="1905000">
                    <a:moveTo>
                      <a:pt x="219075" y="0"/>
                    </a:moveTo>
                    <a:lnTo>
                      <a:pt x="1685925" y="0"/>
                    </a:lnTo>
                    <a:cubicBezTo>
                      <a:pt x="1806917" y="0"/>
                      <a:pt x="1905000" y="98083"/>
                      <a:pt x="1905000" y="219075"/>
                    </a:cubicBezTo>
                    <a:lnTo>
                      <a:pt x="1905000" y="219075"/>
                    </a:lnTo>
                    <a:cubicBezTo>
                      <a:pt x="1905000" y="340067"/>
                      <a:pt x="1806917" y="438150"/>
                      <a:pt x="1685925" y="438150"/>
                    </a:cubicBezTo>
                    <a:lnTo>
                      <a:pt x="219075" y="438150"/>
                    </a:lnTo>
                    <a:cubicBezTo>
                      <a:pt x="98083" y="438150"/>
                      <a:pt x="0" y="340067"/>
                      <a:pt x="0" y="219075"/>
                    </a:cubicBezTo>
                    <a:lnTo>
                      <a:pt x="0" y="219075"/>
                    </a:lnTo>
                    <a:cubicBezTo>
                      <a:pt x="0" y="98083"/>
                      <a:pt x="98083" y="0"/>
                      <a:pt x="219075" y="0"/>
                    </a:cubicBezTo>
                    <a:close/>
                  </a:path>
                </a:pathLst>
              </a:custGeom>
              <a:solidFill>
                <a:srgbClr val="F4F7FB"/>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3371850" y="1857375"/>
                <a:ext cx="166688" cy="190500"/>
              </a:xfrm>
              <a:custGeom>
                <a:rect b="b" l="l" r="r" t="t"/>
                <a:pathLst>
                  <a:path extrusionOk="0" h="190500" w="166688">
                    <a:moveTo>
                      <a:pt x="130969" y="71438"/>
                    </a:moveTo>
                    <a:cubicBezTo>
                      <a:pt x="150696" y="71438"/>
                      <a:pt x="166688" y="55446"/>
                      <a:pt x="166688" y="35719"/>
                    </a:cubicBezTo>
                    <a:cubicBezTo>
                      <a:pt x="166688" y="15992"/>
                      <a:pt x="150696" y="0"/>
                      <a:pt x="130969" y="0"/>
                    </a:cubicBezTo>
                    <a:cubicBezTo>
                      <a:pt x="111242" y="0"/>
                      <a:pt x="95250" y="15992"/>
                      <a:pt x="95250" y="35719"/>
                    </a:cubicBezTo>
                    <a:cubicBezTo>
                      <a:pt x="95250" y="38382"/>
                      <a:pt x="95542" y="40978"/>
                      <a:pt x="96094" y="43475"/>
                    </a:cubicBezTo>
                    <a:lnTo>
                      <a:pt x="57967" y="67304"/>
                    </a:lnTo>
                    <a:cubicBezTo>
                      <a:pt x="51864" y="62439"/>
                      <a:pt x="44131" y="59531"/>
                      <a:pt x="35719" y="59531"/>
                    </a:cubicBezTo>
                    <a:cubicBezTo>
                      <a:pt x="15992" y="59531"/>
                      <a:pt x="0" y="75523"/>
                      <a:pt x="0" y="95250"/>
                    </a:cubicBezTo>
                    <a:cubicBezTo>
                      <a:pt x="0" y="114977"/>
                      <a:pt x="15992" y="130969"/>
                      <a:pt x="35719" y="130969"/>
                    </a:cubicBezTo>
                    <a:cubicBezTo>
                      <a:pt x="44131" y="130969"/>
                      <a:pt x="51864" y="128061"/>
                      <a:pt x="57967" y="123195"/>
                    </a:cubicBezTo>
                    <a:lnTo>
                      <a:pt x="96094" y="147026"/>
                    </a:lnTo>
                    <a:cubicBezTo>
                      <a:pt x="95542" y="149522"/>
                      <a:pt x="95250" y="152118"/>
                      <a:pt x="95250" y="154781"/>
                    </a:cubicBezTo>
                    <a:cubicBezTo>
                      <a:pt x="95250" y="174509"/>
                      <a:pt x="111242" y="190500"/>
                      <a:pt x="130969" y="190500"/>
                    </a:cubicBezTo>
                    <a:cubicBezTo>
                      <a:pt x="150696" y="190500"/>
                      <a:pt x="166688" y="174509"/>
                      <a:pt x="166688" y="154781"/>
                    </a:cubicBezTo>
                    <a:cubicBezTo>
                      <a:pt x="166688" y="135054"/>
                      <a:pt x="150696" y="119062"/>
                      <a:pt x="130969" y="119062"/>
                    </a:cubicBezTo>
                    <a:cubicBezTo>
                      <a:pt x="122557" y="119062"/>
                      <a:pt x="114824" y="121970"/>
                      <a:pt x="108721" y="126836"/>
                    </a:cubicBezTo>
                    <a:lnTo>
                      <a:pt x="70593" y="103006"/>
                    </a:lnTo>
                    <a:cubicBezTo>
                      <a:pt x="71146" y="100509"/>
                      <a:pt x="71438" y="97914"/>
                      <a:pt x="71438" y="95250"/>
                    </a:cubicBezTo>
                    <a:cubicBezTo>
                      <a:pt x="71438" y="92586"/>
                      <a:pt x="71146" y="89991"/>
                      <a:pt x="70593" y="87494"/>
                    </a:cubicBezTo>
                    <a:lnTo>
                      <a:pt x="108721" y="63664"/>
                    </a:lnTo>
                    <a:cubicBezTo>
                      <a:pt x="114824" y="68530"/>
                      <a:pt x="122557" y="71438"/>
                      <a:pt x="130969" y="71438"/>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txBox="1"/>
              <p:nvPr/>
            </p:nvSpPr>
            <p:spPr>
              <a:xfrm>
                <a:off x="3661410" y="1880235"/>
                <a:ext cx="1152144"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Decision Tree</a:t>
                </a:r>
                <a:endParaRPr/>
              </a:p>
            </p:txBody>
          </p:sp>
        </p:grpSp>
        <p:grpSp>
          <p:nvGrpSpPr>
            <p:cNvPr id="599" name="Google Shape;599;p11"/>
            <p:cNvGrpSpPr/>
            <p:nvPr/>
          </p:nvGrpSpPr>
          <p:grpSpPr>
            <a:xfrm>
              <a:off x="5238750" y="1733550"/>
              <a:ext cx="1905000" cy="438150"/>
              <a:chOff x="5238750" y="1733550"/>
              <a:chExt cx="1905000" cy="438150"/>
            </a:xfrm>
          </p:grpSpPr>
          <p:sp>
            <p:nvSpPr>
              <p:cNvPr id="600" name="Google Shape;600;p11"/>
              <p:cNvSpPr/>
              <p:nvPr/>
            </p:nvSpPr>
            <p:spPr>
              <a:xfrm>
                <a:off x="5238750" y="1733550"/>
                <a:ext cx="1905000" cy="438150"/>
              </a:xfrm>
              <a:custGeom>
                <a:rect b="b" l="l" r="r" t="t"/>
                <a:pathLst>
                  <a:path extrusionOk="0" h="438150" w="1905000">
                    <a:moveTo>
                      <a:pt x="219075" y="0"/>
                    </a:moveTo>
                    <a:lnTo>
                      <a:pt x="1685925" y="0"/>
                    </a:lnTo>
                    <a:cubicBezTo>
                      <a:pt x="1806917" y="0"/>
                      <a:pt x="1905000" y="98083"/>
                      <a:pt x="1905000" y="219075"/>
                    </a:cubicBezTo>
                    <a:lnTo>
                      <a:pt x="1905000" y="219075"/>
                    </a:lnTo>
                    <a:cubicBezTo>
                      <a:pt x="1905000" y="340067"/>
                      <a:pt x="1806917" y="438150"/>
                      <a:pt x="1685925" y="438150"/>
                    </a:cubicBezTo>
                    <a:lnTo>
                      <a:pt x="219075" y="438150"/>
                    </a:lnTo>
                    <a:cubicBezTo>
                      <a:pt x="98083" y="438150"/>
                      <a:pt x="0" y="340067"/>
                      <a:pt x="0" y="219075"/>
                    </a:cubicBezTo>
                    <a:lnTo>
                      <a:pt x="0" y="219075"/>
                    </a:lnTo>
                    <a:cubicBezTo>
                      <a:pt x="0" y="98083"/>
                      <a:pt x="98083" y="0"/>
                      <a:pt x="219075" y="0"/>
                    </a:cubicBezTo>
                    <a:close/>
                  </a:path>
                </a:pathLst>
              </a:custGeom>
              <a:solidFill>
                <a:srgbClr val="F4F7FB"/>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5467350" y="1857375"/>
                <a:ext cx="190500" cy="178594"/>
              </a:xfrm>
              <a:custGeom>
                <a:rect b="b" l="l" r="r" t="t"/>
                <a:pathLst>
                  <a:path extrusionOk="0" h="178594" w="190500">
                    <a:moveTo>
                      <a:pt x="107156" y="0"/>
                    </a:moveTo>
                    <a:lnTo>
                      <a:pt x="107156" y="23812"/>
                    </a:lnTo>
                    <a:lnTo>
                      <a:pt x="154781" y="23812"/>
                    </a:lnTo>
                    <a:lnTo>
                      <a:pt x="190500" y="101203"/>
                    </a:lnTo>
                    <a:lnTo>
                      <a:pt x="154781" y="178594"/>
                    </a:lnTo>
                    <a:lnTo>
                      <a:pt x="35719" y="178594"/>
                    </a:lnTo>
                    <a:lnTo>
                      <a:pt x="0" y="101203"/>
                    </a:lnTo>
                    <a:lnTo>
                      <a:pt x="35719" y="23812"/>
                    </a:lnTo>
                    <a:lnTo>
                      <a:pt x="83344" y="23812"/>
                    </a:lnTo>
                    <a:lnTo>
                      <a:pt x="83344" y="0"/>
                    </a:lnTo>
                    <a:lnTo>
                      <a:pt x="107156" y="0"/>
                    </a:lnTo>
                    <a:close/>
                    <a:moveTo>
                      <a:pt x="54744" y="139760"/>
                    </a:moveTo>
                    <a:lnTo>
                      <a:pt x="95250" y="145992"/>
                    </a:lnTo>
                    <a:lnTo>
                      <a:pt x="135756" y="139760"/>
                    </a:lnTo>
                    <a:lnTo>
                      <a:pt x="132134" y="116224"/>
                    </a:lnTo>
                    <a:lnTo>
                      <a:pt x="95250" y="121899"/>
                    </a:lnTo>
                    <a:lnTo>
                      <a:pt x="58365" y="116224"/>
                    </a:lnTo>
                    <a:lnTo>
                      <a:pt x="54744" y="139760"/>
                    </a:lnTo>
                    <a:close/>
                    <a:moveTo>
                      <a:pt x="83344" y="80367"/>
                    </a:moveTo>
                    <a:cubicBezTo>
                      <a:pt x="83344" y="88587"/>
                      <a:pt x="76681" y="95250"/>
                      <a:pt x="68461" y="95250"/>
                    </a:cubicBezTo>
                    <a:cubicBezTo>
                      <a:pt x="60241" y="95250"/>
                      <a:pt x="53578" y="88587"/>
                      <a:pt x="53578" y="80367"/>
                    </a:cubicBezTo>
                    <a:cubicBezTo>
                      <a:pt x="53578" y="72148"/>
                      <a:pt x="60241" y="65484"/>
                      <a:pt x="68461" y="65484"/>
                    </a:cubicBezTo>
                    <a:cubicBezTo>
                      <a:pt x="76681" y="65484"/>
                      <a:pt x="83344" y="72148"/>
                      <a:pt x="83344" y="80367"/>
                    </a:cubicBezTo>
                    <a:close/>
                    <a:moveTo>
                      <a:pt x="122039" y="95250"/>
                    </a:moveTo>
                    <a:cubicBezTo>
                      <a:pt x="130259" y="95250"/>
                      <a:pt x="136922" y="88587"/>
                      <a:pt x="136922" y="80367"/>
                    </a:cubicBezTo>
                    <a:cubicBezTo>
                      <a:pt x="136922" y="72148"/>
                      <a:pt x="130259" y="65484"/>
                      <a:pt x="122039" y="65484"/>
                    </a:cubicBezTo>
                    <a:cubicBezTo>
                      <a:pt x="113819" y="65484"/>
                      <a:pt x="107156" y="72148"/>
                      <a:pt x="107156" y="80367"/>
                    </a:cubicBezTo>
                    <a:cubicBezTo>
                      <a:pt x="107156" y="88587"/>
                      <a:pt x="113819" y="95250"/>
                      <a:pt x="122039" y="9525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txBox="1"/>
              <p:nvPr/>
            </p:nvSpPr>
            <p:spPr>
              <a:xfrm>
                <a:off x="5756910" y="1880235"/>
                <a:ext cx="1274826"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Random Forest</a:t>
                </a:r>
                <a:endParaRPr/>
              </a:p>
            </p:txBody>
          </p:sp>
        </p:grpSp>
      </p:grpSp>
      <p:grpSp>
        <p:nvGrpSpPr>
          <p:cNvPr id="603" name="Google Shape;603;p11"/>
          <p:cNvGrpSpPr/>
          <p:nvPr/>
        </p:nvGrpSpPr>
        <p:grpSpPr>
          <a:xfrm>
            <a:off x="1714500" y="2400300"/>
            <a:ext cx="8763000" cy="2466975"/>
            <a:chOff x="1714500" y="2400300"/>
            <a:chExt cx="8763000" cy="2466975"/>
          </a:xfrm>
        </p:grpSpPr>
        <p:sp>
          <p:nvSpPr>
            <p:cNvPr id="604" name="Google Shape;604;p11"/>
            <p:cNvSpPr/>
            <p:nvPr/>
          </p:nvSpPr>
          <p:spPr>
            <a:xfrm>
              <a:off x="1714500" y="2400300"/>
              <a:ext cx="8763000" cy="514350"/>
            </a:xfrm>
            <a:custGeom>
              <a:rect b="b" l="l" r="r" t="t"/>
              <a:pathLst>
                <a:path extrusionOk="0" h="514350" w="8763000">
                  <a:moveTo>
                    <a:pt x="76200" y="0"/>
                  </a:moveTo>
                  <a:lnTo>
                    <a:pt x="8686800" y="0"/>
                  </a:lnTo>
                  <a:cubicBezTo>
                    <a:pt x="8728884" y="0"/>
                    <a:pt x="8763000" y="34116"/>
                    <a:pt x="8763000" y="76200"/>
                  </a:cubicBezTo>
                  <a:lnTo>
                    <a:pt x="8763000" y="438150"/>
                  </a:lnTo>
                  <a:cubicBezTo>
                    <a:pt x="8763000" y="480234"/>
                    <a:pt x="8728884" y="514350"/>
                    <a:pt x="8686800" y="514350"/>
                  </a:cubicBezTo>
                  <a:lnTo>
                    <a:pt x="76200" y="514350"/>
                  </a:lnTo>
                  <a:cubicBezTo>
                    <a:pt x="34116" y="514350"/>
                    <a:pt x="0" y="480234"/>
                    <a:pt x="0" y="438150"/>
                  </a:cubicBezTo>
                  <a:lnTo>
                    <a:pt x="0" y="76200"/>
                  </a:lnTo>
                  <a:cubicBezTo>
                    <a:pt x="0" y="34116"/>
                    <a:pt x="34116" y="0"/>
                    <a:pt x="7620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txBox="1"/>
            <p:nvPr/>
          </p:nvSpPr>
          <p:spPr>
            <a:xfrm>
              <a:off x="2004060" y="2594610"/>
              <a:ext cx="527342"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00" u="none" cap="none" strike="noStrike">
                  <a:solidFill>
                    <a:srgbClr val="FFFFFF"/>
                  </a:solidFill>
                  <a:latin typeface="Quattrocento Sans"/>
                  <a:ea typeface="Quattrocento Sans"/>
                  <a:cs typeface="Quattrocento Sans"/>
                  <a:sym typeface="Quattrocento Sans"/>
                </a:rPr>
                <a:t>Model</a:t>
              </a:r>
              <a:endParaRPr/>
            </a:p>
          </p:txBody>
        </p:sp>
        <p:sp>
          <p:nvSpPr>
            <p:cNvPr id="606" name="Google Shape;606;p11"/>
            <p:cNvSpPr txBox="1"/>
            <p:nvPr/>
          </p:nvSpPr>
          <p:spPr>
            <a:xfrm>
              <a:off x="6947459" y="2594610"/>
              <a:ext cx="840181" cy="2438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200" u="none" cap="none" strike="noStrike">
                  <a:solidFill>
                    <a:srgbClr val="FFFFFF"/>
                  </a:solidFill>
                  <a:latin typeface="Quattrocento Sans"/>
                  <a:ea typeface="Quattrocento Sans"/>
                  <a:cs typeface="Quattrocento Sans"/>
                  <a:sym typeface="Quattrocento Sans"/>
                </a:rPr>
                <a:t>Accuracy</a:t>
              </a:r>
              <a:endParaRPr/>
            </a:p>
          </p:txBody>
        </p:sp>
        <p:sp>
          <p:nvSpPr>
            <p:cNvPr id="607" name="Google Shape;607;p11"/>
            <p:cNvSpPr txBox="1"/>
            <p:nvPr/>
          </p:nvSpPr>
          <p:spPr>
            <a:xfrm>
              <a:off x="9515970" y="2594610"/>
              <a:ext cx="748170" cy="2438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200" u="none" cap="none" strike="noStrike">
                  <a:solidFill>
                    <a:srgbClr val="FFFFFF"/>
                  </a:solidFill>
                  <a:latin typeface="Quattrocento Sans"/>
                  <a:ea typeface="Quattrocento Sans"/>
                  <a:cs typeface="Quattrocento Sans"/>
                  <a:sym typeface="Quattrocento Sans"/>
                </a:rPr>
                <a:t>F1 Score</a:t>
              </a:r>
              <a:endParaRPr/>
            </a:p>
          </p:txBody>
        </p:sp>
        <p:sp>
          <p:nvSpPr>
            <p:cNvPr id="608" name="Google Shape;608;p11"/>
            <p:cNvSpPr/>
            <p:nvPr/>
          </p:nvSpPr>
          <p:spPr>
            <a:xfrm>
              <a:off x="1714500" y="2914650"/>
              <a:ext cx="8763000" cy="647700"/>
            </a:xfrm>
            <a:prstGeom prst="rect">
              <a:avLst/>
            </a:pr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1"/>
            <p:cNvSpPr txBox="1"/>
            <p:nvPr/>
          </p:nvSpPr>
          <p:spPr>
            <a:xfrm>
              <a:off x="2002155" y="3168968"/>
              <a:ext cx="199068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Logistic Regression</a:t>
              </a:r>
              <a:endParaRPr/>
            </a:p>
          </p:txBody>
        </p:sp>
        <p:sp>
          <p:nvSpPr>
            <p:cNvPr id="610" name="Google Shape;610;p11"/>
            <p:cNvSpPr txBox="1"/>
            <p:nvPr/>
          </p:nvSpPr>
          <p:spPr>
            <a:xfrm>
              <a:off x="7153894" y="3168968"/>
              <a:ext cx="635651"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91.35%</a:t>
              </a:r>
              <a:endParaRPr/>
            </a:p>
          </p:txBody>
        </p:sp>
        <p:sp>
          <p:nvSpPr>
            <p:cNvPr id="611" name="Google Shape;611;p11"/>
            <p:cNvSpPr txBox="1"/>
            <p:nvPr/>
          </p:nvSpPr>
          <p:spPr>
            <a:xfrm>
              <a:off x="9581102" y="3168968"/>
              <a:ext cx="684943"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92.60%</a:t>
              </a:r>
              <a:endParaRPr/>
            </a:p>
          </p:txBody>
        </p:sp>
        <p:sp>
          <p:nvSpPr>
            <p:cNvPr id="612" name="Google Shape;612;p11"/>
            <p:cNvSpPr/>
            <p:nvPr/>
          </p:nvSpPr>
          <p:spPr>
            <a:xfrm>
              <a:off x="1714500" y="3562350"/>
              <a:ext cx="8763000" cy="9525"/>
            </a:xfrm>
            <a:custGeom>
              <a:rect b="b" l="l" r="r" t="t"/>
              <a:pathLst>
                <a:path extrusionOk="0" h="9525" w="8763000">
                  <a:moveTo>
                    <a:pt x="0" y="0"/>
                  </a:moveTo>
                  <a:lnTo>
                    <a:pt x="8763000" y="0"/>
                  </a:lnTo>
                </a:path>
              </a:pathLst>
            </a:custGeom>
            <a:noFill/>
            <a:ln cap="flat" cmpd="sng" w="9525">
              <a:solidFill>
                <a:srgbClr val="E3E8EF"/>
              </a:solidFill>
              <a:prstDash val="solid"/>
              <a:round/>
              <a:headEnd len="sm" w="sm" type="none"/>
              <a:tailEnd len="sm" w="sm" type="none"/>
            </a:ln>
          </p:spPr>
        </p:sp>
        <p:sp>
          <p:nvSpPr>
            <p:cNvPr id="613" name="Google Shape;613;p11"/>
            <p:cNvSpPr/>
            <p:nvPr/>
          </p:nvSpPr>
          <p:spPr>
            <a:xfrm>
              <a:off x="1714500" y="3562350"/>
              <a:ext cx="87630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1"/>
            <p:cNvSpPr txBox="1"/>
            <p:nvPr/>
          </p:nvSpPr>
          <p:spPr>
            <a:xfrm>
              <a:off x="2002155" y="3816668"/>
              <a:ext cx="1359256"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Decision Tree</a:t>
              </a:r>
              <a:endParaRPr/>
            </a:p>
          </p:txBody>
        </p:sp>
        <p:sp>
          <p:nvSpPr>
            <p:cNvPr id="615" name="Google Shape;615;p11"/>
            <p:cNvSpPr txBox="1"/>
            <p:nvPr/>
          </p:nvSpPr>
          <p:spPr>
            <a:xfrm>
              <a:off x="7104602" y="3816668"/>
              <a:ext cx="684943"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85.90%</a:t>
              </a:r>
              <a:endParaRPr/>
            </a:p>
          </p:txBody>
        </p:sp>
        <p:sp>
          <p:nvSpPr>
            <p:cNvPr id="616" name="Google Shape;616;p11"/>
            <p:cNvSpPr txBox="1"/>
            <p:nvPr/>
          </p:nvSpPr>
          <p:spPr>
            <a:xfrm>
              <a:off x="9581102" y="3816668"/>
              <a:ext cx="684943"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87.70%</a:t>
              </a:r>
              <a:endParaRPr/>
            </a:p>
          </p:txBody>
        </p:sp>
        <p:sp>
          <p:nvSpPr>
            <p:cNvPr id="617" name="Google Shape;617;p11"/>
            <p:cNvSpPr/>
            <p:nvPr/>
          </p:nvSpPr>
          <p:spPr>
            <a:xfrm>
              <a:off x="1714500" y="4210050"/>
              <a:ext cx="8763000" cy="9525"/>
            </a:xfrm>
            <a:custGeom>
              <a:rect b="b" l="l" r="r" t="t"/>
              <a:pathLst>
                <a:path extrusionOk="0" h="9525" w="8763000">
                  <a:moveTo>
                    <a:pt x="0" y="0"/>
                  </a:moveTo>
                  <a:lnTo>
                    <a:pt x="8763000" y="0"/>
                  </a:lnTo>
                </a:path>
              </a:pathLst>
            </a:custGeom>
            <a:noFill/>
            <a:ln cap="flat" cmpd="sng" w="9525">
              <a:solidFill>
                <a:srgbClr val="E3E8EF"/>
              </a:solidFill>
              <a:prstDash val="solid"/>
              <a:round/>
              <a:headEnd len="sm" w="sm" type="none"/>
              <a:tailEnd len="sm" w="sm" type="none"/>
            </a:ln>
          </p:spPr>
        </p:sp>
        <p:sp>
          <p:nvSpPr>
            <p:cNvPr id="618" name="Google Shape;618;p11"/>
            <p:cNvSpPr/>
            <p:nvPr/>
          </p:nvSpPr>
          <p:spPr>
            <a:xfrm>
              <a:off x="1714500" y="4210050"/>
              <a:ext cx="8763000" cy="647700"/>
            </a:xfrm>
            <a:prstGeom prst="rect">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1714500" y="4210050"/>
              <a:ext cx="57150" cy="647700"/>
            </a:xfrm>
            <a:prstGeom prst="rect">
              <a:avLst/>
            </a:pr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txBox="1"/>
            <p:nvPr/>
          </p:nvSpPr>
          <p:spPr>
            <a:xfrm>
              <a:off x="2002155" y="4464368"/>
              <a:ext cx="150417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565C0"/>
                  </a:solidFill>
                  <a:latin typeface="Quattrocento Sans"/>
                  <a:ea typeface="Quattrocento Sans"/>
                  <a:cs typeface="Quattrocento Sans"/>
                  <a:sym typeface="Quattrocento Sans"/>
                </a:rPr>
                <a:t>Random Forest</a:t>
              </a:r>
              <a:endParaRPr/>
            </a:p>
          </p:txBody>
        </p:sp>
        <p:sp>
          <p:nvSpPr>
            <p:cNvPr id="621" name="Google Shape;621;p11"/>
            <p:cNvSpPr/>
            <p:nvPr/>
          </p:nvSpPr>
          <p:spPr>
            <a:xfrm>
              <a:off x="6667500" y="4343400"/>
              <a:ext cx="495300" cy="190500"/>
            </a:xfrm>
            <a:custGeom>
              <a:rect b="b" l="l" r="r" t="t"/>
              <a:pathLst>
                <a:path extrusionOk="0" h="190500" w="495300">
                  <a:moveTo>
                    <a:pt x="95250" y="0"/>
                  </a:moveTo>
                  <a:lnTo>
                    <a:pt x="400050" y="0"/>
                  </a:lnTo>
                  <a:cubicBezTo>
                    <a:pt x="452655" y="0"/>
                    <a:pt x="495300" y="42645"/>
                    <a:pt x="495300" y="95250"/>
                  </a:cubicBezTo>
                  <a:lnTo>
                    <a:pt x="495300" y="95250"/>
                  </a:lnTo>
                  <a:cubicBezTo>
                    <a:pt x="495300" y="147855"/>
                    <a:pt x="452655" y="190500"/>
                    <a:pt x="400050" y="190500"/>
                  </a:cubicBezTo>
                  <a:lnTo>
                    <a:pt x="95250" y="190500"/>
                  </a:lnTo>
                  <a:cubicBezTo>
                    <a:pt x="42645" y="190500"/>
                    <a:pt x="0" y="147855"/>
                    <a:pt x="0" y="95250"/>
                  </a:cubicBezTo>
                  <a:lnTo>
                    <a:pt x="0" y="95250"/>
                  </a:lnTo>
                  <a:cubicBezTo>
                    <a:pt x="0" y="42645"/>
                    <a:pt x="42645" y="0"/>
                    <a:pt x="95250"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txBox="1"/>
            <p:nvPr/>
          </p:nvSpPr>
          <p:spPr>
            <a:xfrm>
              <a:off x="6765505" y="4397216"/>
              <a:ext cx="299290" cy="167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825" u="none" cap="none" strike="noStrike">
                  <a:solidFill>
                    <a:srgbClr val="FFFFFF"/>
                  </a:solidFill>
                  <a:latin typeface="Quattrocento Sans"/>
                  <a:ea typeface="Quattrocento Sans"/>
                  <a:cs typeface="Quattrocento Sans"/>
                  <a:sym typeface="Quattrocento Sans"/>
                </a:rPr>
                <a:t>BEST</a:t>
              </a:r>
              <a:endParaRPr/>
            </a:p>
          </p:txBody>
        </p:sp>
        <p:sp>
          <p:nvSpPr>
            <p:cNvPr id="623" name="Google Shape;623;p11"/>
            <p:cNvSpPr txBox="1"/>
            <p:nvPr/>
          </p:nvSpPr>
          <p:spPr>
            <a:xfrm>
              <a:off x="7072070" y="4464368"/>
              <a:ext cx="717475"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350" u="none" cap="none" strike="noStrike">
                  <a:solidFill>
                    <a:srgbClr val="1565C0"/>
                  </a:solidFill>
                  <a:latin typeface="Quattrocento Sans"/>
                  <a:ea typeface="Quattrocento Sans"/>
                  <a:cs typeface="Quattrocento Sans"/>
                  <a:sym typeface="Quattrocento Sans"/>
                </a:rPr>
                <a:t>92.05%</a:t>
              </a:r>
              <a:endParaRPr/>
            </a:p>
          </p:txBody>
        </p:sp>
        <p:sp>
          <p:nvSpPr>
            <p:cNvPr id="624" name="Google Shape;624;p11"/>
            <p:cNvSpPr txBox="1"/>
            <p:nvPr/>
          </p:nvSpPr>
          <p:spPr>
            <a:xfrm>
              <a:off x="9548570" y="4464368"/>
              <a:ext cx="717475"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350" u="none" cap="none" strike="noStrike">
                  <a:solidFill>
                    <a:srgbClr val="1565C0"/>
                  </a:solidFill>
                  <a:latin typeface="Quattrocento Sans"/>
                  <a:ea typeface="Quattrocento Sans"/>
                  <a:cs typeface="Quattrocento Sans"/>
                  <a:sym typeface="Quattrocento Sans"/>
                </a:rPr>
                <a:t>93.25%</a:t>
              </a:r>
              <a:endParaRPr/>
            </a:p>
          </p:txBody>
        </p:sp>
        <p:sp>
          <p:nvSpPr>
            <p:cNvPr id="625" name="Google Shape;625;p11"/>
            <p:cNvSpPr/>
            <p:nvPr/>
          </p:nvSpPr>
          <p:spPr>
            <a:xfrm>
              <a:off x="1714500" y="4857750"/>
              <a:ext cx="8763000" cy="9525"/>
            </a:xfrm>
            <a:custGeom>
              <a:rect b="b" l="l" r="r" t="t"/>
              <a:pathLst>
                <a:path extrusionOk="0" h="9525" w="8763000">
                  <a:moveTo>
                    <a:pt x="0" y="0"/>
                  </a:moveTo>
                  <a:lnTo>
                    <a:pt x="8763000" y="0"/>
                  </a:lnTo>
                </a:path>
              </a:pathLst>
            </a:custGeom>
            <a:noFill/>
            <a:ln cap="flat" cmpd="sng" w="19050">
              <a:solidFill>
                <a:srgbClr val="1565C0"/>
              </a:solidFill>
              <a:prstDash val="solid"/>
              <a:round/>
              <a:headEnd len="sm" w="sm" type="none"/>
              <a:tailEnd len="sm" w="sm" type="none"/>
            </a:ln>
          </p:spPr>
        </p:sp>
      </p:grpSp>
      <p:grpSp>
        <p:nvGrpSpPr>
          <p:cNvPr id="626" name="Google Shape;626;p11"/>
          <p:cNvGrpSpPr/>
          <p:nvPr/>
        </p:nvGrpSpPr>
        <p:grpSpPr>
          <a:xfrm>
            <a:off x="1714500" y="5105400"/>
            <a:ext cx="8763000" cy="876300"/>
            <a:chOff x="1714500" y="5105400"/>
            <a:chExt cx="8763000" cy="876300"/>
          </a:xfrm>
        </p:grpSpPr>
        <p:sp>
          <p:nvSpPr>
            <p:cNvPr id="627" name="Google Shape;627;p11"/>
            <p:cNvSpPr/>
            <p:nvPr/>
          </p:nvSpPr>
          <p:spPr>
            <a:xfrm>
              <a:off x="1714500" y="5105400"/>
              <a:ext cx="8763000" cy="876300"/>
            </a:xfrm>
            <a:custGeom>
              <a:rect b="b" l="l" r="r" t="t"/>
              <a:pathLst>
                <a:path extrusionOk="0" h="876300" w="8763000">
                  <a:moveTo>
                    <a:pt x="95250" y="0"/>
                  </a:moveTo>
                  <a:lnTo>
                    <a:pt x="8667750" y="0"/>
                  </a:lnTo>
                  <a:cubicBezTo>
                    <a:pt x="8720355" y="0"/>
                    <a:pt x="8763000" y="42645"/>
                    <a:pt x="8763000" y="95250"/>
                  </a:cubicBezTo>
                  <a:lnTo>
                    <a:pt x="8763000" y="781050"/>
                  </a:lnTo>
                  <a:cubicBezTo>
                    <a:pt x="8763000" y="833655"/>
                    <a:pt x="8720355" y="876300"/>
                    <a:pt x="8667750" y="876300"/>
                  </a:cubicBezTo>
                  <a:lnTo>
                    <a:pt x="95250" y="876300"/>
                  </a:lnTo>
                  <a:cubicBezTo>
                    <a:pt x="42645" y="876300"/>
                    <a:pt x="0" y="833655"/>
                    <a:pt x="0" y="781050"/>
                  </a:cubicBezTo>
                  <a:lnTo>
                    <a:pt x="0" y="95250"/>
                  </a:lnTo>
                  <a:cubicBezTo>
                    <a:pt x="0" y="42645"/>
                    <a:pt x="42645" y="0"/>
                    <a:pt x="9525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1"/>
            <p:cNvSpPr/>
            <p:nvPr/>
          </p:nvSpPr>
          <p:spPr>
            <a:xfrm>
              <a:off x="1714500" y="5105400"/>
              <a:ext cx="57150" cy="876300"/>
            </a:xfrm>
            <a:custGeom>
              <a:rect b="b" l="l" r="r" t="t"/>
              <a:pathLst>
                <a:path extrusionOk="0" h="876300" w="57150">
                  <a:moveTo>
                    <a:pt x="28575" y="0"/>
                  </a:moveTo>
                  <a:lnTo>
                    <a:pt x="28575" y="0"/>
                  </a:lnTo>
                  <a:cubicBezTo>
                    <a:pt x="44357" y="0"/>
                    <a:pt x="57150" y="12793"/>
                    <a:pt x="57150" y="28575"/>
                  </a:cubicBezTo>
                  <a:lnTo>
                    <a:pt x="57150" y="847725"/>
                  </a:lnTo>
                  <a:cubicBezTo>
                    <a:pt x="57150" y="863507"/>
                    <a:pt x="44357" y="876300"/>
                    <a:pt x="28575" y="876300"/>
                  </a:cubicBezTo>
                  <a:lnTo>
                    <a:pt x="28575" y="876300"/>
                  </a:lnTo>
                  <a:cubicBezTo>
                    <a:pt x="12793" y="876300"/>
                    <a:pt x="0" y="863507"/>
                    <a:pt x="0" y="8477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1981200" y="5295900"/>
              <a:ext cx="247650" cy="247650"/>
            </a:xfrm>
            <a:custGeom>
              <a:rect b="b" l="l" r="r" t="t"/>
              <a:pathLst>
                <a:path extrusionOk="0" h="247650" w="247650">
                  <a:moveTo>
                    <a:pt x="123825" y="247650"/>
                  </a:moveTo>
                  <a:cubicBezTo>
                    <a:pt x="192212" y="247650"/>
                    <a:pt x="247650" y="192212"/>
                    <a:pt x="247650" y="123825"/>
                  </a:cubicBezTo>
                  <a:cubicBezTo>
                    <a:pt x="247650" y="55438"/>
                    <a:pt x="192212" y="0"/>
                    <a:pt x="123825" y="0"/>
                  </a:cubicBezTo>
                  <a:cubicBezTo>
                    <a:pt x="55438" y="0"/>
                    <a:pt x="0" y="55438"/>
                    <a:pt x="0" y="123825"/>
                  </a:cubicBezTo>
                  <a:cubicBezTo>
                    <a:pt x="0" y="192212"/>
                    <a:pt x="55438" y="247650"/>
                    <a:pt x="123825" y="247650"/>
                  </a:cubicBezTo>
                  <a:close/>
                  <a:moveTo>
                    <a:pt x="196682" y="88335"/>
                  </a:moveTo>
                  <a:lnTo>
                    <a:pt x="174793" y="66446"/>
                  </a:lnTo>
                  <a:lnTo>
                    <a:pt x="100608" y="140631"/>
                  </a:lnTo>
                  <a:lnTo>
                    <a:pt x="72857" y="112880"/>
                  </a:lnTo>
                  <a:lnTo>
                    <a:pt x="50968" y="134770"/>
                  </a:lnTo>
                  <a:lnTo>
                    <a:pt x="100608" y="184409"/>
                  </a:lnTo>
                  <a:lnTo>
                    <a:pt x="196682" y="88335"/>
                  </a:ln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txBox="1"/>
            <p:nvPr/>
          </p:nvSpPr>
          <p:spPr>
            <a:xfrm>
              <a:off x="2326958" y="5367814"/>
              <a:ext cx="1479266"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75" u="none" cap="none" strike="noStrike">
                  <a:solidFill>
                    <a:srgbClr val="1F2933"/>
                  </a:solidFill>
                  <a:latin typeface="Quattrocento Sans"/>
                  <a:ea typeface="Quattrocento Sans"/>
                  <a:cs typeface="Quattrocento Sans"/>
                  <a:sym typeface="Quattrocento Sans"/>
                </a:rPr>
                <a:t>My observation</a:t>
              </a:r>
              <a:endParaRPr/>
            </a:p>
          </p:txBody>
        </p:sp>
        <p:sp>
          <p:nvSpPr>
            <p:cNvPr id="631" name="Google Shape;631;p11"/>
            <p:cNvSpPr txBox="1"/>
            <p:nvPr/>
          </p:nvSpPr>
          <p:spPr>
            <a:xfrm>
              <a:off x="2326958" y="5634514"/>
              <a:ext cx="7946469" cy="259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75" u="none" cap="none" strike="noStrike">
                  <a:solidFill>
                    <a:srgbClr val="52606D"/>
                  </a:solidFill>
                  <a:latin typeface="Quattrocento Sans"/>
                  <a:ea typeface="Quattrocento Sans"/>
                  <a:cs typeface="Quattrocento Sans"/>
                  <a:sym typeface="Quattrocento Sans"/>
                </a:rPr>
                <a:t>Random Forest gave the highest accuracy and F1 score, so I used it for the next stage.</a:t>
              </a:r>
              <a:endParaRPr/>
            </a:p>
          </p:txBody>
        </p:sp>
      </p:grpSp>
      <p:grpSp>
        <p:nvGrpSpPr>
          <p:cNvPr id="632" name="Google Shape;632;p11"/>
          <p:cNvGrpSpPr/>
          <p:nvPr/>
        </p:nvGrpSpPr>
        <p:grpSpPr>
          <a:xfrm>
            <a:off x="561022" y="6381750"/>
            <a:ext cx="11069955" cy="345281"/>
            <a:chOff x="561022" y="6381750"/>
            <a:chExt cx="11069955" cy="345281"/>
          </a:xfrm>
        </p:grpSpPr>
        <p:sp>
          <p:nvSpPr>
            <p:cNvPr id="633" name="Google Shape;633;p11"/>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634" name="Google Shape;634;p11"/>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635" name="Google Shape;635;p11"/>
            <p:cNvSpPr txBox="1"/>
            <p:nvPr/>
          </p:nvSpPr>
          <p:spPr>
            <a:xfrm>
              <a:off x="11296745" y="6559391"/>
              <a:ext cx="334232"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11 / 18</a:t>
              </a:r>
              <a:endParaRPr/>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2"/>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2"/>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12"/>
          <p:cNvGrpSpPr/>
          <p:nvPr/>
        </p:nvGrpSpPr>
        <p:grpSpPr>
          <a:xfrm>
            <a:off x="541020" y="426720"/>
            <a:ext cx="3594202" cy="697230"/>
            <a:chOff x="541020" y="426720"/>
            <a:chExt cx="3594202" cy="697230"/>
          </a:xfrm>
        </p:grpSpPr>
        <p:sp>
          <p:nvSpPr>
            <p:cNvPr id="643" name="Google Shape;643;p12"/>
            <p:cNvSpPr txBox="1"/>
            <p:nvPr/>
          </p:nvSpPr>
          <p:spPr>
            <a:xfrm>
              <a:off x="541020" y="426720"/>
              <a:ext cx="3594202"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Feature Importance</a:t>
              </a:r>
              <a:endParaRPr/>
            </a:p>
          </p:txBody>
        </p:sp>
        <p:sp>
          <p:nvSpPr>
            <p:cNvPr id="644" name="Google Shape;644;p12"/>
            <p:cNvSpPr txBox="1"/>
            <p:nvPr/>
          </p:nvSpPr>
          <p:spPr>
            <a:xfrm>
              <a:off x="554355" y="806768"/>
              <a:ext cx="310024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Which features mattered most?</a:t>
              </a:r>
              <a:endParaRPr/>
            </a:p>
          </p:txBody>
        </p:sp>
        <p:sp>
          <p:nvSpPr>
            <p:cNvPr id="645" name="Google Shape;645;p12"/>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12"/>
          <p:cNvGrpSpPr/>
          <p:nvPr/>
        </p:nvGrpSpPr>
        <p:grpSpPr>
          <a:xfrm>
            <a:off x="557212" y="1581150"/>
            <a:ext cx="10505123" cy="3712369"/>
            <a:chOff x="557212" y="1581150"/>
            <a:chExt cx="10505123" cy="3712369"/>
          </a:xfrm>
        </p:grpSpPr>
        <p:sp>
          <p:nvSpPr>
            <p:cNvPr id="647" name="Google Shape;647;p12"/>
            <p:cNvSpPr txBox="1"/>
            <p:nvPr/>
          </p:nvSpPr>
          <p:spPr>
            <a:xfrm>
              <a:off x="557212" y="1602581"/>
              <a:ext cx="133481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Monthly Charges</a:t>
              </a:r>
              <a:endParaRPr/>
            </a:p>
          </p:txBody>
        </p:sp>
        <p:sp>
          <p:nvSpPr>
            <p:cNvPr id="648" name="Google Shape;648;p12"/>
            <p:cNvSpPr/>
            <p:nvPr/>
          </p:nvSpPr>
          <p:spPr>
            <a:xfrm>
              <a:off x="2571750" y="15811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2"/>
            <p:cNvSpPr/>
            <p:nvPr/>
          </p:nvSpPr>
          <p:spPr>
            <a:xfrm>
              <a:off x="2571750" y="15811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gradFill>
              <a:gsLst>
                <a:gs pos="0">
                  <a:srgbClr val="1565C0"/>
                </a:gs>
                <a:gs pos="100000">
                  <a:srgbClr val="42A5F5"/>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2"/>
            <p:cNvSpPr txBox="1"/>
            <p:nvPr/>
          </p:nvSpPr>
          <p:spPr>
            <a:xfrm>
              <a:off x="10681421" y="1620202"/>
              <a:ext cx="38091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0.22</a:t>
              </a:r>
              <a:endParaRPr/>
            </a:p>
          </p:txBody>
        </p:sp>
        <p:sp>
          <p:nvSpPr>
            <p:cNvPr id="651" name="Google Shape;651;p12"/>
            <p:cNvSpPr txBox="1"/>
            <p:nvPr/>
          </p:nvSpPr>
          <p:spPr>
            <a:xfrm>
              <a:off x="557212" y="1945481"/>
              <a:ext cx="1121212"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Total Charges</a:t>
              </a:r>
              <a:endParaRPr/>
            </a:p>
          </p:txBody>
        </p:sp>
        <p:sp>
          <p:nvSpPr>
            <p:cNvPr id="652" name="Google Shape;652;p12"/>
            <p:cNvSpPr/>
            <p:nvPr/>
          </p:nvSpPr>
          <p:spPr>
            <a:xfrm>
              <a:off x="2571750" y="19240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2"/>
            <p:cNvSpPr/>
            <p:nvPr/>
          </p:nvSpPr>
          <p:spPr>
            <a:xfrm>
              <a:off x="2571750" y="1924050"/>
              <a:ext cx="7620000" cy="209550"/>
            </a:xfrm>
            <a:custGeom>
              <a:rect b="b" l="l" r="r" t="t"/>
              <a:pathLst>
                <a:path extrusionOk="0" h="209550" w="7620000">
                  <a:moveTo>
                    <a:pt x="38100" y="0"/>
                  </a:moveTo>
                  <a:lnTo>
                    <a:pt x="7581900" y="0"/>
                  </a:lnTo>
                  <a:cubicBezTo>
                    <a:pt x="7602942" y="0"/>
                    <a:pt x="7620000" y="17058"/>
                    <a:pt x="7620000" y="38100"/>
                  </a:cubicBezTo>
                  <a:lnTo>
                    <a:pt x="7620000" y="171450"/>
                  </a:lnTo>
                  <a:cubicBezTo>
                    <a:pt x="7620000" y="192492"/>
                    <a:pt x="7602942" y="209550"/>
                    <a:pt x="7581900" y="209550"/>
                  </a:cubicBezTo>
                  <a:lnTo>
                    <a:pt x="38100" y="209550"/>
                  </a:lnTo>
                  <a:cubicBezTo>
                    <a:pt x="17058" y="209550"/>
                    <a:pt x="0" y="192492"/>
                    <a:pt x="0" y="171450"/>
                  </a:cubicBezTo>
                  <a:lnTo>
                    <a:pt x="0" y="38100"/>
                  </a:lnTo>
                  <a:cubicBezTo>
                    <a:pt x="0" y="17058"/>
                    <a:pt x="17058" y="0"/>
                    <a:pt x="3810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2"/>
            <p:cNvSpPr txBox="1"/>
            <p:nvPr/>
          </p:nvSpPr>
          <p:spPr>
            <a:xfrm>
              <a:off x="9959676" y="1963102"/>
              <a:ext cx="340659"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0.19</a:t>
              </a:r>
              <a:endParaRPr/>
            </a:p>
          </p:txBody>
        </p:sp>
        <p:sp>
          <p:nvSpPr>
            <p:cNvPr id="655" name="Google Shape;655;p12"/>
            <p:cNvSpPr txBox="1"/>
            <p:nvPr/>
          </p:nvSpPr>
          <p:spPr>
            <a:xfrm>
              <a:off x="557212" y="2288381"/>
              <a:ext cx="570786"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Tenure</a:t>
              </a:r>
              <a:endParaRPr/>
            </a:p>
          </p:txBody>
        </p:sp>
        <p:sp>
          <p:nvSpPr>
            <p:cNvPr id="656" name="Google Shape;656;p12"/>
            <p:cNvSpPr/>
            <p:nvPr/>
          </p:nvSpPr>
          <p:spPr>
            <a:xfrm>
              <a:off x="2571750" y="22669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2"/>
            <p:cNvSpPr/>
            <p:nvPr/>
          </p:nvSpPr>
          <p:spPr>
            <a:xfrm>
              <a:off x="2571750" y="2266950"/>
              <a:ext cx="6858000" cy="209550"/>
            </a:xfrm>
            <a:custGeom>
              <a:rect b="b" l="l" r="r" t="t"/>
              <a:pathLst>
                <a:path extrusionOk="0" h="209550" w="6858000">
                  <a:moveTo>
                    <a:pt x="38100" y="0"/>
                  </a:moveTo>
                  <a:lnTo>
                    <a:pt x="6819900" y="0"/>
                  </a:lnTo>
                  <a:cubicBezTo>
                    <a:pt x="6840942" y="0"/>
                    <a:pt x="6858000" y="17058"/>
                    <a:pt x="6858000" y="38100"/>
                  </a:cubicBezTo>
                  <a:lnTo>
                    <a:pt x="6858000" y="171450"/>
                  </a:lnTo>
                  <a:cubicBezTo>
                    <a:pt x="6858000" y="192492"/>
                    <a:pt x="6840942" y="209550"/>
                    <a:pt x="6819900" y="209550"/>
                  </a:cubicBezTo>
                  <a:lnTo>
                    <a:pt x="38100" y="209550"/>
                  </a:lnTo>
                  <a:cubicBezTo>
                    <a:pt x="17058" y="209550"/>
                    <a:pt x="0" y="192492"/>
                    <a:pt x="0" y="171450"/>
                  </a:cubicBezTo>
                  <a:lnTo>
                    <a:pt x="0" y="38100"/>
                  </a:lnTo>
                  <a:cubicBezTo>
                    <a:pt x="0" y="17058"/>
                    <a:pt x="17058" y="0"/>
                    <a:pt x="3810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9197676" y="2306002"/>
              <a:ext cx="340659"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0.17</a:t>
              </a:r>
              <a:endParaRPr/>
            </a:p>
          </p:txBody>
        </p:sp>
        <p:sp>
          <p:nvSpPr>
            <p:cNvPr id="659" name="Google Shape;659;p12"/>
            <p:cNvSpPr txBox="1"/>
            <p:nvPr/>
          </p:nvSpPr>
          <p:spPr>
            <a:xfrm>
              <a:off x="557212" y="2631281"/>
              <a:ext cx="981551"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Usage Hours</a:t>
              </a:r>
              <a:endParaRPr/>
            </a:p>
          </p:txBody>
        </p:sp>
        <p:sp>
          <p:nvSpPr>
            <p:cNvPr id="660" name="Google Shape;660;p12"/>
            <p:cNvSpPr/>
            <p:nvPr/>
          </p:nvSpPr>
          <p:spPr>
            <a:xfrm>
              <a:off x="2571750" y="26098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p:nvPr/>
          </p:nvSpPr>
          <p:spPr>
            <a:xfrm>
              <a:off x="2571750" y="2609850"/>
              <a:ext cx="6096000" cy="209550"/>
            </a:xfrm>
            <a:custGeom>
              <a:rect b="b" l="l" r="r" t="t"/>
              <a:pathLst>
                <a:path extrusionOk="0" h="209550" w="6096000">
                  <a:moveTo>
                    <a:pt x="38100" y="0"/>
                  </a:moveTo>
                  <a:lnTo>
                    <a:pt x="6057900" y="0"/>
                  </a:lnTo>
                  <a:cubicBezTo>
                    <a:pt x="6078942" y="0"/>
                    <a:pt x="6096000" y="17058"/>
                    <a:pt x="6096000" y="38100"/>
                  </a:cubicBezTo>
                  <a:lnTo>
                    <a:pt x="6096000" y="171450"/>
                  </a:lnTo>
                  <a:cubicBezTo>
                    <a:pt x="6096000" y="192492"/>
                    <a:pt x="6078942" y="209550"/>
                    <a:pt x="6057900" y="209550"/>
                  </a:cubicBezTo>
                  <a:lnTo>
                    <a:pt x="38100" y="209550"/>
                  </a:lnTo>
                  <a:cubicBezTo>
                    <a:pt x="17058" y="209550"/>
                    <a:pt x="0" y="192492"/>
                    <a:pt x="0" y="171450"/>
                  </a:cubicBezTo>
                  <a:lnTo>
                    <a:pt x="0" y="38100"/>
                  </a:lnTo>
                  <a:cubicBezTo>
                    <a:pt x="0" y="17058"/>
                    <a:pt x="17058" y="0"/>
                    <a:pt x="38100" y="0"/>
                  </a:cubicBezTo>
                  <a:close/>
                </a:path>
              </a:pathLst>
            </a:cu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2"/>
            <p:cNvSpPr txBox="1"/>
            <p:nvPr/>
          </p:nvSpPr>
          <p:spPr>
            <a:xfrm>
              <a:off x="8435676" y="2648902"/>
              <a:ext cx="340659"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0.15</a:t>
              </a:r>
              <a:endParaRPr/>
            </a:p>
          </p:txBody>
        </p:sp>
        <p:sp>
          <p:nvSpPr>
            <p:cNvPr id="663" name="Google Shape;663;p12"/>
            <p:cNvSpPr txBox="1"/>
            <p:nvPr/>
          </p:nvSpPr>
          <p:spPr>
            <a:xfrm>
              <a:off x="557212" y="2974181"/>
              <a:ext cx="1260872"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Last Login Days</a:t>
              </a:r>
              <a:endParaRPr/>
            </a:p>
          </p:txBody>
        </p:sp>
        <p:sp>
          <p:nvSpPr>
            <p:cNvPr id="664" name="Google Shape;664;p12"/>
            <p:cNvSpPr/>
            <p:nvPr/>
          </p:nvSpPr>
          <p:spPr>
            <a:xfrm>
              <a:off x="2571750" y="29527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2"/>
            <p:cNvSpPr/>
            <p:nvPr/>
          </p:nvSpPr>
          <p:spPr>
            <a:xfrm>
              <a:off x="2571750" y="2952750"/>
              <a:ext cx="5334000" cy="209550"/>
            </a:xfrm>
            <a:custGeom>
              <a:rect b="b" l="l" r="r" t="t"/>
              <a:pathLst>
                <a:path extrusionOk="0" h="209550" w="5334000">
                  <a:moveTo>
                    <a:pt x="38100" y="0"/>
                  </a:moveTo>
                  <a:lnTo>
                    <a:pt x="5295900" y="0"/>
                  </a:lnTo>
                  <a:cubicBezTo>
                    <a:pt x="5316942" y="0"/>
                    <a:pt x="5334000" y="17058"/>
                    <a:pt x="5334000" y="38100"/>
                  </a:cubicBezTo>
                  <a:lnTo>
                    <a:pt x="5334000" y="171450"/>
                  </a:lnTo>
                  <a:cubicBezTo>
                    <a:pt x="5334000" y="192492"/>
                    <a:pt x="5316942" y="209550"/>
                    <a:pt x="5295900" y="209550"/>
                  </a:cubicBezTo>
                  <a:lnTo>
                    <a:pt x="38100" y="209550"/>
                  </a:lnTo>
                  <a:cubicBezTo>
                    <a:pt x="17058" y="209550"/>
                    <a:pt x="0" y="192492"/>
                    <a:pt x="0" y="171450"/>
                  </a:cubicBezTo>
                  <a:lnTo>
                    <a:pt x="0" y="38100"/>
                  </a:lnTo>
                  <a:cubicBezTo>
                    <a:pt x="0" y="17058"/>
                    <a:pt x="17058" y="0"/>
                    <a:pt x="38100" y="0"/>
                  </a:cubicBezTo>
                  <a:close/>
                </a:path>
              </a:pathLst>
            </a:cu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2"/>
            <p:cNvSpPr txBox="1"/>
            <p:nvPr/>
          </p:nvSpPr>
          <p:spPr>
            <a:xfrm>
              <a:off x="7673676" y="2991802"/>
              <a:ext cx="340659"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0.13</a:t>
              </a:r>
              <a:endParaRPr/>
            </a:p>
          </p:txBody>
        </p:sp>
        <p:sp>
          <p:nvSpPr>
            <p:cNvPr id="667" name="Google Shape;667;p12"/>
            <p:cNvSpPr txBox="1"/>
            <p:nvPr/>
          </p:nvSpPr>
          <p:spPr>
            <a:xfrm>
              <a:off x="557212" y="3317081"/>
              <a:ext cx="183594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Customer Satisfaction</a:t>
              </a:r>
              <a:endParaRPr/>
            </a:p>
          </p:txBody>
        </p:sp>
        <p:sp>
          <p:nvSpPr>
            <p:cNvPr id="668" name="Google Shape;668;p12"/>
            <p:cNvSpPr/>
            <p:nvPr/>
          </p:nvSpPr>
          <p:spPr>
            <a:xfrm>
              <a:off x="2571750" y="32956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2"/>
            <p:cNvSpPr/>
            <p:nvPr/>
          </p:nvSpPr>
          <p:spPr>
            <a:xfrm>
              <a:off x="2571750" y="3295650"/>
              <a:ext cx="4572000" cy="209550"/>
            </a:xfrm>
            <a:custGeom>
              <a:rect b="b" l="l" r="r" t="t"/>
              <a:pathLst>
                <a:path extrusionOk="0" h="209550" w="4572000">
                  <a:moveTo>
                    <a:pt x="38100" y="0"/>
                  </a:moveTo>
                  <a:lnTo>
                    <a:pt x="4533900" y="0"/>
                  </a:lnTo>
                  <a:cubicBezTo>
                    <a:pt x="4554942" y="0"/>
                    <a:pt x="4572000" y="17058"/>
                    <a:pt x="4572000" y="38100"/>
                  </a:cubicBezTo>
                  <a:lnTo>
                    <a:pt x="4572000" y="171450"/>
                  </a:lnTo>
                  <a:cubicBezTo>
                    <a:pt x="4572000" y="192492"/>
                    <a:pt x="4554942" y="209550"/>
                    <a:pt x="4533900" y="209550"/>
                  </a:cubicBezTo>
                  <a:lnTo>
                    <a:pt x="38100" y="209550"/>
                  </a:lnTo>
                  <a:cubicBezTo>
                    <a:pt x="17058" y="209550"/>
                    <a:pt x="0" y="192492"/>
                    <a:pt x="0" y="171450"/>
                  </a:cubicBezTo>
                  <a:lnTo>
                    <a:pt x="0" y="38100"/>
                  </a:lnTo>
                  <a:cubicBezTo>
                    <a:pt x="0" y="17058"/>
                    <a:pt x="17058" y="0"/>
                    <a:pt x="38100" y="0"/>
                  </a:cubicBezTo>
                  <a:close/>
                </a:path>
              </a:pathLst>
            </a:custGeom>
            <a:solidFill>
              <a:srgbClr val="42A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2"/>
            <p:cNvSpPr txBox="1"/>
            <p:nvPr/>
          </p:nvSpPr>
          <p:spPr>
            <a:xfrm>
              <a:off x="6951931" y="3334702"/>
              <a:ext cx="30040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0.11</a:t>
              </a:r>
              <a:endParaRPr/>
            </a:p>
          </p:txBody>
        </p:sp>
        <p:sp>
          <p:nvSpPr>
            <p:cNvPr id="671" name="Google Shape;671;p12"/>
            <p:cNvSpPr txBox="1"/>
            <p:nvPr/>
          </p:nvSpPr>
          <p:spPr>
            <a:xfrm>
              <a:off x="557212" y="3659981"/>
              <a:ext cx="29968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Age</a:t>
              </a:r>
              <a:endParaRPr/>
            </a:p>
          </p:txBody>
        </p:sp>
        <p:sp>
          <p:nvSpPr>
            <p:cNvPr id="672" name="Google Shape;672;p12"/>
            <p:cNvSpPr/>
            <p:nvPr/>
          </p:nvSpPr>
          <p:spPr>
            <a:xfrm>
              <a:off x="2571750" y="36385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2"/>
            <p:cNvSpPr/>
            <p:nvPr/>
          </p:nvSpPr>
          <p:spPr>
            <a:xfrm>
              <a:off x="2571750" y="3638550"/>
              <a:ext cx="3810000" cy="209550"/>
            </a:xfrm>
            <a:custGeom>
              <a:rect b="b" l="l" r="r" t="t"/>
              <a:pathLst>
                <a:path extrusionOk="0" h="209550" w="3810000">
                  <a:moveTo>
                    <a:pt x="38100" y="0"/>
                  </a:moveTo>
                  <a:lnTo>
                    <a:pt x="3771900" y="0"/>
                  </a:lnTo>
                  <a:cubicBezTo>
                    <a:pt x="3792942" y="0"/>
                    <a:pt x="3810000" y="17058"/>
                    <a:pt x="3810000" y="38100"/>
                  </a:cubicBezTo>
                  <a:lnTo>
                    <a:pt x="3810000" y="171450"/>
                  </a:lnTo>
                  <a:cubicBezTo>
                    <a:pt x="3810000" y="192492"/>
                    <a:pt x="3792942" y="209550"/>
                    <a:pt x="3771900" y="209550"/>
                  </a:cubicBezTo>
                  <a:lnTo>
                    <a:pt x="38100" y="209550"/>
                  </a:lnTo>
                  <a:cubicBezTo>
                    <a:pt x="17058" y="209550"/>
                    <a:pt x="0" y="192492"/>
                    <a:pt x="0" y="171450"/>
                  </a:cubicBezTo>
                  <a:lnTo>
                    <a:pt x="0" y="38100"/>
                  </a:lnTo>
                  <a:cubicBezTo>
                    <a:pt x="0" y="17058"/>
                    <a:pt x="17058" y="0"/>
                    <a:pt x="38100" y="0"/>
                  </a:cubicBezTo>
                  <a:close/>
                </a:path>
              </a:pathLst>
            </a:custGeom>
            <a:solidFill>
              <a:srgbClr val="42A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6109421" y="3677602"/>
              <a:ext cx="38091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FFFFFF"/>
                  </a:solidFill>
                  <a:latin typeface="Quattrocento Sans"/>
                  <a:ea typeface="Quattrocento Sans"/>
                  <a:cs typeface="Quattrocento Sans"/>
                  <a:sym typeface="Quattrocento Sans"/>
                </a:rPr>
                <a:t>0.09</a:t>
              </a:r>
              <a:endParaRPr/>
            </a:p>
          </p:txBody>
        </p:sp>
        <p:sp>
          <p:nvSpPr>
            <p:cNvPr id="675" name="Google Shape;675;p12"/>
            <p:cNvSpPr txBox="1"/>
            <p:nvPr/>
          </p:nvSpPr>
          <p:spPr>
            <a:xfrm>
              <a:off x="557212" y="4002881"/>
              <a:ext cx="13019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Login Frequency</a:t>
              </a:r>
              <a:endParaRPr/>
            </a:p>
          </p:txBody>
        </p:sp>
        <p:sp>
          <p:nvSpPr>
            <p:cNvPr id="676" name="Google Shape;676;p12"/>
            <p:cNvSpPr/>
            <p:nvPr/>
          </p:nvSpPr>
          <p:spPr>
            <a:xfrm>
              <a:off x="2571750" y="39814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p:nvPr/>
          </p:nvSpPr>
          <p:spPr>
            <a:xfrm>
              <a:off x="2571750" y="3981450"/>
              <a:ext cx="3143250" cy="209550"/>
            </a:xfrm>
            <a:custGeom>
              <a:rect b="b" l="l" r="r" t="t"/>
              <a:pathLst>
                <a:path extrusionOk="0" h="209550" w="3143250">
                  <a:moveTo>
                    <a:pt x="38100" y="0"/>
                  </a:moveTo>
                  <a:lnTo>
                    <a:pt x="3105150" y="0"/>
                  </a:lnTo>
                  <a:cubicBezTo>
                    <a:pt x="3126192" y="0"/>
                    <a:pt x="3143250" y="17058"/>
                    <a:pt x="3143250" y="38100"/>
                  </a:cubicBezTo>
                  <a:lnTo>
                    <a:pt x="3143250" y="171450"/>
                  </a:lnTo>
                  <a:cubicBezTo>
                    <a:pt x="3143250" y="192492"/>
                    <a:pt x="3126192" y="209550"/>
                    <a:pt x="3105150" y="209550"/>
                  </a:cubicBezTo>
                  <a:lnTo>
                    <a:pt x="38100" y="209550"/>
                  </a:lnTo>
                  <a:cubicBezTo>
                    <a:pt x="17058" y="209550"/>
                    <a:pt x="0" y="192492"/>
                    <a:pt x="0" y="171450"/>
                  </a:cubicBezTo>
                  <a:lnTo>
                    <a:pt x="0" y="38100"/>
                  </a:lnTo>
                  <a:cubicBezTo>
                    <a:pt x="0" y="17058"/>
                    <a:pt x="17058" y="0"/>
                    <a:pt x="38100" y="0"/>
                  </a:cubicBezTo>
                  <a:close/>
                </a:path>
              </a:pathLst>
            </a:custGeom>
            <a:solidFill>
              <a:srgbClr val="64B5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2"/>
            <p:cNvSpPr txBox="1"/>
            <p:nvPr/>
          </p:nvSpPr>
          <p:spPr>
            <a:xfrm>
              <a:off x="5442671" y="4020502"/>
              <a:ext cx="38091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1F2933"/>
                  </a:solidFill>
                  <a:latin typeface="Quattrocento Sans"/>
                  <a:ea typeface="Quattrocento Sans"/>
                  <a:cs typeface="Quattrocento Sans"/>
                  <a:sym typeface="Quattrocento Sans"/>
                </a:rPr>
                <a:t>0.08</a:t>
              </a:r>
              <a:endParaRPr/>
            </a:p>
          </p:txBody>
        </p:sp>
        <p:sp>
          <p:nvSpPr>
            <p:cNvPr id="679" name="Google Shape;679;p12"/>
            <p:cNvSpPr txBox="1"/>
            <p:nvPr/>
          </p:nvSpPr>
          <p:spPr>
            <a:xfrm>
              <a:off x="557212" y="4345781"/>
              <a:ext cx="13019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Support Tickets</a:t>
              </a:r>
              <a:endParaRPr/>
            </a:p>
          </p:txBody>
        </p:sp>
        <p:sp>
          <p:nvSpPr>
            <p:cNvPr id="680" name="Google Shape;680;p12"/>
            <p:cNvSpPr/>
            <p:nvPr/>
          </p:nvSpPr>
          <p:spPr>
            <a:xfrm>
              <a:off x="2571750" y="43243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2"/>
            <p:cNvSpPr/>
            <p:nvPr/>
          </p:nvSpPr>
          <p:spPr>
            <a:xfrm>
              <a:off x="2571750" y="4324350"/>
              <a:ext cx="2476500" cy="209550"/>
            </a:xfrm>
            <a:custGeom>
              <a:rect b="b" l="l" r="r" t="t"/>
              <a:pathLst>
                <a:path extrusionOk="0" h="209550" w="2476500">
                  <a:moveTo>
                    <a:pt x="38100" y="0"/>
                  </a:moveTo>
                  <a:lnTo>
                    <a:pt x="2438400" y="0"/>
                  </a:lnTo>
                  <a:cubicBezTo>
                    <a:pt x="2459442" y="0"/>
                    <a:pt x="2476500" y="17058"/>
                    <a:pt x="2476500" y="38100"/>
                  </a:cubicBezTo>
                  <a:lnTo>
                    <a:pt x="2476500" y="171450"/>
                  </a:lnTo>
                  <a:cubicBezTo>
                    <a:pt x="2476500" y="192492"/>
                    <a:pt x="2459442" y="209550"/>
                    <a:pt x="2438400" y="209550"/>
                  </a:cubicBezTo>
                  <a:lnTo>
                    <a:pt x="38100" y="209550"/>
                  </a:lnTo>
                  <a:cubicBezTo>
                    <a:pt x="17058" y="209550"/>
                    <a:pt x="0" y="192492"/>
                    <a:pt x="0" y="171450"/>
                  </a:cubicBezTo>
                  <a:lnTo>
                    <a:pt x="0" y="38100"/>
                  </a:lnTo>
                  <a:cubicBezTo>
                    <a:pt x="0" y="17058"/>
                    <a:pt x="17058" y="0"/>
                    <a:pt x="38100" y="0"/>
                  </a:cubicBezTo>
                  <a:close/>
                </a:path>
              </a:pathLst>
            </a:custGeom>
            <a:solidFill>
              <a:srgbClr val="64B5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2"/>
            <p:cNvSpPr txBox="1"/>
            <p:nvPr/>
          </p:nvSpPr>
          <p:spPr>
            <a:xfrm>
              <a:off x="4775921" y="4363402"/>
              <a:ext cx="38091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1F2933"/>
                  </a:solidFill>
                  <a:latin typeface="Quattrocento Sans"/>
                  <a:ea typeface="Quattrocento Sans"/>
                  <a:cs typeface="Quattrocento Sans"/>
                  <a:sym typeface="Quattrocento Sans"/>
                </a:rPr>
                <a:t>0.06</a:t>
              </a:r>
              <a:endParaRPr/>
            </a:p>
          </p:txBody>
        </p:sp>
        <p:sp>
          <p:nvSpPr>
            <p:cNvPr id="683" name="Google Shape;683;p12"/>
            <p:cNvSpPr txBox="1"/>
            <p:nvPr/>
          </p:nvSpPr>
          <p:spPr>
            <a:xfrm>
              <a:off x="557212" y="4688681"/>
              <a:ext cx="88296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1F2933"/>
                  </a:solidFill>
                  <a:latin typeface="Quattrocento Sans"/>
                  <a:ea typeface="Quattrocento Sans"/>
                  <a:cs typeface="Quattrocento Sans"/>
                  <a:sym typeface="Quattrocento Sans"/>
                </a:rPr>
                <a:t>Complaints</a:t>
              </a:r>
              <a:endParaRPr/>
            </a:p>
          </p:txBody>
        </p:sp>
        <p:sp>
          <p:nvSpPr>
            <p:cNvPr id="684" name="Google Shape;684;p12"/>
            <p:cNvSpPr/>
            <p:nvPr/>
          </p:nvSpPr>
          <p:spPr>
            <a:xfrm>
              <a:off x="2571750" y="4667250"/>
              <a:ext cx="8382000" cy="209550"/>
            </a:xfrm>
            <a:custGeom>
              <a:rect b="b" l="l" r="r" t="t"/>
              <a:pathLst>
                <a:path extrusionOk="0" h="209550" w="8382000">
                  <a:moveTo>
                    <a:pt x="38100" y="0"/>
                  </a:moveTo>
                  <a:lnTo>
                    <a:pt x="8343900" y="0"/>
                  </a:lnTo>
                  <a:cubicBezTo>
                    <a:pt x="8364942" y="0"/>
                    <a:pt x="8382000" y="17058"/>
                    <a:pt x="8382000" y="38100"/>
                  </a:cubicBezTo>
                  <a:lnTo>
                    <a:pt x="8382000" y="171450"/>
                  </a:lnTo>
                  <a:cubicBezTo>
                    <a:pt x="8382000" y="192492"/>
                    <a:pt x="8364942" y="209550"/>
                    <a:pt x="8343900" y="209550"/>
                  </a:cubicBezTo>
                  <a:lnTo>
                    <a:pt x="38100" y="209550"/>
                  </a:lnTo>
                  <a:cubicBezTo>
                    <a:pt x="17058" y="209550"/>
                    <a:pt x="0" y="192492"/>
                    <a:pt x="0" y="171450"/>
                  </a:cubicBezTo>
                  <a:lnTo>
                    <a:pt x="0" y="38100"/>
                  </a:lnTo>
                  <a:cubicBezTo>
                    <a:pt x="0" y="17058"/>
                    <a:pt x="17058" y="0"/>
                    <a:pt x="3810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2"/>
            <p:cNvSpPr/>
            <p:nvPr/>
          </p:nvSpPr>
          <p:spPr>
            <a:xfrm>
              <a:off x="2571750" y="4667250"/>
              <a:ext cx="1905000" cy="209550"/>
            </a:xfrm>
            <a:custGeom>
              <a:rect b="b" l="l" r="r" t="t"/>
              <a:pathLst>
                <a:path extrusionOk="0" h="209550" w="1905000">
                  <a:moveTo>
                    <a:pt x="38100" y="0"/>
                  </a:moveTo>
                  <a:lnTo>
                    <a:pt x="1866900" y="0"/>
                  </a:lnTo>
                  <a:cubicBezTo>
                    <a:pt x="1887942" y="0"/>
                    <a:pt x="1905000" y="17058"/>
                    <a:pt x="1905000" y="38100"/>
                  </a:cubicBezTo>
                  <a:lnTo>
                    <a:pt x="1905000" y="171450"/>
                  </a:lnTo>
                  <a:cubicBezTo>
                    <a:pt x="1905000" y="192492"/>
                    <a:pt x="1887942" y="209550"/>
                    <a:pt x="1866900" y="209550"/>
                  </a:cubicBezTo>
                  <a:lnTo>
                    <a:pt x="38100" y="209550"/>
                  </a:lnTo>
                  <a:cubicBezTo>
                    <a:pt x="17058" y="209550"/>
                    <a:pt x="0" y="192492"/>
                    <a:pt x="0" y="171450"/>
                  </a:cubicBezTo>
                  <a:lnTo>
                    <a:pt x="0" y="38100"/>
                  </a:lnTo>
                  <a:cubicBezTo>
                    <a:pt x="0" y="17058"/>
                    <a:pt x="17058" y="0"/>
                    <a:pt x="38100" y="0"/>
                  </a:cubicBezTo>
                  <a:close/>
                </a:path>
              </a:pathLst>
            </a:custGeom>
            <a:solidFill>
              <a:srgbClr val="90CA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2"/>
            <p:cNvSpPr txBox="1"/>
            <p:nvPr/>
          </p:nvSpPr>
          <p:spPr>
            <a:xfrm>
              <a:off x="4204421" y="4706302"/>
              <a:ext cx="380914" cy="2133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050" u="none" cap="none" strike="noStrike">
                  <a:solidFill>
                    <a:srgbClr val="1F2933"/>
                  </a:solidFill>
                  <a:latin typeface="Quattrocento Sans"/>
                  <a:ea typeface="Quattrocento Sans"/>
                  <a:cs typeface="Quattrocento Sans"/>
                  <a:sym typeface="Quattrocento Sans"/>
                </a:rPr>
                <a:t>0.05</a:t>
              </a:r>
              <a:endParaRPr/>
            </a:p>
          </p:txBody>
        </p:sp>
        <p:sp>
          <p:nvSpPr>
            <p:cNvPr id="687" name="Google Shape;687;p12"/>
            <p:cNvSpPr/>
            <p:nvPr/>
          </p:nvSpPr>
          <p:spPr>
            <a:xfrm>
              <a:off x="2571750" y="4991100"/>
              <a:ext cx="8382000" cy="9525"/>
            </a:xfrm>
            <a:custGeom>
              <a:rect b="b" l="l" r="r" t="t"/>
              <a:pathLst>
                <a:path extrusionOk="0" h="9525" w="8382000">
                  <a:moveTo>
                    <a:pt x="0" y="0"/>
                  </a:moveTo>
                  <a:lnTo>
                    <a:pt x="8382000" y="0"/>
                  </a:lnTo>
                </a:path>
              </a:pathLst>
            </a:custGeom>
            <a:noFill/>
            <a:ln cap="flat" cmpd="sng" w="9525">
              <a:solidFill>
                <a:srgbClr val="E3E8EF"/>
              </a:solidFill>
              <a:prstDash val="solid"/>
              <a:round/>
              <a:headEnd len="sm" w="sm" type="none"/>
              <a:tailEnd len="sm" w="sm" type="none"/>
            </a:ln>
          </p:spPr>
        </p:sp>
        <p:sp>
          <p:nvSpPr>
            <p:cNvPr id="688" name="Google Shape;688;p12"/>
            <p:cNvSpPr txBox="1"/>
            <p:nvPr/>
          </p:nvSpPr>
          <p:spPr>
            <a:xfrm>
              <a:off x="559118" y="5095399"/>
              <a:ext cx="3634573" cy="198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975" u="none" cap="none" strike="noStrike">
                  <a:solidFill>
                    <a:srgbClr val="9AA5B1"/>
                  </a:solidFill>
                  <a:latin typeface="Quattrocento Sans"/>
                  <a:ea typeface="Quattrocento Sans"/>
                  <a:cs typeface="Quattrocento Sans"/>
                  <a:sym typeface="Quattrocento Sans"/>
                </a:rPr>
                <a:t>Relative feature importance score (Random Forest)</a:t>
              </a:r>
              <a:endParaRPr/>
            </a:p>
          </p:txBody>
        </p:sp>
      </p:grpSp>
      <p:grpSp>
        <p:nvGrpSpPr>
          <p:cNvPr id="689" name="Google Shape;689;p12"/>
          <p:cNvGrpSpPr/>
          <p:nvPr/>
        </p:nvGrpSpPr>
        <p:grpSpPr>
          <a:xfrm>
            <a:off x="571500" y="5524500"/>
            <a:ext cx="11049000" cy="647700"/>
            <a:chOff x="571500" y="5524500"/>
            <a:chExt cx="11049000" cy="647700"/>
          </a:xfrm>
        </p:grpSpPr>
        <p:sp>
          <p:nvSpPr>
            <p:cNvPr id="690" name="Google Shape;690;p12"/>
            <p:cNvSpPr/>
            <p:nvPr/>
          </p:nvSpPr>
          <p:spPr>
            <a:xfrm>
              <a:off x="571500" y="5524500"/>
              <a:ext cx="11049000" cy="647700"/>
            </a:xfrm>
            <a:custGeom>
              <a:rect b="b" l="l" r="r" t="t"/>
              <a:pathLst>
                <a:path extrusionOk="0" h="647700" w="11049000">
                  <a:moveTo>
                    <a:pt x="95250" y="0"/>
                  </a:moveTo>
                  <a:lnTo>
                    <a:pt x="10953750" y="0"/>
                  </a:lnTo>
                  <a:cubicBezTo>
                    <a:pt x="11006355" y="0"/>
                    <a:pt x="11049000" y="42645"/>
                    <a:pt x="11049000" y="95250"/>
                  </a:cubicBezTo>
                  <a:lnTo>
                    <a:pt x="11049000" y="552450"/>
                  </a:lnTo>
                  <a:cubicBezTo>
                    <a:pt x="11049000" y="605055"/>
                    <a:pt x="11006355" y="647700"/>
                    <a:pt x="10953750" y="647700"/>
                  </a:cubicBezTo>
                  <a:lnTo>
                    <a:pt x="95250" y="647700"/>
                  </a:lnTo>
                  <a:cubicBezTo>
                    <a:pt x="42645" y="647700"/>
                    <a:pt x="0" y="605055"/>
                    <a:pt x="0" y="552450"/>
                  </a:cubicBezTo>
                  <a:lnTo>
                    <a:pt x="0" y="95250"/>
                  </a:lnTo>
                  <a:cubicBezTo>
                    <a:pt x="0" y="42645"/>
                    <a:pt x="42645" y="0"/>
                    <a:pt x="9525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2"/>
            <p:cNvSpPr/>
            <p:nvPr/>
          </p:nvSpPr>
          <p:spPr>
            <a:xfrm>
              <a:off x="571500" y="5524500"/>
              <a:ext cx="57150" cy="647700"/>
            </a:xfrm>
            <a:custGeom>
              <a:rect b="b" l="l" r="r" t="t"/>
              <a:pathLst>
                <a:path extrusionOk="0" h="647700" w="57150">
                  <a:moveTo>
                    <a:pt x="28575" y="0"/>
                  </a:moveTo>
                  <a:lnTo>
                    <a:pt x="28575" y="0"/>
                  </a:lnTo>
                  <a:cubicBezTo>
                    <a:pt x="44357" y="0"/>
                    <a:pt x="57150" y="12793"/>
                    <a:pt x="57150" y="28575"/>
                  </a:cubicBezTo>
                  <a:lnTo>
                    <a:pt x="57150" y="619125"/>
                  </a:lnTo>
                  <a:cubicBezTo>
                    <a:pt x="57150" y="634907"/>
                    <a:pt x="44357" y="647700"/>
                    <a:pt x="28575" y="647700"/>
                  </a:cubicBezTo>
                  <a:lnTo>
                    <a:pt x="28575" y="647700"/>
                  </a:lnTo>
                  <a:cubicBezTo>
                    <a:pt x="12793" y="647700"/>
                    <a:pt x="0" y="634907"/>
                    <a:pt x="0" y="619125"/>
                  </a:cubicBezTo>
                  <a:lnTo>
                    <a:pt x="0" y="28575"/>
                  </a:lnTo>
                  <a:cubicBezTo>
                    <a:pt x="0" y="12793"/>
                    <a:pt x="12793" y="0"/>
                    <a:pt x="28575"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2" name="Google Shape;692;p12"/>
            <p:cNvGrpSpPr/>
            <p:nvPr/>
          </p:nvGrpSpPr>
          <p:grpSpPr>
            <a:xfrm>
              <a:off x="852488" y="5748338"/>
              <a:ext cx="200025" cy="200025"/>
              <a:chOff x="852488" y="5748338"/>
              <a:chExt cx="200025" cy="200025"/>
            </a:xfrm>
          </p:grpSpPr>
          <p:sp>
            <p:nvSpPr>
              <p:cNvPr id="693" name="Google Shape;693;p12"/>
              <p:cNvSpPr/>
              <p:nvPr/>
            </p:nvSpPr>
            <p:spPr>
              <a:xfrm>
                <a:off x="852488" y="5748338"/>
                <a:ext cx="200025" cy="200025"/>
              </a:xfrm>
              <a:custGeom>
                <a:rect b="b" l="l" r="r" t="t"/>
                <a:pathLst>
                  <a:path extrusionOk="0" h="200025" w="200025">
                    <a:moveTo>
                      <a:pt x="0" y="0"/>
                    </a:moveTo>
                    <a:lnTo>
                      <a:pt x="0" y="200025"/>
                    </a:lnTo>
                    <a:lnTo>
                      <a:pt x="200025" y="200025"/>
                    </a:lnTo>
                    <a:lnTo>
                      <a:pt x="200025" y="171450"/>
                    </a:lnTo>
                    <a:lnTo>
                      <a:pt x="28575" y="171450"/>
                    </a:lnTo>
                    <a:lnTo>
                      <a:pt x="28575" y="0"/>
                    </a:lnTo>
                    <a:lnTo>
                      <a:pt x="0" y="0"/>
                    </a:lnTo>
                    <a:close/>
                  </a:path>
                </a:pathLst>
              </a:custGeom>
              <a:solidFill>
                <a:srgbClr val="1565C0"/>
              </a:solidFill>
              <a:ln>
                <a:noFill/>
              </a:ln>
            </p:spPr>
          </p:sp>
          <p:sp>
            <p:nvSpPr>
              <p:cNvPr id="694" name="Google Shape;694;p12"/>
              <p:cNvSpPr/>
              <p:nvPr/>
            </p:nvSpPr>
            <p:spPr>
              <a:xfrm>
                <a:off x="909638" y="5776912"/>
                <a:ext cx="142875" cy="114300"/>
              </a:xfrm>
              <a:custGeom>
                <a:rect b="b" l="l" r="r" t="t"/>
                <a:pathLst>
                  <a:path extrusionOk="0" h="114300" w="142875">
                    <a:moveTo>
                      <a:pt x="0" y="57150"/>
                    </a:moveTo>
                    <a:lnTo>
                      <a:pt x="28575" y="28575"/>
                    </a:lnTo>
                    <a:lnTo>
                      <a:pt x="71438" y="71438"/>
                    </a:lnTo>
                    <a:lnTo>
                      <a:pt x="142875" y="0"/>
                    </a:lnTo>
                    <a:lnTo>
                      <a:pt x="142875" y="114300"/>
                    </a:lnTo>
                    <a:lnTo>
                      <a:pt x="0" y="114300"/>
                    </a:lnTo>
                    <a:lnTo>
                      <a:pt x="0" y="57150"/>
                    </a:lnTo>
                    <a:close/>
                  </a:path>
                </a:pathLst>
              </a:custGeom>
              <a:solidFill>
                <a:srgbClr val="1565C0"/>
              </a:solidFill>
              <a:ln>
                <a:noFill/>
              </a:ln>
            </p:spPr>
          </p:sp>
        </p:grpSp>
        <p:sp>
          <p:nvSpPr>
            <p:cNvPr id="695" name="Google Shape;695;p12"/>
            <p:cNvSpPr txBox="1"/>
            <p:nvPr/>
          </p:nvSpPr>
          <p:spPr>
            <a:xfrm>
              <a:off x="1183005" y="5683568"/>
              <a:ext cx="2425439"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565C0"/>
                  </a:solidFill>
                  <a:latin typeface="Quattrocento Sans"/>
                  <a:ea typeface="Quattrocento Sans"/>
                  <a:cs typeface="Quattrocento Sans"/>
                  <a:sym typeface="Quattrocento Sans"/>
                </a:rPr>
                <a:t>Important observation:</a:t>
              </a:r>
              <a:endParaRPr/>
            </a:p>
          </p:txBody>
        </p:sp>
        <p:sp>
          <p:nvSpPr>
            <p:cNvPr id="696" name="Google Shape;696;p12"/>
            <p:cNvSpPr txBox="1"/>
            <p:nvPr/>
          </p:nvSpPr>
          <p:spPr>
            <a:xfrm>
              <a:off x="3335655" y="5683568"/>
              <a:ext cx="633379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Monthly Charges had the highest feature importance in my model.</a:t>
              </a:r>
              <a:endParaRPr/>
            </a:p>
          </p:txBody>
        </p:sp>
      </p:grpSp>
      <p:grpSp>
        <p:nvGrpSpPr>
          <p:cNvPr id="697" name="Google Shape;697;p12"/>
          <p:cNvGrpSpPr/>
          <p:nvPr/>
        </p:nvGrpSpPr>
        <p:grpSpPr>
          <a:xfrm>
            <a:off x="561022" y="6381750"/>
            <a:ext cx="11069955" cy="345281"/>
            <a:chOff x="561022" y="6381750"/>
            <a:chExt cx="11069955" cy="345281"/>
          </a:xfrm>
        </p:grpSpPr>
        <p:sp>
          <p:nvSpPr>
            <p:cNvPr id="698" name="Google Shape;698;p12"/>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699" name="Google Shape;699;p12"/>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700" name="Google Shape;700;p12"/>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12 / 18</a:t>
              </a:r>
              <a:endParaRP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3"/>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3"/>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3"/>
          <p:cNvGrpSpPr/>
          <p:nvPr/>
        </p:nvGrpSpPr>
        <p:grpSpPr>
          <a:xfrm>
            <a:off x="541020" y="426720"/>
            <a:ext cx="4532719" cy="697230"/>
            <a:chOff x="541020" y="426720"/>
            <a:chExt cx="4532719" cy="697230"/>
          </a:xfrm>
        </p:grpSpPr>
        <p:sp>
          <p:nvSpPr>
            <p:cNvPr id="708" name="Google Shape;708;p13"/>
            <p:cNvSpPr txBox="1"/>
            <p:nvPr/>
          </p:nvSpPr>
          <p:spPr>
            <a:xfrm>
              <a:off x="541020" y="426720"/>
              <a:ext cx="4532719"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Customer Risk Prediction</a:t>
              </a:r>
              <a:endParaRPr/>
            </a:p>
          </p:txBody>
        </p:sp>
        <p:sp>
          <p:nvSpPr>
            <p:cNvPr id="709" name="Google Shape;709;p13"/>
            <p:cNvSpPr txBox="1"/>
            <p:nvPr/>
          </p:nvSpPr>
          <p:spPr>
            <a:xfrm>
              <a:off x="554355" y="806768"/>
              <a:ext cx="238058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After training the model</a:t>
              </a:r>
              <a:endParaRPr/>
            </a:p>
          </p:txBody>
        </p:sp>
        <p:sp>
          <p:nvSpPr>
            <p:cNvPr id="710" name="Google Shape;710;p13"/>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1" name="Google Shape;711;p13"/>
          <p:cNvSpPr txBox="1"/>
          <p:nvPr/>
        </p:nvSpPr>
        <p:spPr>
          <a:xfrm>
            <a:off x="554355" y="1359218"/>
            <a:ext cx="7812548"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The model gives a churn probability for each customer, divided into three levels:</a:t>
            </a:r>
            <a:endParaRPr/>
          </a:p>
        </p:txBody>
      </p:sp>
      <p:grpSp>
        <p:nvGrpSpPr>
          <p:cNvPr id="712" name="Google Shape;712;p13"/>
          <p:cNvGrpSpPr/>
          <p:nvPr/>
        </p:nvGrpSpPr>
        <p:grpSpPr>
          <a:xfrm>
            <a:off x="571500" y="1771650"/>
            <a:ext cx="3619500" cy="1905000"/>
            <a:chOff x="571500" y="1771650"/>
            <a:chExt cx="3619500" cy="1905000"/>
          </a:xfrm>
        </p:grpSpPr>
        <p:sp>
          <p:nvSpPr>
            <p:cNvPr id="713" name="Google Shape;713;p13"/>
            <p:cNvSpPr/>
            <p:nvPr/>
          </p:nvSpPr>
          <p:spPr>
            <a:xfrm>
              <a:off x="571500" y="1771650"/>
              <a:ext cx="3619500" cy="1905000"/>
            </a:xfrm>
            <a:custGeom>
              <a:rect b="b" l="l" r="r" t="t"/>
              <a:pathLst>
                <a:path extrusionOk="0" h="1905000" w="3619500">
                  <a:moveTo>
                    <a:pt x="95250" y="0"/>
                  </a:moveTo>
                  <a:lnTo>
                    <a:pt x="3524250" y="0"/>
                  </a:lnTo>
                  <a:cubicBezTo>
                    <a:pt x="3576855" y="0"/>
                    <a:pt x="3619500" y="42645"/>
                    <a:pt x="3619500" y="95250"/>
                  </a:cubicBezTo>
                  <a:lnTo>
                    <a:pt x="3619500" y="1809750"/>
                  </a:lnTo>
                  <a:cubicBezTo>
                    <a:pt x="3619500" y="1862355"/>
                    <a:pt x="3576855" y="1905000"/>
                    <a:pt x="3524250" y="1905000"/>
                  </a:cubicBezTo>
                  <a:lnTo>
                    <a:pt x="95250" y="1905000"/>
                  </a:lnTo>
                  <a:cubicBezTo>
                    <a:pt x="42645" y="1905000"/>
                    <a:pt x="0" y="1862355"/>
                    <a:pt x="0" y="1809750"/>
                  </a:cubicBezTo>
                  <a:lnTo>
                    <a:pt x="0" y="95250"/>
                  </a:lnTo>
                  <a:cubicBezTo>
                    <a:pt x="0" y="42645"/>
                    <a:pt x="42645" y="0"/>
                    <a:pt x="95250" y="0"/>
                  </a:cubicBezTo>
                  <a:close/>
                </a:path>
              </a:pathLst>
            </a:custGeom>
            <a:solidFill>
              <a:srgbClr val="2E7D32">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3"/>
            <p:cNvSpPr/>
            <p:nvPr/>
          </p:nvSpPr>
          <p:spPr>
            <a:xfrm>
              <a:off x="571500" y="1771650"/>
              <a:ext cx="3619500" cy="57150"/>
            </a:xfrm>
            <a:custGeom>
              <a:rect b="b" l="l" r="r" t="t"/>
              <a:pathLst>
                <a:path extrusionOk="0" h="57150" w="3619500">
                  <a:moveTo>
                    <a:pt x="28575" y="0"/>
                  </a:moveTo>
                  <a:lnTo>
                    <a:pt x="3590925" y="0"/>
                  </a:lnTo>
                  <a:cubicBezTo>
                    <a:pt x="3606707" y="0"/>
                    <a:pt x="3619500" y="12793"/>
                    <a:pt x="3619500" y="28575"/>
                  </a:cubicBezTo>
                  <a:lnTo>
                    <a:pt x="3619500" y="28575"/>
                  </a:lnTo>
                  <a:cubicBezTo>
                    <a:pt x="3619500" y="44357"/>
                    <a:pt x="3606707" y="57150"/>
                    <a:pt x="3590925" y="57150"/>
                  </a:cubicBezTo>
                  <a:lnTo>
                    <a:pt x="28575" y="57150"/>
                  </a:lnTo>
                  <a:cubicBezTo>
                    <a:pt x="12793" y="57150"/>
                    <a:pt x="0" y="44357"/>
                    <a:pt x="0" y="28575"/>
                  </a:cubicBezTo>
                  <a:lnTo>
                    <a:pt x="0" y="28575"/>
                  </a:lnTo>
                  <a:cubicBezTo>
                    <a:pt x="0" y="12793"/>
                    <a:pt x="12793" y="0"/>
                    <a:pt x="28575" y="0"/>
                  </a:cubicBez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3"/>
            <p:cNvSpPr/>
            <p:nvPr/>
          </p:nvSpPr>
          <p:spPr>
            <a:xfrm>
              <a:off x="838200" y="2057400"/>
              <a:ext cx="285750" cy="285750"/>
            </a:xfrm>
            <a:custGeom>
              <a:rect b="b" l="l" r="r" t="t"/>
              <a:pathLst>
                <a:path extrusionOk="0" h="285750" w="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moveTo>
                    <a:pt x="125016" y="142875"/>
                  </a:moveTo>
                  <a:lnTo>
                    <a:pt x="107156" y="142875"/>
                  </a:lnTo>
                  <a:lnTo>
                    <a:pt x="107156" y="107156"/>
                  </a:lnTo>
                  <a:lnTo>
                    <a:pt x="160734" y="107156"/>
                  </a:lnTo>
                  <a:lnTo>
                    <a:pt x="160734" y="196453"/>
                  </a:lnTo>
                  <a:lnTo>
                    <a:pt x="178594" y="196453"/>
                  </a:lnTo>
                  <a:lnTo>
                    <a:pt x="178594" y="232172"/>
                  </a:lnTo>
                  <a:lnTo>
                    <a:pt x="125016" y="232172"/>
                  </a:lnTo>
                  <a:lnTo>
                    <a:pt x="125016" y="142875"/>
                  </a:lnTo>
                  <a:close/>
                  <a:moveTo>
                    <a:pt x="160734" y="89297"/>
                  </a:moveTo>
                  <a:lnTo>
                    <a:pt x="160734" y="53578"/>
                  </a:lnTo>
                  <a:lnTo>
                    <a:pt x="125016" y="53578"/>
                  </a:lnTo>
                  <a:lnTo>
                    <a:pt x="125016" y="89297"/>
                  </a:lnTo>
                  <a:lnTo>
                    <a:pt x="160734" y="89297"/>
                  </a:ln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3"/>
            <p:cNvSpPr txBox="1"/>
            <p:nvPr/>
          </p:nvSpPr>
          <p:spPr>
            <a:xfrm>
              <a:off x="1217295" y="2107882"/>
              <a:ext cx="510019"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2E7D32"/>
                  </a:solidFill>
                  <a:latin typeface="Quattrocento Sans"/>
                  <a:ea typeface="Quattrocento Sans"/>
                  <a:cs typeface="Quattrocento Sans"/>
                  <a:sym typeface="Quattrocento Sans"/>
                </a:rPr>
                <a:t>Low</a:t>
              </a:r>
              <a:endParaRPr/>
            </a:p>
          </p:txBody>
        </p:sp>
        <p:sp>
          <p:nvSpPr>
            <p:cNvPr id="717" name="Google Shape;717;p13"/>
            <p:cNvSpPr txBox="1"/>
            <p:nvPr/>
          </p:nvSpPr>
          <p:spPr>
            <a:xfrm>
              <a:off x="800100" y="2533650"/>
              <a:ext cx="1341358"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2E7D32"/>
                  </a:solidFill>
                  <a:latin typeface="Quattrocento Sans"/>
                  <a:ea typeface="Quattrocento Sans"/>
                  <a:cs typeface="Quattrocento Sans"/>
                  <a:sym typeface="Quattrocento Sans"/>
                </a:rPr>
                <a:t>0–30%</a:t>
              </a:r>
              <a:endParaRPr/>
            </a:p>
          </p:txBody>
        </p:sp>
        <p:sp>
          <p:nvSpPr>
            <p:cNvPr id="718" name="Google Shape;718;p13"/>
            <p:cNvSpPr txBox="1"/>
            <p:nvPr/>
          </p:nvSpPr>
          <p:spPr>
            <a:xfrm>
              <a:off x="822960" y="3108960"/>
              <a:ext cx="1493901"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Churn probability</a:t>
              </a:r>
              <a:endParaRPr/>
            </a:p>
          </p:txBody>
        </p:sp>
        <p:sp>
          <p:nvSpPr>
            <p:cNvPr id="719" name="Google Shape;719;p13"/>
            <p:cNvSpPr/>
            <p:nvPr/>
          </p:nvSpPr>
          <p:spPr>
            <a:xfrm>
              <a:off x="838200" y="3352800"/>
              <a:ext cx="3086100" cy="76200"/>
            </a:xfrm>
            <a:custGeom>
              <a:rect b="b" l="l" r="r" t="t"/>
              <a:pathLst>
                <a:path extrusionOk="0" h="76200" w="3086100">
                  <a:moveTo>
                    <a:pt x="38100" y="0"/>
                  </a:moveTo>
                  <a:lnTo>
                    <a:pt x="3048000" y="0"/>
                  </a:lnTo>
                  <a:cubicBezTo>
                    <a:pt x="3069042" y="0"/>
                    <a:pt x="3086100" y="17058"/>
                    <a:pt x="3086100" y="38100"/>
                  </a:cubicBezTo>
                  <a:lnTo>
                    <a:pt x="3086100" y="38100"/>
                  </a:lnTo>
                  <a:cubicBezTo>
                    <a:pt x="3086100" y="59142"/>
                    <a:pt x="3069042" y="76200"/>
                    <a:pt x="3048000" y="76200"/>
                  </a:cubicBezTo>
                  <a:lnTo>
                    <a:pt x="38100" y="76200"/>
                  </a:lnTo>
                  <a:cubicBezTo>
                    <a:pt x="17058" y="76200"/>
                    <a:pt x="0" y="59142"/>
                    <a:pt x="0" y="38100"/>
                  </a:cubicBezTo>
                  <a:lnTo>
                    <a:pt x="0" y="38100"/>
                  </a:lnTo>
                  <a:cubicBezTo>
                    <a:pt x="0" y="17058"/>
                    <a:pt x="17058" y="0"/>
                    <a:pt x="381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3"/>
            <p:cNvSpPr/>
            <p:nvPr/>
          </p:nvSpPr>
          <p:spPr>
            <a:xfrm>
              <a:off x="838200" y="3352800"/>
              <a:ext cx="923925" cy="76200"/>
            </a:xfrm>
            <a:custGeom>
              <a:rect b="b" l="l" r="r" t="t"/>
              <a:pathLst>
                <a:path extrusionOk="0" h="76200" w="923925">
                  <a:moveTo>
                    <a:pt x="38100" y="0"/>
                  </a:moveTo>
                  <a:lnTo>
                    <a:pt x="885825" y="0"/>
                  </a:lnTo>
                  <a:cubicBezTo>
                    <a:pt x="906867" y="0"/>
                    <a:pt x="923925" y="17058"/>
                    <a:pt x="923925" y="38100"/>
                  </a:cubicBezTo>
                  <a:lnTo>
                    <a:pt x="923925" y="38100"/>
                  </a:lnTo>
                  <a:cubicBezTo>
                    <a:pt x="923925" y="59142"/>
                    <a:pt x="906867" y="76200"/>
                    <a:pt x="885825" y="76200"/>
                  </a:cubicBezTo>
                  <a:lnTo>
                    <a:pt x="38100" y="76200"/>
                  </a:lnTo>
                  <a:cubicBezTo>
                    <a:pt x="17058" y="76200"/>
                    <a:pt x="0" y="59142"/>
                    <a:pt x="0" y="38100"/>
                  </a:cubicBezTo>
                  <a:lnTo>
                    <a:pt x="0" y="38100"/>
                  </a:lnTo>
                  <a:cubicBezTo>
                    <a:pt x="0" y="17058"/>
                    <a:pt x="17058" y="0"/>
                    <a:pt x="38100" y="0"/>
                  </a:cubicBez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13"/>
          <p:cNvGrpSpPr/>
          <p:nvPr/>
        </p:nvGrpSpPr>
        <p:grpSpPr>
          <a:xfrm>
            <a:off x="4286250" y="1771650"/>
            <a:ext cx="3619500" cy="1905000"/>
            <a:chOff x="4286250" y="1771650"/>
            <a:chExt cx="3619500" cy="1905000"/>
          </a:xfrm>
        </p:grpSpPr>
        <p:sp>
          <p:nvSpPr>
            <p:cNvPr id="722" name="Google Shape;722;p13"/>
            <p:cNvSpPr/>
            <p:nvPr/>
          </p:nvSpPr>
          <p:spPr>
            <a:xfrm>
              <a:off x="4286250" y="1771650"/>
              <a:ext cx="3619500" cy="1905000"/>
            </a:xfrm>
            <a:custGeom>
              <a:rect b="b" l="l" r="r" t="t"/>
              <a:pathLst>
                <a:path extrusionOk="0" h="1905000" w="3619500">
                  <a:moveTo>
                    <a:pt x="95250" y="0"/>
                  </a:moveTo>
                  <a:lnTo>
                    <a:pt x="3524250" y="0"/>
                  </a:lnTo>
                  <a:cubicBezTo>
                    <a:pt x="3576855" y="0"/>
                    <a:pt x="3619500" y="42645"/>
                    <a:pt x="3619500" y="95250"/>
                  </a:cubicBezTo>
                  <a:lnTo>
                    <a:pt x="3619500" y="1809750"/>
                  </a:lnTo>
                  <a:cubicBezTo>
                    <a:pt x="3619500" y="1862355"/>
                    <a:pt x="3576855" y="1905000"/>
                    <a:pt x="3524250" y="1905000"/>
                  </a:cubicBezTo>
                  <a:lnTo>
                    <a:pt x="95250" y="1905000"/>
                  </a:lnTo>
                  <a:cubicBezTo>
                    <a:pt x="42645" y="1905000"/>
                    <a:pt x="0" y="1862355"/>
                    <a:pt x="0" y="1809750"/>
                  </a:cubicBezTo>
                  <a:lnTo>
                    <a:pt x="0" y="95250"/>
                  </a:lnTo>
                  <a:cubicBezTo>
                    <a:pt x="0" y="42645"/>
                    <a:pt x="42645" y="0"/>
                    <a:pt x="95250" y="0"/>
                  </a:cubicBezTo>
                  <a:close/>
                </a:path>
              </a:pathLst>
            </a:custGeom>
            <a:solidFill>
              <a:srgbClr val="F57C0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3"/>
            <p:cNvSpPr/>
            <p:nvPr/>
          </p:nvSpPr>
          <p:spPr>
            <a:xfrm>
              <a:off x="4286250" y="1771650"/>
              <a:ext cx="3619500" cy="57150"/>
            </a:xfrm>
            <a:custGeom>
              <a:rect b="b" l="l" r="r" t="t"/>
              <a:pathLst>
                <a:path extrusionOk="0" h="57150" w="3619500">
                  <a:moveTo>
                    <a:pt x="28575" y="0"/>
                  </a:moveTo>
                  <a:lnTo>
                    <a:pt x="3590925" y="0"/>
                  </a:lnTo>
                  <a:cubicBezTo>
                    <a:pt x="3606707" y="0"/>
                    <a:pt x="3619500" y="12793"/>
                    <a:pt x="3619500" y="28575"/>
                  </a:cubicBezTo>
                  <a:lnTo>
                    <a:pt x="3619500" y="28575"/>
                  </a:lnTo>
                  <a:cubicBezTo>
                    <a:pt x="3619500" y="44357"/>
                    <a:pt x="3606707" y="57150"/>
                    <a:pt x="3590925" y="57150"/>
                  </a:cubicBezTo>
                  <a:lnTo>
                    <a:pt x="28575" y="57150"/>
                  </a:lnTo>
                  <a:cubicBezTo>
                    <a:pt x="12793" y="57150"/>
                    <a:pt x="0" y="44357"/>
                    <a:pt x="0" y="28575"/>
                  </a:cubicBezTo>
                  <a:lnTo>
                    <a:pt x="0" y="28575"/>
                  </a:lnTo>
                  <a:cubicBezTo>
                    <a:pt x="0" y="12793"/>
                    <a:pt x="12793" y="0"/>
                    <a:pt x="28575" y="0"/>
                  </a:cubicBezTo>
                  <a:close/>
                </a:path>
              </a:pathLst>
            </a:cu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3"/>
            <p:cNvSpPr/>
            <p:nvPr/>
          </p:nvSpPr>
          <p:spPr>
            <a:xfrm>
              <a:off x="4552950" y="2057400"/>
              <a:ext cx="285750" cy="267891"/>
            </a:xfrm>
            <a:custGeom>
              <a:rect b="b" l="l" r="r" t="t"/>
              <a:pathLst>
                <a:path extrusionOk="0" h="267891" w="285750">
                  <a:moveTo>
                    <a:pt x="285750" y="267891"/>
                  </a:moveTo>
                  <a:lnTo>
                    <a:pt x="0" y="267891"/>
                  </a:lnTo>
                  <a:lnTo>
                    <a:pt x="0" y="214312"/>
                  </a:lnTo>
                  <a:lnTo>
                    <a:pt x="125016" y="0"/>
                  </a:lnTo>
                  <a:lnTo>
                    <a:pt x="160734" y="0"/>
                  </a:lnTo>
                  <a:lnTo>
                    <a:pt x="285750" y="214312"/>
                  </a:lnTo>
                  <a:lnTo>
                    <a:pt x="285750" y="267891"/>
                  </a:lnTo>
                  <a:close/>
                  <a:moveTo>
                    <a:pt x="125016" y="71438"/>
                  </a:moveTo>
                  <a:lnTo>
                    <a:pt x="160734" y="71438"/>
                  </a:lnTo>
                  <a:lnTo>
                    <a:pt x="160734" y="160734"/>
                  </a:lnTo>
                  <a:lnTo>
                    <a:pt x="125016" y="160734"/>
                  </a:lnTo>
                  <a:lnTo>
                    <a:pt x="125016" y="71438"/>
                  </a:lnTo>
                  <a:close/>
                  <a:moveTo>
                    <a:pt x="125016" y="196453"/>
                  </a:moveTo>
                  <a:lnTo>
                    <a:pt x="160734" y="196453"/>
                  </a:lnTo>
                  <a:lnTo>
                    <a:pt x="160734" y="232172"/>
                  </a:lnTo>
                  <a:lnTo>
                    <a:pt x="125016" y="232172"/>
                  </a:lnTo>
                  <a:lnTo>
                    <a:pt x="125016" y="196453"/>
                  </a:lnTo>
                  <a:close/>
                </a:path>
              </a:pathLst>
            </a:custGeom>
            <a:solidFill>
              <a:srgbClr val="F57C00"/>
            </a:solidFill>
            <a:ln>
              <a:noFill/>
            </a:ln>
          </p:spPr>
        </p:sp>
        <p:sp>
          <p:nvSpPr>
            <p:cNvPr id="725" name="Google Shape;725;p13"/>
            <p:cNvSpPr txBox="1"/>
            <p:nvPr/>
          </p:nvSpPr>
          <p:spPr>
            <a:xfrm>
              <a:off x="4932045" y="2107882"/>
              <a:ext cx="914869"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F57C00"/>
                  </a:solidFill>
                  <a:latin typeface="Quattrocento Sans"/>
                  <a:ea typeface="Quattrocento Sans"/>
                  <a:cs typeface="Quattrocento Sans"/>
                  <a:sym typeface="Quattrocento Sans"/>
                </a:rPr>
                <a:t>Medium</a:t>
              </a:r>
              <a:endParaRPr/>
            </a:p>
          </p:txBody>
        </p:sp>
        <p:sp>
          <p:nvSpPr>
            <p:cNvPr id="726" name="Google Shape;726;p13"/>
            <p:cNvSpPr txBox="1"/>
            <p:nvPr/>
          </p:nvSpPr>
          <p:spPr>
            <a:xfrm>
              <a:off x="4514850" y="2533650"/>
              <a:ext cx="1479375"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F57C00"/>
                  </a:solidFill>
                  <a:latin typeface="Quattrocento Sans"/>
                  <a:ea typeface="Quattrocento Sans"/>
                  <a:cs typeface="Quattrocento Sans"/>
                  <a:sym typeface="Quattrocento Sans"/>
                </a:rPr>
                <a:t>31–70%</a:t>
              </a:r>
              <a:endParaRPr/>
            </a:p>
          </p:txBody>
        </p:sp>
        <p:sp>
          <p:nvSpPr>
            <p:cNvPr id="727" name="Google Shape;727;p13"/>
            <p:cNvSpPr txBox="1"/>
            <p:nvPr/>
          </p:nvSpPr>
          <p:spPr>
            <a:xfrm>
              <a:off x="4537710" y="3108960"/>
              <a:ext cx="1493901"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Churn probability</a:t>
              </a:r>
              <a:endParaRPr/>
            </a:p>
          </p:txBody>
        </p:sp>
        <p:sp>
          <p:nvSpPr>
            <p:cNvPr id="728" name="Google Shape;728;p13"/>
            <p:cNvSpPr/>
            <p:nvPr/>
          </p:nvSpPr>
          <p:spPr>
            <a:xfrm>
              <a:off x="4552950" y="3352800"/>
              <a:ext cx="3086100" cy="76200"/>
            </a:xfrm>
            <a:custGeom>
              <a:rect b="b" l="l" r="r" t="t"/>
              <a:pathLst>
                <a:path extrusionOk="0" h="76200" w="3086100">
                  <a:moveTo>
                    <a:pt x="38100" y="0"/>
                  </a:moveTo>
                  <a:lnTo>
                    <a:pt x="3048000" y="0"/>
                  </a:lnTo>
                  <a:cubicBezTo>
                    <a:pt x="3069042" y="0"/>
                    <a:pt x="3086100" y="17058"/>
                    <a:pt x="3086100" y="38100"/>
                  </a:cubicBezTo>
                  <a:lnTo>
                    <a:pt x="3086100" y="38100"/>
                  </a:lnTo>
                  <a:cubicBezTo>
                    <a:pt x="3086100" y="59142"/>
                    <a:pt x="3069042" y="76200"/>
                    <a:pt x="3048000" y="76200"/>
                  </a:cubicBezTo>
                  <a:lnTo>
                    <a:pt x="38100" y="76200"/>
                  </a:lnTo>
                  <a:cubicBezTo>
                    <a:pt x="17058" y="76200"/>
                    <a:pt x="0" y="59142"/>
                    <a:pt x="0" y="38100"/>
                  </a:cubicBezTo>
                  <a:lnTo>
                    <a:pt x="0" y="38100"/>
                  </a:lnTo>
                  <a:cubicBezTo>
                    <a:pt x="0" y="17058"/>
                    <a:pt x="17058" y="0"/>
                    <a:pt x="381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3"/>
            <p:cNvSpPr/>
            <p:nvPr/>
          </p:nvSpPr>
          <p:spPr>
            <a:xfrm>
              <a:off x="4552950" y="3352800"/>
              <a:ext cx="1543050" cy="76200"/>
            </a:xfrm>
            <a:custGeom>
              <a:rect b="b" l="l" r="r" t="t"/>
              <a:pathLst>
                <a:path extrusionOk="0" h="76200" w="1543050">
                  <a:moveTo>
                    <a:pt x="38100" y="0"/>
                  </a:moveTo>
                  <a:lnTo>
                    <a:pt x="1504950" y="0"/>
                  </a:lnTo>
                  <a:cubicBezTo>
                    <a:pt x="1525992" y="0"/>
                    <a:pt x="1543050" y="17058"/>
                    <a:pt x="1543050" y="38100"/>
                  </a:cubicBezTo>
                  <a:lnTo>
                    <a:pt x="1543050" y="38100"/>
                  </a:lnTo>
                  <a:cubicBezTo>
                    <a:pt x="1543050" y="59142"/>
                    <a:pt x="1525992" y="76200"/>
                    <a:pt x="1504950" y="76200"/>
                  </a:cubicBezTo>
                  <a:lnTo>
                    <a:pt x="38100" y="76200"/>
                  </a:lnTo>
                  <a:cubicBezTo>
                    <a:pt x="17058" y="76200"/>
                    <a:pt x="0" y="59142"/>
                    <a:pt x="0" y="38100"/>
                  </a:cubicBezTo>
                  <a:lnTo>
                    <a:pt x="0" y="38100"/>
                  </a:lnTo>
                  <a:cubicBezTo>
                    <a:pt x="0" y="17058"/>
                    <a:pt x="17058" y="0"/>
                    <a:pt x="38100" y="0"/>
                  </a:cubicBezTo>
                  <a:close/>
                </a:path>
              </a:pathLst>
            </a:cu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 name="Google Shape;730;p13"/>
          <p:cNvGrpSpPr/>
          <p:nvPr/>
        </p:nvGrpSpPr>
        <p:grpSpPr>
          <a:xfrm>
            <a:off x="8001000" y="1771650"/>
            <a:ext cx="3619500" cy="1905000"/>
            <a:chOff x="8001000" y="1771650"/>
            <a:chExt cx="3619500" cy="1905000"/>
          </a:xfrm>
        </p:grpSpPr>
        <p:sp>
          <p:nvSpPr>
            <p:cNvPr id="731" name="Google Shape;731;p13"/>
            <p:cNvSpPr/>
            <p:nvPr/>
          </p:nvSpPr>
          <p:spPr>
            <a:xfrm>
              <a:off x="8001000" y="1771650"/>
              <a:ext cx="3619500" cy="1905000"/>
            </a:xfrm>
            <a:custGeom>
              <a:rect b="b" l="l" r="r" t="t"/>
              <a:pathLst>
                <a:path extrusionOk="0" h="1905000" w="3619500">
                  <a:moveTo>
                    <a:pt x="95250" y="0"/>
                  </a:moveTo>
                  <a:lnTo>
                    <a:pt x="3524250" y="0"/>
                  </a:lnTo>
                  <a:cubicBezTo>
                    <a:pt x="3576855" y="0"/>
                    <a:pt x="3619500" y="42645"/>
                    <a:pt x="3619500" y="95250"/>
                  </a:cubicBezTo>
                  <a:lnTo>
                    <a:pt x="3619500" y="1809750"/>
                  </a:lnTo>
                  <a:cubicBezTo>
                    <a:pt x="3619500" y="1862355"/>
                    <a:pt x="3576855" y="1905000"/>
                    <a:pt x="3524250" y="1905000"/>
                  </a:cubicBezTo>
                  <a:lnTo>
                    <a:pt x="95250" y="1905000"/>
                  </a:lnTo>
                  <a:cubicBezTo>
                    <a:pt x="42645" y="1905000"/>
                    <a:pt x="0" y="1862355"/>
                    <a:pt x="0" y="1809750"/>
                  </a:cubicBezTo>
                  <a:lnTo>
                    <a:pt x="0" y="95250"/>
                  </a:lnTo>
                  <a:cubicBezTo>
                    <a:pt x="0" y="42645"/>
                    <a:pt x="42645" y="0"/>
                    <a:pt x="95250" y="0"/>
                  </a:cubicBezTo>
                  <a:close/>
                </a:path>
              </a:pathLst>
            </a:custGeom>
            <a:solidFill>
              <a:srgbClr val="C6282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3"/>
            <p:cNvSpPr/>
            <p:nvPr/>
          </p:nvSpPr>
          <p:spPr>
            <a:xfrm>
              <a:off x="8001000" y="1771650"/>
              <a:ext cx="3619500" cy="57150"/>
            </a:xfrm>
            <a:custGeom>
              <a:rect b="b" l="l" r="r" t="t"/>
              <a:pathLst>
                <a:path extrusionOk="0" h="57150" w="3619500">
                  <a:moveTo>
                    <a:pt x="28575" y="0"/>
                  </a:moveTo>
                  <a:lnTo>
                    <a:pt x="3590925" y="0"/>
                  </a:lnTo>
                  <a:cubicBezTo>
                    <a:pt x="3606707" y="0"/>
                    <a:pt x="3619500" y="12793"/>
                    <a:pt x="3619500" y="28575"/>
                  </a:cubicBezTo>
                  <a:lnTo>
                    <a:pt x="3619500" y="28575"/>
                  </a:lnTo>
                  <a:cubicBezTo>
                    <a:pt x="3619500" y="44357"/>
                    <a:pt x="3606707" y="57150"/>
                    <a:pt x="3590925" y="57150"/>
                  </a:cubicBezTo>
                  <a:lnTo>
                    <a:pt x="28575" y="57150"/>
                  </a:lnTo>
                  <a:cubicBezTo>
                    <a:pt x="12793" y="57150"/>
                    <a:pt x="0" y="44357"/>
                    <a:pt x="0" y="28575"/>
                  </a:cubicBezTo>
                  <a:lnTo>
                    <a:pt x="0" y="28575"/>
                  </a:lnTo>
                  <a:cubicBezTo>
                    <a:pt x="0" y="12793"/>
                    <a:pt x="12793" y="0"/>
                    <a:pt x="28575" y="0"/>
                  </a:cubicBezTo>
                  <a:close/>
                </a:path>
              </a:pathLst>
            </a:cu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3"/>
            <p:cNvSpPr/>
            <p:nvPr/>
          </p:nvSpPr>
          <p:spPr>
            <a:xfrm>
              <a:off x="8267700" y="2057400"/>
              <a:ext cx="285750" cy="285750"/>
            </a:xfrm>
            <a:custGeom>
              <a:rect b="b" l="l" r="r" t="t"/>
              <a:pathLst>
                <a:path extrusionOk="0" h="285750" w="285750">
                  <a:moveTo>
                    <a:pt x="142875" y="285750"/>
                  </a:moveTo>
                  <a:cubicBezTo>
                    <a:pt x="221783" y="285750"/>
                    <a:pt x="285750" y="221783"/>
                    <a:pt x="285750" y="142875"/>
                  </a:cubicBezTo>
                  <a:cubicBezTo>
                    <a:pt x="285750" y="63967"/>
                    <a:pt x="221783" y="0"/>
                    <a:pt x="142875" y="0"/>
                  </a:cubicBezTo>
                  <a:cubicBezTo>
                    <a:pt x="63967" y="0"/>
                    <a:pt x="0" y="63967"/>
                    <a:pt x="0" y="142875"/>
                  </a:cubicBezTo>
                  <a:cubicBezTo>
                    <a:pt x="0" y="221783"/>
                    <a:pt x="63967" y="285750"/>
                    <a:pt x="142875" y="285750"/>
                  </a:cubicBezTo>
                  <a:close/>
                  <a:moveTo>
                    <a:pt x="125016" y="160734"/>
                  </a:moveTo>
                  <a:lnTo>
                    <a:pt x="125016" y="53578"/>
                  </a:lnTo>
                  <a:lnTo>
                    <a:pt x="160734" y="53578"/>
                  </a:lnTo>
                  <a:lnTo>
                    <a:pt x="160734" y="160734"/>
                  </a:lnTo>
                  <a:lnTo>
                    <a:pt x="125016" y="160734"/>
                  </a:lnTo>
                  <a:close/>
                  <a:moveTo>
                    <a:pt x="125016" y="232172"/>
                  </a:moveTo>
                  <a:lnTo>
                    <a:pt x="125016" y="196453"/>
                  </a:lnTo>
                  <a:lnTo>
                    <a:pt x="160734" y="196453"/>
                  </a:lnTo>
                  <a:lnTo>
                    <a:pt x="160734" y="232172"/>
                  </a:lnTo>
                  <a:lnTo>
                    <a:pt x="125016" y="232172"/>
                  </a:lnTo>
                  <a:close/>
                </a:path>
              </a:pathLst>
            </a:cu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3"/>
            <p:cNvSpPr txBox="1"/>
            <p:nvPr/>
          </p:nvSpPr>
          <p:spPr>
            <a:xfrm>
              <a:off x="8646795" y="2107882"/>
              <a:ext cx="535322" cy="335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650" u="none" cap="none" strike="noStrike">
                  <a:solidFill>
                    <a:srgbClr val="C62828"/>
                  </a:solidFill>
                  <a:latin typeface="Quattrocento Sans"/>
                  <a:ea typeface="Quattrocento Sans"/>
                  <a:cs typeface="Quattrocento Sans"/>
                  <a:sym typeface="Quattrocento Sans"/>
                </a:rPr>
                <a:t>High</a:t>
              </a:r>
              <a:endParaRPr/>
            </a:p>
          </p:txBody>
        </p:sp>
        <p:sp>
          <p:nvSpPr>
            <p:cNvPr id="735" name="Google Shape;735;p13"/>
            <p:cNvSpPr txBox="1"/>
            <p:nvPr/>
          </p:nvSpPr>
          <p:spPr>
            <a:xfrm>
              <a:off x="8229600" y="2533650"/>
              <a:ext cx="1617393" cy="60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3000" u="none" cap="none" strike="noStrike">
                  <a:solidFill>
                    <a:srgbClr val="C62828"/>
                  </a:solidFill>
                  <a:latin typeface="Quattrocento Sans"/>
                  <a:ea typeface="Quattrocento Sans"/>
                  <a:cs typeface="Quattrocento Sans"/>
                  <a:sym typeface="Quattrocento Sans"/>
                </a:rPr>
                <a:t>71–100%</a:t>
              </a:r>
              <a:endParaRPr/>
            </a:p>
          </p:txBody>
        </p:sp>
        <p:sp>
          <p:nvSpPr>
            <p:cNvPr id="736" name="Google Shape;736;p13"/>
            <p:cNvSpPr txBox="1"/>
            <p:nvPr/>
          </p:nvSpPr>
          <p:spPr>
            <a:xfrm>
              <a:off x="8252460" y="3108960"/>
              <a:ext cx="1493901"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Churn probability</a:t>
              </a:r>
              <a:endParaRPr/>
            </a:p>
          </p:txBody>
        </p:sp>
        <p:sp>
          <p:nvSpPr>
            <p:cNvPr id="737" name="Google Shape;737;p13"/>
            <p:cNvSpPr/>
            <p:nvPr/>
          </p:nvSpPr>
          <p:spPr>
            <a:xfrm>
              <a:off x="8267700" y="3352800"/>
              <a:ext cx="3086100" cy="76200"/>
            </a:xfrm>
            <a:custGeom>
              <a:rect b="b" l="l" r="r" t="t"/>
              <a:pathLst>
                <a:path extrusionOk="0" h="76200" w="3086100">
                  <a:moveTo>
                    <a:pt x="38100" y="0"/>
                  </a:moveTo>
                  <a:lnTo>
                    <a:pt x="3048000" y="0"/>
                  </a:lnTo>
                  <a:cubicBezTo>
                    <a:pt x="3069042" y="0"/>
                    <a:pt x="3086100" y="17058"/>
                    <a:pt x="3086100" y="38100"/>
                  </a:cubicBezTo>
                  <a:lnTo>
                    <a:pt x="3086100" y="38100"/>
                  </a:lnTo>
                  <a:cubicBezTo>
                    <a:pt x="3086100" y="59142"/>
                    <a:pt x="3069042" y="76200"/>
                    <a:pt x="3048000" y="76200"/>
                  </a:cubicBezTo>
                  <a:lnTo>
                    <a:pt x="38100" y="76200"/>
                  </a:lnTo>
                  <a:cubicBezTo>
                    <a:pt x="17058" y="76200"/>
                    <a:pt x="0" y="59142"/>
                    <a:pt x="0" y="38100"/>
                  </a:cubicBezTo>
                  <a:lnTo>
                    <a:pt x="0" y="38100"/>
                  </a:lnTo>
                  <a:cubicBezTo>
                    <a:pt x="0" y="17058"/>
                    <a:pt x="17058" y="0"/>
                    <a:pt x="381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3"/>
            <p:cNvSpPr/>
            <p:nvPr/>
          </p:nvSpPr>
          <p:spPr>
            <a:xfrm>
              <a:off x="8267700" y="3352800"/>
              <a:ext cx="2933700" cy="76200"/>
            </a:xfrm>
            <a:custGeom>
              <a:rect b="b" l="l" r="r" t="t"/>
              <a:pathLst>
                <a:path extrusionOk="0" h="76200" w="2933700">
                  <a:moveTo>
                    <a:pt x="38100" y="0"/>
                  </a:moveTo>
                  <a:lnTo>
                    <a:pt x="2895600" y="0"/>
                  </a:lnTo>
                  <a:cubicBezTo>
                    <a:pt x="2916642" y="0"/>
                    <a:pt x="2933700" y="17058"/>
                    <a:pt x="2933700" y="38100"/>
                  </a:cubicBezTo>
                  <a:lnTo>
                    <a:pt x="2933700" y="38100"/>
                  </a:lnTo>
                  <a:cubicBezTo>
                    <a:pt x="2933700" y="59142"/>
                    <a:pt x="2916642" y="76200"/>
                    <a:pt x="2895600" y="76200"/>
                  </a:cubicBezTo>
                  <a:lnTo>
                    <a:pt x="38100" y="76200"/>
                  </a:lnTo>
                  <a:cubicBezTo>
                    <a:pt x="17058" y="76200"/>
                    <a:pt x="0" y="59142"/>
                    <a:pt x="0" y="38100"/>
                  </a:cubicBezTo>
                  <a:lnTo>
                    <a:pt x="0" y="38100"/>
                  </a:lnTo>
                  <a:cubicBezTo>
                    <a:pt x="0" y="17058"/>
                    <a:pt x="17058" y="0"/>
                    <a:pt x="38100" y="0"/>
                  </a:cubicBezTo>
                  <a:close/>
                </a:path>
              </a:pathLst>
            </a:cu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 name="Google Shape;739;p13"/>
          <p:cNvGrpSpPr/>
          <p:nvPr/>
        </p:nvGrpSpPr>
        <p:grpSpPr>
          <a:xfrm>
            <a:off x="557212" y="4088606"/>
            <a:ext cx="11063288" cy="1321594"/>
            <a:chOff x="557212" y="4088606"/>
            <a:chExt cx="11063288" cy="1321594"/>
          </a:xfrm>
        </p:grpSpPr>
        <p:sp>
          <p:nvSpPr>
            <p:cNvPr id="740" name="Google Shape;740;p13"/>
            <p:cNvSpPr txBox="1"/>
            <p:nvPr/>
          </p:nvSpPr>
          <p:spPr>
            <a:xfrm>
              <a:off x="557212" y="4088606"/>
              <a:ext cx="72728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25" u="none" cap="none" strike="noStrike">
                  <a:solidFill>
                    <a:srgbClr val="1565C0"/>
                  </a:solidFill>
                  <a:latin typeface="Quattrocento Sans"/>
                  <a:ea typeface="Quattrocento Sans"/>
                  <a:cs typeface="Quattrocento Sans"/>
                  <a:sym typeface="Quattrocento Sans"/>
                </a:rPr>
                <a:t>EXAMPLE</a:t>
              </a:r>
              <a:endParaRPr/>
            </a:p>
          </p:txBody>
        </p:sp>
        <p:grpSp>
          <p:nvGrpSpPr>
            <p:cNvPr id="741" name="Google Shape;741;p13"/>
            <p:cNvGrpSpPr/>
            <p:nvPr/>
          </p:nvGrpSpPr>
          <p:grpSpPr>
            <a:xfrm>
              <a:off x="571500" y="4362450"/>
              <a:ext cx="3524250" cy="1047750"/>
              <a:chOff x="571500" y="4362450"/>
              <a:chExt cx="3524250" cy="1047750"/>
            </a:xfrm>
          </p:grpSpPr>
          <p:sp>
            <p:nvSpPr>
              <p:cNvPr id="742" name="Google Shape;742;p13"/>
              <p:cNvSpPr/>
              <p:nvPr/>
            </p:nvSpPr>
            <p:spPr>
              <a:xfrm>
                <a:off x="571500" y="4362450"/>
                <a:ext cx="3524250" cy="1047750"/>
              </a:xfrm>
              <a:custGeom>
                <a:rect b="b" l="l" r="r" t="t"/>
                <a:pathLst>
                  <a:path extrusionOk="0" h="1047750" w="3524250">
                    <a:moveTo>
                      <a:pt x="95250" y="0"/>
                    </a:moveTo>
                    <a:lnTo>
                      <a:pt x="3429000" y="0"/>
                    </a:lnTo>
                    <a:cubicBezTo>
                      <a:pt x="3481605" y="0"/>
                      <a:pt x="3524250" y="42645"/>
                      <a:pt x="3524250" y="95250"/>
                    </a:cubicBezTo>
                    <a:lnTo>
                      <a:pt x="3524250" y="952500"/>
                    </a:lnTo>
                    <a:cubicBezTo>
                      <a:pt x="3524250" y="1005105"/>
                      <a:pt x="3481605" y="1047750"/>
                      <a:pt x="3429000" y="1047750"/>
                    </a:cubicBezTo>
                    <a:lnTo>
                      <a:pt x="95250" y="1047750"/>
                    </a:lnTo>
                    <a:cubicBezTo>
                      <a:pt x="42645" y="1047750"/>
                      <a:pt x="0" y="1005105"/>
                      <a:pt x="0" y="9525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3"/>
              <p:cNvSpPr/>
              <p:nvPr/>
            </p:nvSpPr>
            <p:spPr>
              <a:xfrm>
                <a:off x="571500" y="4362450"/>
                <a:ext cx="57150" cy="1047750"/>
              </a:xfrm>
              <a:custGeom>
                <a:rect b="b" l="l" r="r" t="t"/>
                <a:pathLst>
                  <a:path extrusionOk="0" h="1047750" w="57150">
                    <a:moveTo>
                      <a:pt x="28575" y="0"/>
                    </a:moveTo>
                    <a:lnTo>
                      <a:pt x="28575" y="0"/>
                    </a:lnTo>
                    <a:cubicBezTo>
                      <a:pt x="44357" y="0"/>
                      <a:pt x="57150" y="12793"/>
                      <a:pt x="57150" y="28575"/>
                    </a:cubicBezTo>
                    <a:lnTo>
                      <a:pt x="57150" y="1019175"/>
                    </a:lnTo>
                    <a:cubicBezTo>
                      <a:pt x="57150" y="1034957"/>
                      <a:pt x="44357" y="1047750"/>
                      <a:pt x="28575" y="1047750"/>
                    </a:cubicBezTo>
                    <a:lnTo>
                      <a:pt x="28575" y="1047750"/>
                    </a:lnTo>
                    <a:cubicBezTo>
                      <a:pt x="12793" y="1047750"/>
                      <a:pt x="0" y="1034957"/>
                      <a:pt x="0" y="1019175"/>
                    </a:cubicBezTo>
                    <a:lnTo>
                      <a:pt x="0" y="28575"/>
                    </a:lnTo>
                    <a:cubicBezTo>
                      <a:pt x="0" y="12793"/>
                      <a:pt x="12793" y="0"/>
                      <a:pt x="28575" y="0"/>
                    </a:cubicBezTo>
                    <a:close/>
                  </a:path>
                </a:pathLst>
              </a:cu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3"/>
              <p:cNvSpPr txBox="1"/>
              <p:nvPr/>
            </p:nvSpPr>
            <p:spPr>
              <a:xfrm>
                <a:off x="819150" y="4600575"/>
                <a:ext cx="1061728"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CUST10001</a:t>
                </a:r>
                <a:endParaRPr/>
              </a:p>
            </p:txBody>
          </p:sp>
          <p:sp>
            <p:nvSpPr>
              <p:cNvPr id="745" name="Google Shape;745;p13"/>
              <p:cNvSpPr txBox="1"/>
              <p:nvPr/>
            </p:nvSpPr>
            <p:spPr>
              <a:xfrm>
                <a:off x="823912" y="4983956"/>
                <a:ext cx="75973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CUST10001</a:t>
                </a:r>
                <a:endParaRPr/>
              </a:p>
            </p:txBody>
          </p:sp>
          <p:sp>
            <p:nvSpPr>
              <p:cNvPr id="746" name="Google Shape;746;p13"/>
              <p:cNvSpPr txBox="1"/>
              <p:nvPr/>
            </p:nvSpPr>
            <p:spPr>
              <a:xfrm>
                <a:off x="3409643" y="4584382"/>
                <a:ext cx="459412" cy="33528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650" u="none" cap="none" strike="noStrike">
                    <a:solidFill>
                      <a:srgbClr val="C62828"/>
                    </a:solidFill>
                    <a:latin typeface="Quattrocento Sans"/>
                    <a:ea typeface="Quattrocento Sans"/>
                    <a:cs typeface="Quattrocento Sans"/>
                    <a:sym typeface="Quattrocento Sans"/>
                  </a:rPr>
                  <a:t>97%</a:t>
                </a:r>
                <a:endParaRPr/>
              </a:p>
            </p:txBody>
          </p:sp>
          <p:sp>
            <p:nvSpPr>
              <p:cNvPr id="747" name="Google Shape;747;p13"/>
              <p:cNvSpPr txBox="1"/>
              <p:nvPr/>
            </p:nvSpPr>
            <p:spPr>
              <a:xfrm>
                <a:off x="3059963" y="4975860"/>
                <a:ext cx="803377" cy="2438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200" u="none" cap="none" strike="noStrike">
                    <a:solidFill>
                      <a:srgbClr val="C62828"/>
                    </a:solidFill>
                    <a:latin typeface="Quattrocento Sans"/>
                    <a:ea typeface="Quattrocento Sans"/>
                    <a:cs typeface="Quattrocento Sans"/>
                    <a:sym typeface="Quattrocento Sans"/>
                  </a:rPr>
                  <a:t>High Risk</a:t>
                </a:r>
                <a:endParaRPr/>
              </a:p>
            </p:txBody>
          </p:sp>
        </p:grpSp>
        <p:grpSp>
          <p:nvGrpSpPr>
            <p:cNvPr id="748" name="Google Shape;748;p13"/>
            <p:cNvGrpSpPr/>
            <p:nvPr/>
          </p:nvGrpSpPr>
          <p:grpSpPr>
            <a:xfrm>
              <a:off x="4333875" y="4362450"/>
              <a:ext cx="3524250" cy="1047750"/>
              <a:chOff x="4333875" y="4362450"/>
              <a:chExt cx="3524250" cy="1047750"/>
            </a:xfrm>
          </p:grpSpPr>
          <p:sp>
            <p:nvSpPr>
              <p:cNvPr id="749" name="Google Shape;749;p13"/>
              <p:cNvSpPr/>
              <p:nvPr/>
            </p:nvSpPr>
            <p:spPr>
              <a:xfrm>
                <a:off x="4333875" y="4362450"/>
                <a:ext cx="3524250" cy="1047750"/>
              </a:xfrm>
              <a:custGeom>
                <a:rect b="b" l="l" r="r" t="t"/>
                <a:pathLst>
                  <a:path extrusionOk="0" h="1047750" w="3524250">
                    <a:moveTo>
                      <a:pt x="95250" y="0"/>
                    </a:moveTo>
                    <a:lnTo>
                      <a:pt x="3429000" y="0"/>
                    </a:lnTo>
                    <a:cubicBezTo>
                      <a:pt x="3481605" y="0"/>
                      <a:pt x="3524250" y="42645"/>
                      <a:pt x="3524250" y="95250"/>
                    </a:cubicBezTo>
                    <a:lnTo>
                      <a:pt x="3524250" y="952500"/>
                    </a:lnTo>
                    <a:cubicBezTo>
                      <a:pt x="3524250" y="1005105"/>
                      <a:pt x="3481605" y="1047750"/>
                      <a:pt x="3429000" y="1047750"/>
                    </a:cubicBezTo>
                    <a:lnTo>
                      <a:pt x="95250" y="1047750"/>
                    </a:lnTo>
                    <a:cubicBezTo>
                      <a:pt x="42645" y="1047750"/>
                      <a:pt x="0" y="1005105"/>
                      <a:pt x="0" y="9525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3"/>
              <p:cNvSpPr/>
              <p:nvPr/>
            </p:nvSpPr>
            <p:spPr>
              <a:xfrm>
                <a:off x="4333875" y="4362450"/>
                <a:ext cx="57150" cy="1047750"/>
              </a:xfrm>
              <a:custGeom>
                <a:rect b="b" l="l" r="r" t="t"/>
                <a:pathLst>
                  <a:path extrusionOk="0" h="1047750" w="57150">
                    <a:moveTo>
                      <a:pt x="28575" y="0"/>
                    </a:moveTo>
                    <a:lnTo>
                      <a:pt x="28575" y="0"/>
                    </a:lnTo>
                    <a:cubicBezTo>
                      <a:pt x="44357" y="0"/>
                      <a:pt x="57150" y="12793"/>
                      <a:pt x="57150" y="28575"/>
                    </a:cubicBezTo>
                    <a:lnTo>
                      <a:pt x="57150" y="1019175"/>
                    </a:lnTo>
                    <a:cubicBezTo>
                      <a:pt x="57150" y="1034957"/>
                      <a:pt x="44357" y="1047750"/>
                      <a:pt x="28575" y="1047750"/>
                    </a:cubicBezTo>
                    <a:lnTo>
                      <a:pt x="28575" y="1047750"/>
                    </a:lnTo>
                    <a:cubicBezTo>
                      <a:pt x="12793" y="1047750"/>
                      <a:pt x="0" y="1034957"/>
                      <a:pt x="0" y="1019175"/>
                    </a:cubicBezTo>
                    <a:lnTo>
                      <a:pt x="0" y="28575"/>
                    </a:lnTo>
                    <a:cubicBezTo>
                      <a:pt x="0" y="12793"/>
                      <a:pt x="12793" y="0"/>
                      <a:pt x="28575" y="0"/>
                    </a:cubicBezTo>
                    <a:close/>
                  </a:path>
                </a:pathLst>
              </a:cu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3"/>
              <p:cNvSpPr txBox="1"/>
              <p:nvPr/>
            </p:nvSpPr>
            <p:spPr>
              <a:xfrm>
                <a:off x="4581525" y="4600575"/>
                <a:ext cx="111923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CUST10002</a:t>
                </a:r>
                <a:endParaRPr/>
              </a:p>
            </p:txBody>
          </p:sp>
          <p:sp>
            <p:nvSpPr>
              <p:cNvPr id="752" name="Google Shape;752;p13"/>
              <p:cNvSpPr txBox="1"/>
              <p:nvPr/>
            </p:nvSpPr>
            <p:spPr>
              <a:xfrm>
                <a:off x="4586288" y="4983956"/>
                <a:ext cx="80081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CUST10002</a:t>
                </a:r>
                <a:endParaRPr/>
              </a:p>
            </p:txBody>
          </p:sp>
          <p:sp>
            <p:nvSpPr>
              <p:cNvPr id="753" name="Google Shape;753;p13"/>
              <p:cNvSpPr txBox="1"/>
              <p:nvPr/>
            </p:nvSpPr>
            <p:spPr>
              <a:xfrm>
                <a:off x="7172018" y="4584382"/>
                <a:ext cx="459412" cy="33528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650" u="none" cap="none" strike="noStrike">
                    <a:solidFill>
                      <a:srgbClr val="F57C00"/>
                    </a:solidFill>
                    <a:latin typeface="Quattrocento Sans"/>
                    <a:ea typeface="Quattrocento Sans"/>
                    <a:cs typeface="Quattrocento Sans"/>
                    <a:sym typeface="Quattrocento Sans"/>
                  </a:rPr>
                  <a:t>39%</a:t>
                </a:r>
                <a:endParaRPr/>
              </a:p>
            </p:txBody>
          </p:sp>
          <p:sp>
            <p:nvSpPr>
              <p:cNvPr id="754" name="Google Shape;754;p13"/>
              <p:cNvSpPr txBox="1"/>
              <p:nvPr/>
            </p:nvSpPr>
            <p:spPr>
              <a:xfrm>
                <a:off x="6546304" y="4975860"/>
                <a:ext cx="1079411" cy="2438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200" u="none" cap="none" strike="noStrike">
                    <a:solidFill>
                      <a:srgbClr val="F57C00"/>
                    </a:solidFill>
                    <a:latin typeface="Quattrocento Sans"/>
                    <a:ea typeface="Quattrocento Sans"/>
                    <a:cs typeface="Quattrocento Sans"/>
                    <a:sym typeface="Quattrocento Sans"/>
                  </a:rPr>
                  <a:t>Medium Risk</a:t>
                </a:r>
                <a:endParaRPr/>
              </a:p>
            </p:txBody>
          </p:sp>
        </p:grpSp>
        <p:grpSp>
          <p:nvGrpSpPr>
            <p:cNvPr id="755" name="Google Shape;755;p13"/>
            <p:cNvGrpSpPr/>
            <p:nvPr/>
          </p:nvGrpSpPr>
          <p:grpSpPr>
            <a:xfrm>
              <a:off x="8096250" y="4362450"/>
              <a:ext cx="3524250" cy="1047750"/>
              <a:chOff x="8096250" y="4362450"/>
              <a:chExt cx="3524250" cy="1047750"/>
            </a:xfrm>
          </p:grpSpPr>
          <p:sp>
            <p:nvSpPr>
              <p:cNvPr id="756" name="Google Shape;756;p13"/>
              <p:cNvSpPr/>
              <p:nvPr/>
            </p:nvSpPr>
            <p:spPr>
              <a:xfrm>
                <a:off x="8096250" y="4362450"/>
                <a:ext cx="3524250" cy="1047750"/>
              </a:xfrm>
              <a:custGeom>
                <a:rect b="b" l="l" r="r" t="t"/>
                <a:pathLst>
                  <a:path extrusionOk="0" h="1047750" w="3524250">
                    <a:moveTo>
                      <a:pt x="95250" y="0"/>
                    </a:moveTo>
                    <a:lnTo>
                      <a:pt x="3429000" y="0"/>
                    </a:lnTo>
                    <a:cubicBezTo>
                      <a:pt x="3481605" y="0"/>
                      <a:pt x="3524250" y="42645"/>
                      <a:pt x="3524250" y="95250"/>
                    </a:cubicBezTo>
                    <a:lnTo>
                      <a:pt x="3524250" y="952500"/>
                    </a:lnTo>
                    <a:cubicBezTo>
                      <a:pt x="3524250" y="1005105"/>
                      <a:pt x="3481605" y="1047750"/>
                      <a:pt x="3429000" y="1047750"/>
                    </a:cubicBezTo>
                    <a:lnTo>
                      <a:pt x="95250" y="1047750"/>
                    </a:lnTo>
                    <a:cubicBezTo>
                      <a:pt x="42645" y="1047750"/>
                      <a:pt x="0" y="1005105"/>
                      <a:pt x="0" y="95250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3"/>
              <p:cNvSpPr/>
              <p:nvPr/>
            </p:nvSpPr>
            <p:spPr>
              <a:xfrm>
                <a:off x="8096250" y="4362450"/>
                <a:ext cx="57150" cy="1047750"/>
              </a:xfrm>
              <a:custGeom>
                <a:rect b="b" l="l" r="r" t="t"/>
                <a:pathLst>
                  <a:path extrusionOk="0" h="1047750" w="57150">
                    <a:moveTo>
                      <a:pt x="28575" y="0"/>
                    </a:moveTo>
                    <a:lnTo>
                      <a:pt x="28575" y="0"/>
                    </a:lnTo>
                    <a:cubicBezTo>
                      <a:pt x="44357" y="0"/>
                      <a:pt x="57150" y="12793"/>
                      <a:pt x="57150" y="28575"/>
                    </a:cubicBezTo>
                    <a:lnTo>
                      <a:pt x="57150" y="1019175"/>
                    </a:lnTo>
                    <a:cubicBezTo>
                      <a:pt x="57150" y="1034957"/>
                      <a:pt x="44357" y="1047750"/>
                      <a:pt x="28575" y="1047750"/>
                    </a:cubicBezTo>
                    <a:lnTo>
                      <a:pt x="28575" y="1047750"/>
                    </a:lnTo>
                    <a:cubicBezTo>
                      <a:pt x="12793" y="1047750"/>
                      <a:pt x="0" y="1034957"/>
                      <a:pt x="0" y="1019175"/>
                    </a:cubicBezTo>
                    <a:lnTo>
                      <a:pt x="0" y="28575"/>
                    </a:lnTo>
                    <a:cubicBezTo>
                      <a:pt x="0" y="12793"/>
                      <a:pt x="12793" y="0"/>
                      <a:pt x="28575" y="0"/>
                    </a:cubicBez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
              <p:cNvSpPr txBox="1"/>
              <p:nvPr/>
            </p:nvSpPr>
            <p:spPr>
              <a:xfrm>
                <a:off x="8343900" y="4600575"/>
                <a:ext cx="111923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F2933"/>
                    </a:solidFill>
                    <a:latin typeface="Quattrocento Sans"/>
                    <a:ea typeface="Quattrocento Sans"/>
                    <a:cs typeface="Quattrocento Sans"/>
                    <a:sym typeface="Quattrocento Sans"/>
                  </a:rPr>
                  <a:t>CUST10003</a:t>
                </a:r>
                <a:endParaRPr/>
              </a:p>
            </p:txBody>
          </p:sp>
          <p:sp>
            <p:nvSpPr>
              <p:cNvPr id="759" name="Google Shape;759;p13"/>
              <p:cNvSpPr txBox="1"/>
              <p:nvPr/>
            </p:nvSpPr>
            <p:spPr>
              <a:xfrm>
                <a:off x="8348662" y="4983956"/>
                <a:ext cx="80081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CUST10003</a:t>
                </a:r>
                <a:endParaRPr/>
              </a:p>
            </p:txBody>
          </p:sp>
          <p:sp>
            <p:nvSpPr>
              <p:cNvPr id="760" name="Google Shape;760;p13"/>
              <p:cNvSpPr txBox="1"/>
              <p:nvPr/>
            </p:nvSpPr>
            <p:spPr>
              <a:xfrm>
                <a:off x="11073560" y="4584382"/>
                <a:ext cx="320245" cy="33528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650" u="none" cap="none" strike="noStrike">
                    <a:solidFill>
                      <a:srgbClr val="2E7D32"/>
                    </a:solidFill>
                    <a:latin typeface="Quattrocento Sans"/>
                    <a:ea typeface="Quattrocento Sans"/>
                    <a:cs typeface="Quattrocento Sans"/>
                    <a:sym typeface="Quattrocento Sans"/>
                  </a:rPr>
                  <a:t>5%</a:t>
                </a:r>
                <a:endParaRPr/>
              </a:p>
            </p:txBody>
          </p:sp>
          <p:sp>
            <p:nvSpPr>
              <p:cNvPr id="761" name="Google Shape;761;p13"/>
              <p:cNvSpPr txBox="1"/>
              <p:nvPr/>
            </p:nvSpPr>
            <p:spPr>
              <a:xfrm>
                <a:off x="10603116" y="4975860"/>
                <a:ext cx="784974" cy="2438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200" u="none" cap="none" strike="noStrike">
                    <a:solidFill>
                      <a:srgbClr val="2E7D32"/>
                    </a:solidFill>
                    <a:latin typeface="Quattrocento Sans"/>
                    <a:ea typeface="Quattrocento Sans"/>
                    <a:cs typeface="Quattrocento Sans"/>
                    <a:sym typeface="Quattrocento Sans"/>
                  </a:rPr>
                  <a:t>Low Risk</a:t>
                </a:r>
                <a:endParaRPr/>
              </a:p>
            </p:txBody>
          </p:sp>
        </p:grpSp>
      </p:grpSp>
      <p:grpSp>
        <p:nvGrpSpPr>
          <p:cNvPr id="762" name="Google Shape;762;p13"/>
          <p:cNvGrpSpPr/>
          <p:nvPr/>
        </p:nvGrpSpPr>
        <p:grpSpPr>
          <a:xfrm>
            <a:off x="561022" y="6381750"/>
            <a:ext cx="11069955" cy="345281"/>
            <a:chOff x="561022" y="6381750"/>
            <a:chExt cx="11069955" cy="345281"/>
          </a:xfrm>
        </p:grpSpPr>
        <p:sp>
          <p:nvSpPr>
            <p:cNvPr id="763" name="Google Shape;763;p13"/>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764" name="Google Shape;764;p13"/>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765" name="Google Shape;765;p13"/>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13 / 18</a:t>
              </a:r>
              <a:endParaRPr/>
            </a:p>
          </p:txBody>
        </p:sp>
      </p:gr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4"/>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2" name="Google Shape;772;p14"/>
          <p:cNvGrpSpPr/>
          <p:nvPr/>
        </p:nvGrpSpPr>
        <p:grpSpPr>
          <a:xfrm>
            <a:off x="541020" y="426720"/>
            <a:ext cx="3907041" cy="697230"/>
            <a:chOff x="541020" y="426720"/>
            <a:chExt cx="3907041" cy="697230"/>
          </a:xfrm>
        </p:grpSpPr>
        <p:sp>
          <p:nvSpPr>
            <p:cNvPr id="773" name="Google Shape;773;p14"/>
            <p:cNvSpPr txBox="1"/>
            <p:nvPr/>
          </p:nvSpPr>
          <p:spPr>
            <a:xfrm>
              <a:off x="541020" y="426720"/>
              <a:ext cx="3907041"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Customer Risk Report</a:t>
              </a:r>
              <a:endParaRPr/>
            </a:p>
          </p:txBody>
        </p:sp>
        <p:sp>
          <p:nvSpPr>
            <p:cNvPr id="774" name="Google Shape;774;p14"/>
            <p:cNvSpPr txBox="1"/>
            <p:nvPr/>
          </p:nvSpPr>
          <p:spPr>
            <a:xfrm>
              <a:off x="554355" y="806768"/>
              <a:ext cx="122715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Final Output</a:t>
              </a:r>
              <a:endParaRPr/>
            </a:p>
          </p:txBody>
        </p:sp>
        <p:sp>
          <p:nvSpPr>
            <p:cNvPr id="775" name="Google Shape;775;p14"/>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 name="Google Shape;776;p14"/>
          <p:cNvGrpSpPr/>
          <p:nvPr/>
        </p:nvGrpSpPr>
        <p:grpSpPr>
          <a:xfrm>
            <a:off x="571500" y="1333500"/>
            <a:ext cx="3429000" cy="4305300"/>
            <a:chOff x="571500" y="1333500"/>
            <a:chExt cx="3429000" cy="4305300"/>
          </a:xfrm>
        </p:grpSpPr>
        <p:sp>
          <p:nvSpPr>
            <p:cNvPr id="777" name="Google Shape;777;p14"/>
            <p:cNvSpPr/>
            <p:nvPr/>
          </p:nvSpPr>
          <p:spPr>
            <a:xfrm>
              <a:off x="571500" y="1333500"/>
              <a:ext cx="3429000" cy="4305300"/>
            </a:xfrm>
            <a:custGeom>
              <a:rect b="b" l="l" r="r" t="t"/>
              <a:pathLst>
                <a:path extrusionOk="0" h="4305300" w="3429000">
                  <a:moveTo>
                    <a:pt x="95250" y="0"/>
                  </a:moveTo>
                  <a:lnTo>
                    <a:pt x="3333750" y="0"/>
                  </a:lnTo>
                  <a:cubicBezTo>
                    <a:pt x="3386355" y="0"/>
                    <a:pt x="3429000" y="42645"/>
                    <a:pt x="3429000" y="95250"/>
                  </a:cubicBezTo>
                  <a:lnTo>
                    <a:pt x="3429000" y="4210050"/>
                  </a:lnTo>
                  <a:cubicBezTo>
                    <a:pt x="3429000" y="4262655"/>
                    <a:pt x="3386355" y="4305300"/>
                    <a:pt x="3333750" y="4305300"/>
                  </a:cubicBezTo>
                  <a:lnTo>
                    <a:pt x="95250" y="4305300"/>
                  </a:lnTo>
                  <a:cubicBezTo>
                    <a:pt x="42645" y="4305300"/>
                    <a:pt x="0" y="4262655"/>
                    <a:pt x="0" y="42100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 name="Google Shape;778;p14"/>
            <p:cNvGrpSpPr/>
            <p:nvPr/>
          </p:nvGrpSpPr>
          <p:grpSpPr>
            <a:xfrm>
              <a:off x="871538" y="1581150"/>
              <a:ext cx="200025" cy="266700"/>
              <a:chOff x="871538" y="1581150"/>
              <a:chExt cx="200025" cy="266700"/>
            </a:xfrm>
          </p:grpSpPr>
          <p:sp>
            <p:nvSpPr>
              <p:cNvPr id="779" name="Google Shape;779;p14"/>
              <p:cNvSpPr/>
              <p:nvPr/>
            </p:nvSpPr>
            <p:spPr>
              <a:xfrm>
                <a:off x="938212" y="1581150"/>
                <a:ext cx="66675" cy="50006"/>
              </a:xfrm>
              <a:custGeom>
                <a:rect b="b" l="l" r="r" t="t"/>
                <a:pathLst>
                  <a:path extrusionOk="0" h="50006" w="66675">
                    <a:moveTo>
                      <a:pt x="66675" y="0"/>
                    </a:moveTo>
                    <a:lnTo>
                      <a:pt x="0" y="0"/>
                    </a:lnTo>
                    <a:lnTo>
                      <a:pt x="0" y="50006"/>
                    </a:lnTo>
                    <a:lnTo>
                      <a:pt x="66675" y="50006"/>
                    </a:lnTo>
                    <a:lnTo>
                      <a:pt x="66675" y="0"/>
                    </a:lnTo>
                    <a:close/>
                  </a:path>
                </a:pathLst>
              </a:custGeom>
              <a:solidFill>
                <a:srgbClr val="1565C0"/>
              </a:solidFill>
              <a:ln>
                <a:noFill/>
              </a:ln>
            </p:spPr>
          </p:sp>
          <p:sp>
            <p:nvSpPr>
              <p:cNvPr id="780" name="Google Shape;780;p14"/>
              <p:cNvSpPr/>
              <p:nvPr/>
            </p:nvSpPr>
            <p:spPr>
              <a:xfrm>
                <a:off x="871538" y="1614488"/>
                <a:ext cx="200025" cy="233362"/>
              </a:xfrm>
              <a:custGeom>
                <a:rect b="b" l="l" r="r" t="t"/>
                <a:pathLst>
                  <a:path extrusionOk="0" h="233362" w="200025">
                    <a:moveTo>
                      <a:pt x="33338" y="0"/>
                    </a:moveTo>
                    <a:lnTo>
                      <a:pt x="0" y="0"/>
                    </a:lnTo>
                    <a:lnTo>
                      <a:pt x="0" y="233362"/>
                    </a:lnTo>
                    <a:lnTo>
                      <a:pt x="200025" y="233362"/>
                    </a:lnTo>
                    <a:lnTo>
                      <a:pt x="200025" y="0"/>
                    </a:lnTo>
                    <a:lnTo>
                      <a:pt x="166688" y="0"/>
                    </a:lnTo>
                    <a:lnTo>
                      <a:pt x="166688" y="50006"/>
                    </a:lnTo>
                    <a:lnTo>
                      <a:pt x="33338" y="50006"/>
                    </a:lnTo>
                    <a:lnTo>
                      <a:pt x="33338" y="0"/>
                    </a:lnTo>
                    <a:close/>
                  </a:path>
                </a:pathLst>
              </a:custGeom>
              <a:solidFill>
                <a:srgbClr val="1565C0"/>
              </a:solidFill>
              <a:ln>
                <a:noFill/>
              </a:ln>
            </p:spPr>
          </p:sp>
        </p:grpSp>
        <p:sp>
          <p:nvSpPr>
            <p:cNvPr id="781" name="Google Shape;781;p14"/>
            <p:cNvSpPr txBox="1"/>
            <p:nvPr/>
          </p:nvSpPr>
          <p:spPr>
            <a:xfrm>
              <a:off x="820102" y="2017871"/>
              <a:ext cx="2155910" cy="2895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425" u="none" cap="none" strike="noStrike">
                  <a:solidFill>
                    <a:srgbClr val="1F2933"/>
                  </a:solidFill>
                  <a:latin typeface="Quattrocento Sans"/>
                  <a:ea typeface="Quattrocento Sans"/>
                  <a:cs typeface="Quattrocento Sans"/>
                  <a:sym typeface="Quattrocento Sans"/>
                </a:rPr>
                <a:t>CSV report contains</a:t>
              </a:r>
              <a:endParaRPr/>
            </a:p>
          </p:txBody>
        </p:sp>
        <p:sp>
          <p:nvSpPr>
            <p:cNvPr id="782" name="Google Shape;782;p14"/>
            <p:cNvSpPr/>
            <p:nvPr/>
          </p:nvSpPr>
          <p:spPr>
            <a:xfrm>
              <a:off x="838200" y="2362200"/>
              <a:ext cx="2895600" cy="9525"/>
            </a:xfrm>
            <a:prstGeom prst="rect">
              <a:avLst/>
            </a:prstGeom>
            <a:solidFill>
              <a:srgbClr val="E3E8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 name="Google Shape;783;p14"/>
            <p:cNvGrpSpPr/>
            <p:nvPr/>
          </p:nvGrpSpPr>
          <p:grpSpPr>
            <a:xfrm>
              <a:off x="838200" y="2590800"/>
              <a:ext cx="1360408" cy="309562"/>
              <a:chOff x="838200" y="2590800"/>
              <a:chExt cx="1360408" cy="309562"/>
            </a:xfrm>
          </p:grpSpPr>
          <p:sp>
            <p:nvSpPr>
              <p:cNvPr id="784" name="Google Shape;784;p14"/>
              <p:cNvSpPr/>
              <p:nvPr/>
            </p:nvSpPr>
            <p:spPr>
              <a:xfrm>
                <a:off x="838200" y="2590800"/>
                <a:ext cx="57150" cy="228600"/>
              </a:xfrm>
              <a:custGeom>
                <a:rect b="b" l="l" r="r" t="t"/>
                <a:pathLst>
                  <a:path extrusionOk="0" h="228600" w="57150">
                    <a:moveTo>
                      <a:pt x="28575" y="0"/>
                    </a:moveTo>
                    <a:lnTo>
                      <a:pt x="28575" y="0"/>
                    </a:lnTo>
                    <a:cubicBezTo>
                      <a:pt x="44357" y="0"/>
                      <a:pt x="57150" y="12793"/>
                      <a:pt x="57150" y="28575"/>
                    </a:cubicBezTo>
                    <a:lnTo>
                      <a:pt x="57150" y="200025"/>
                    </a:lnTo>
                    <a:cubicBezTo>
                      <a:pt x="57150" y="215807"/>
                      <a:pt x="44357" y="228600"/>
                      <a:pt x="28575" y="228600"/>
                    </a:cubicBezTo>
                    <a:lnTo>
                      <a:pt x="28575" y="228600"/>
                    </a:lnTo>
                    <a:cubicBezTo>
                      <a:pt x="12793" y="228600"/>
                      <a:pt x="0" y="215807"/>
                      <a:pt x="0" y="2000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4"/>
              <p:cNvSpPr txBox="1"/>
              <p:nvPr/>
            </p:nvSpPr>
            <p:spPr>
              <a:xfrm>
                <a:off x="1030605" y="2626042"/>
                <a:ext cx="116800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Customer ID</a:t>
                </a:r>
                <a:endParaRPr/>
              </a:p>
            </p:txBody>
          </p:sp>
        </p:grpSp>
        <p:sp>
          <p:nvSpPr>
            <p:cNvPr id="786" name="Google Shape;786;p14"/>
            <p:cNvSpPr/>
            <p:nvPr/>
          </p:nvSpPr>
          <p:spPr>
            <a:xfrm>
              <a:off x="838200" y="3009900"/>
              <a:ext cx="2895600" cy="9525"/>
            </a:xfrm>
            <a:custGeom>
              <a:rect b="b" l="l" r="r" t="t"/>
              <a:pathLst>
                <a:path extrusionOk="0" h="9525" w="2895600">
                  <a:moveTo>
                    <a:pt x="0" y="0"/>
                  </a:moveTo>
                  <a:lnTo>
                    <a:pt x="2895600" y="0"/>
                  </a:lnTo>
                </a:path>
              </a:pathLst>
            </a:custGeom>
            <a:noFill/>
            <a:ln cap="flat" cmpd="sng" w="9525">
              <a:solidFill>
                <a:srgbClr val="E3E8EF"/>
              </a:solidFill>
              <a:prstDash val="solid"/>
              <a:round/>
              <a:headEnd len="sm" w="sm" type="none"/>
              <a:tailEnd len="sm" w="sm" type="none"/>
            </a:ln>
          </p:spPr>
        </p:sp>
        <p:grpSp>
          <p:nvGrpSpPr>
            <p:cNvPr id="787" name="Google Shape;787;p14"/>
            <p:cNvGrpSpPr/>
            <p:nvPr/>
          </p:nvGrpSpPr>
          <p:grpSpPr>
            <a:xfrm>
              <a:off x="838200" y="3200400"/>
              <a:ext cx="1429417" cy="309562"/>
              <a:chOff x="838200" y="3200400"/>
              <a:chExt cx="1429417" cy="309562"/>
            </a:xfrm>
          </p:grpSpPr>
          <p:sp>
            <p:nvSpPr>
              <p:cNvPr id="788" name="Google Shape;788;p14"/>
              <p:cNvSpPr/>
              <p:nvPr/>
            </p:nvSpPr>
            <p:spPr>
              <a:xfrm>
                <a:off x="838200" y="3200400"/>
                <a:ext cx="57150" cy="228600"/>
              </a:xfrm>
              <a:custGeom>
                <a:rect b="b" l="l" r="r" t="t"/>
                <a:pathLst>
                  <a:path extrusionOk="0" h="228600" w="57150">
                    <a:moveTo>
                      <a:pt x="28575" y="0"/>
                    </a:moveTo>
                    <a:lnTo>
                      <a:pt x="28575" y="0"/>
                    </a:lnTo>
                    <a:cubicBezTo>
                      <a:pt x="44357" y="0"/>
                      <a:pt x="57150" y="12793"/>
                      <a:pt x="57150" y="28575"/>
                    </a:cubicBezTo>
                    <a:lnTo>
                      <a:pt x="57150" y="200025"/>
                    </a:lnTo>
                    <a:cubicBezTo>
                      <a:pt x="57150" y="215807"/>
                      <a:pt x="44357" y="228600"/>
                      <a:pt x="28575" y="228600"/>
                    </a:cubicBezTo>
                    <a:lnTo>
                      <a:pt x="28575" y="228600"/>
                    </a:lnTo>
                    <a:cubicBezTo>
                      <a:pt x="12793" y="228600"/>
                      <a:pt x="0" y="215807"/>
                      <a:pt x="0" y="2000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txBox="1"/>
              <p:nvPr/>
            </p:nvSpPr>
            <p:spPr>
              <a:xfrm>
                <a:off x="1030605" y="3235642"/>
                <a:ext cx="12370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Actual Churn</a:t>
                </a:r>
                <a:endParaRPr/>
              </a:p>
            </p:txBody>
          </p:sp>
        </p:grpSp>
        <p:sp>
          <p:nvSpPr>
            <p:cNvPr id="790" name="Google Shape;790;p14"/>
            <p:cNvSpPr/>
            <p:nvPr/>
          </p:nvSpPr>
          <p:spPr>
            <a:xfrm>
              <a:off x="838200" y="3619500"/>
              <a:ext cx="2895600" cy="9525"/>
            </a:xfrm>
            <a:custGeom>
              <a:rect b="b" l="l" r="r" t="t"/>
              <a:pathLst>
                <a:path extrusionOk="0" h="9525" w="2895600">
                  <a:moveTo>
                    <a:pt x="0" y="0"/>
                  </a:moveTo>
                  <a:lnTo>
                    <a:pt x="2895600" y="0"/>
                  </a:lnTo>
                </a:path>
              </a:pathLst>
            </a:custGeom>
            <a:noFill/>
            <a:ln cap="flat" cmpd="sng" w="9525">
              <a:solidFill>
                <a:srgbClr val="E3E8EF"/>
              </a:solidFill>
              <a:prstDash val="solid"/>
              <a:round/>
              <a:headEnd len="sm" w="sm" type="none"/>
              <a:tailEnd len="sm" w="sm" type="none"/>
            </a:ln>
          </p:spPr>
        </p:sp>
        <p:grpSp>
          <p:nvGrpSpPr>
            <p:cNvPr id="791" name="Google Shape;791;p14"/>
            <p:cNvGrpSpPr/>
            <p:nvPr/>
          </p:nvGrpSpPr>
          <p:grpSpPr>
            <a:xfrm>
              <a:off x="838200" y="3810000"/>
              <a:ext cx="1873044" cy="309562"/>
              <a:chOff x="838200" y="3810000"/>
              <a:chExt cx="1873044" cy="309562"/>
            </a:xfrm>
          </p:grpSpPr>
          <p:sp>
            <p:nvSpPr>
              <p:cNvPr id="792" name="Google Shape;792;p14"/>
              <p:cNvSpPr/>
              <p:nvPr/>
            </p:nvSpPr>
            <p:spPr>
              <a:xfrm>
                <a:off x="838200" y="3810000"/>
                <a:ext cx="57150" cy="228600"/>
              </a:xfrm>
              <a:custGeom>
                <a:rect b="b" l="l" r="r" t="t"/>
                <a:pathLst>
                  <a:path extrusionOk="0" h="228600" w="57150">
                    <a:moveTo>
                      <a:pt x="28575" y="0"/>
                    </a:moveTo>
                    <a:lnTo>
                      <a:pt x="28575" y="0"/>
                    </a:lnTo>
                    <a:cubicBezTo>
                      <a:pt x="44357" y="0"/>
                      <a:pt x="57150" y="12793"/>
                      <a:pt x="57150" y="28575"/>
                    </a:cubicBezTo>
                    <a:lnTo>
                      <a:pt x="57150" y="200025"/>
                    </a:lnTo>
                    <a:cubicBezTo>
                      <a:pt x="57150" y="215807"/>
                      <a:pt x="44357" y="228600"/>
                      <a:pt x="28575" y="228600"/>
                    </a:cubicBezTo>
                    <a:lnTo>
                      <a:pt x="28575" y="228600"/>
                    </a:lnTo>
                    <a:cubicBezTo>
                      <a:pt x="12793" y="228600"/>
                      <a:pt x="0" y="215807"/>
                      <a:pt x="0" y="2000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4"/>
              <p:cNvSpPr txBox="1"/>
              <p:nvPr/>
            </p:nvSpPr>
            <p:spPr>
              <a:xfrm>
                <a:off x="1030605" y="3845242"/>
                <a:ext cx="1680639"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Churn Probability</a:t>
                </a:r>
                <a:endParaRPr/>
              </a:p>
            </p:txBody>
          </p:sp>
        </p:grpSp>
        <p:sp>
          <p:nvSpPr>
            <p:cNvPr id="794" name="Google Shape;794;p14"/>
            <p:cNvSpPr/>
            <p:nvPr/>
          </p:nvSpPr>
          <p:spPr>
            <a:xfrm>
              <a:off x="838200" y="4229100"/>
              <a:ext cx="2895600" cy="9525"/>
            </a:xfrm>
            <a:custGeom>
              <a:rect b="b" l="l" r="r" t="t"/>
              <a:pathLst>
                <a:path extrusionOk="0" h="9525" w="2895600">
                  <a:moveTo>
                    <a:pt x="0" y="0"/>
                  </a:moveTo>
                  <a:lnTo>
                    <a:pt x="2895600" y="0"/>
                  </a:lnTo>
                </a:path>
              </a:pathLst>
            </a:custGeom>
            <a:noFill/>
            <a:ln cap="flat" cmpd="sng" w="9525">
              <a:solidFill>
                <a:srgbClr val="E3E8EF"/>
              </a:solidFill>
              <a:prstDash val="solid"/>
              <a:round/>
              <a:headEnd len="sm" w="sm" type="none"/>
              <a:tailEnd len="sm" w="sm" type="none"/>
            </a:ln>
          </p:spPr>
        </p:sp>
        <p:grpSp>
          <p:nvGrpSpPr>
            <p:cNvPr id="795" name="Google Shape;795;p14"/>
            <p:cNvGrpSpPr/>
            <p:nvPr/>
          </p:nvGrpSpPr>
          <p:grpSpPr>
            <a:xfrm>
              <a:off x="838200" y="4419600"/>
              <a:ext cx="1163241" cy="309562"/>
              <a:chOff x="838200" y="4419600"/>
              <a:chExt cx="1163241" cy="309562"/>
            </a:xfrm>
          </p:grpSpPr>
          <p:sp>
            <p:nvSpPr>
              <p:cNvPr id="796" name="Google Shape;796;p14"/>
              <p:cNvSpPr/>
              <p:nvPr/>
            </p:nvSpPr>
            <p:spPr>
              <a:xfrm>
                <a:off x="838200" y="4419600"/>
                <a:ext cx="57150" cy="228600"/>
              </a:xfrm>
              <a:custGeom>
                <a:rect b="b" l="l" r="r" t="t"/>
                <a:pathLst>
                  <a:path extrusionOk="0" h="228600" w="57150">
                    <a:moveTo>
                      <a:pt x="28575" y="0"/>
                    </a:moveTo>
                    <a:lnTo>
                      <a:pt x="28575" y="0"/>
                    </a:lnTo>
                    <a:cubicBezTo>
                      <a:pt x="44357" y="0"/>
                      <a:pt x="57150" y="12793"/>
                      <a:pt x="57150" y="28575"/>
                    </a:cubicBezTo>
                    <a:lnTo>
                      <a:pt x="57150" y="200025"/>
                    </a:lnTo>
                    <a:cubicBezTo>
                      <a:pt x="57150" y="215807"/>
                      <a:pt x="44357" y="228600"/>
                      <a:pt x="28575" y="228600"/>
                    </a:cubicBezTo>
                    <a:lnTo>
                      <a:pt x="28575" y="228600"/>
                    </a:lnTo>
                    <a:cubicBezTo>
                      <a:pt x="12793" y="228600"/>
                      <a:pt x="0" y="215807"/>
                      <a:pt x="0" y="20002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4"/>
              <p:cNvSpPr txBox="1"/>
              <p:nvPr/>
            </p:nvSpPr>
            <p:spPr>
              <a:xfrm>
                <a:off x="1030605" y="4454842"/>
                <a:ext cx="970836"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Risk Level</a:t>
                </a:r>
                <a:endParaRPr/>
              </a:p>
            </p:txBody>
          </p:sp>
        </p:grpSp>
        <p:grpSp>
          <p:nvGrpSpPr>
            <p:cNvPr id="798" name="Google Shape;798;p14"/>
            <p:cNvGrpSpPr/>
            <p:nvPr/>
          </p:nvGrpSpPr>
          <p:grpSpPr>
            <a:xfrm>
              <a:off x="838200" y="4876800"/>
              <a:ext cx="2911392" cy="533400"/>
              <a:chOff x="838200" y="4876800"/>
              <a:chExt cx="2911392" cy="533400"/>
            </a:xfrm>
          </p:grpSpPr>
          <p:sp>
            <p:nvSpPr>
              <p:cNvPr id="799" name="Google Shape;799;p14"/>
              <p:cNvSpPr/>
              <p:nvPr/>
            </p:nvSpPr>
            <p:spPr>
              <a:xfrm>
                <a:off x="838200" y="4876800"/>
                <a:ext cx="2895600" cy="533400"/>
              </a:xfrm>
              <a:custGeom>
                <a:rect b="b" l="l" r="r" t="t"/>
                <a:pathLst>
                  <a:path extrusionOk="0" h="533400" w="2895600">
                    <a:moveTo>
                      <a:pt x="76200" y="0"/>
                    </a:moveTo>
                    <a:lnTo>
                      <a:pt x="2819400" y="0"/>
                    </a:lnTo>
                    <a:cubicBezTo>
                      <a:pt x="2861484" y="0"/>
                      <a:pt x="2895600" y="34116"/>
                      <a:pt x="2895600" y="76200"/>
                    </a:cubicBezTo>
                    <a:lnTo>
                      <a:pt x="2895600" y="457200"/>
                    </a:lnTo>
                    <a:cubicBezTo>
                      <a:pt x="2895600" y="499284"/>
                      <a:pt x="2861484" y="533400"/>
                      <a:pt x="2819400" y="533400"/>
                    </a:cubicBezTo>
                    <a:lnTo>
                      <a:pt x="76200" y="533400"/>
                    </a:lnTo>
                    <a:cubicBezTo>
                      <a:pt x="34116" y="533400"/>
                      <a:pt x="0" y="499284"/>
                      <a:pt x="0" y="457200"/>
                    </a:cubicBezTo>
                    <a:lnTo>
                      <a:pt x="0" y="76200"/>
                    </a:lnTo>
                    <a:cubicBezTo>
                      <a:pt x="0" y="34116"/>
                      <a:pt x="34116" y="0"/>
                      <a:pt x="76200" y="0"/>
                    </a:cubicBezTo>
                    <a:close/>
                  </a:path>
                </a:pathLst>
              </a:custGeom>
              <a:solidFill>
                <a:srgbClr val="FFFFFF"/>
              </a:solidFill>
              <a:ln cap="flat" cmpd="sng" w="9525">
                <a:solidFill>
                  <a:srgbClr val="E3E8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0" name="Google Shape;800;p14"/>
              <p:cNvGrpSpPr/>
              <p:nvPr/>
            </p:nvGrpSpPr>
            <p:grpSpPr>
              <a:xfrm>
                <a:off x="1019175" y="5019675"/>
                <a:ext cx="171451" cy="228600"/>
                <a:chOff x="1019175" y="5019675"/>
                <a:chExt cx="171451" cy="228600"/>
              </a:xfrm>
            </p:grpSpPr>
            <p:sp>
              <p:nvSpPr>
                <p:cNvPr id="801" name="Google Shape;801;p14"/>
                <p:cNvSpPr/>
                <p:nvPr/>
              </p:nvSpPr>
              <p:spPr>
                <a:xfrm>
                  <a:off x="1019175" y="5019675"/>
                  <a:ext cx="171450" cy="228600"/>
                </a:xfrm>
                <a:custGeom>
                  <a:rect b="b" l="l" r="r" t="t"/>
                  <a:pathLst>
                    <a:path extrusionOk="0" h="228600" w="171450">
                      <a:moveTo>
                        <a:pt x="71438" y="0"/>
                      </a:moveTo>
                      <a:lnTo>
                        <a:pt x="0" y="0"/>
                      </a:lnTo>
                      <a:lnTo>
                        <a:pt x="0" y="228600"/>
                      </a:lnTo>
                      <a:lnTo>
                        <a:pt x="171450" y="228600"/>
                      </a:lnTo>
                      <a:lnTo>
                        <a:pt x="171450" y="100012"/>
                      </a:lnTo>
                      <a:lnTo>
                        <a:pt x="71438" y="100012"/>
                      </a:lnTo>
                      <a:lnTo>
                        <a:pt x="71438" y="0"/>
                      </a:lnTo>
                      <a:close/>
                    </a:path>
                  </a:pathLst>
                </a:custGeom>
                <a:solidFill>
                  <a:srgbClr val="FF8F00"/>
                </a:solidFill>
                <a:ln>
                  <a:noFill/>
                </a:ln>
              </p:spPr>
            </p:sp>
            <p:sp>
              <p:nvSpPr>
                <p:cNvPr id="802" name="Google Shape;802;p14"/>
                <p:cNvSpPr/>
                <p:nvPr/>
              </p:nvSpPr>
              <p:spPr>
                <a:xfrm>
                  <a:off x="1119188" y="5019675"/>
                  <a:ext cx="71438" cy="71438"/>
                </a:xfrm>
                <a:custGeom>
                  <a:rect b="b" l="l" r="r" t="t"/>
                  <a:pathLst>
                    <a:path extrusionOk="0" h="71438" w="71438">
                      <a:moveTo>
                        <a:pt x="0" y="0"/>
                      </a:moveTo>
                      <a:lnTo>
                        <a:pt x="0" y="71438"/>
                      </a:lnTo>
                      <a:lnTo>
                        <a:pt x="71438" y="71438"/>
                      </a:lnTo>
                      <a:lnTo>
                        <a:pt x="0" y="0"/>
                      </a:lnTo>
                      <a:close/>
                    </a:path>
                  </a:pathLst>
                </a:custGeom>
                <a:solidFill>
                  <a:srgbClr val="FF8F00"/>
                </a:solidFill>
                <a:ln>
                  <a:noFill/>
                </a:ln>
              </p:spPr>
            </p:sp>
          </p:grpSp>
          <p:sp>
            <p:nvSpPr>
              <p:cNvPr id="803" name="Google Shape;803;p14"/>
              <p:cNvSpPr txBox="1"/>
              <p:nvPr/>
            </p:nvSpPr>
            <p:spPr>
              <a:xfrm>
                <a:off x="1299210" y="5071110"/>
                <a:ext cx="2450382"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200" u="none" cap="none" strike="noStrike">
                    <a:solidFill>
                      <a:srgbClr val="1F2933"/>
                    </a:solidFill>
                    <a:latin typeface="Quattrocento Sans"/>
                    <a:ea typeface="Quattrocento Sans"/>
                    <a:cs typeface="Quattrocento Sans"/>
                    <a:sym typeface="Quattrocento Sans"/>
                  </a:rPr>
                  <a:t>customer_risk_report.csv</a:t>
                </a:r>
                <a:endParaRPr/>
              </a:p>
            </p:txBody>
          </p:sp>
        </p:grpSp>
      </p:grpSp>
      <p:grpSp>
        <p:nvGrpSpPr>
          <p:cNvPr id="804" name="Google Shape;804;p14"/>
          <p:cNvGrpSpPr/>
          <p:nvPr/>
        </p:nvGrpSpPr>
        <p:grpSpPr>
          <a:xfrm>
            <a:off x="4367212" y="1421606"/>
            <a:ext cx="7253288" cy="3886200"/>
            <a:chOff x="4367212" y="1421606"/>
            <a:chExt cx="7253288" cy="3886200"/>
          </a:xfrm>
        </p:grpSpPr>
        <p:sp>
          <p:nvSpPr>
            <p:cNvPr id="805" name="Google Shape;805;p14"/>
            <p:cNvSpPr txBox="1"/>
            <p:nvPr/>
          </p:nvSpPr>
          <p:spPr>
            <a:xfrm>
              <a:off x="4367212" y="1421606"/>
              <a:ext cx="1382869"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25" u="none" cap="none" strike="noStrike">
                  <a:solidFill>
                    <a:srgbClr val="1565C0"/>
                  </a:solidFill>
                  <a:latin typeface="Quattrocento Sans"/>
                  <a:ea typeface="Quattrocento Sans"/>
                  <a:cs typeface="Quattrocento Sans"/>
                  <a:sym typeface="Quattrocento Sans"/>
                </a:rPr>
                <a:t>EXAMPLE OUTPUT</a:t>
              </a:r>
              <a:endParaRPr/>
            </a:p>
          </p:txBody>
        </p:sp>
        <p:sp>
          <p:nvSpPr>
            <p:cNvPr id="806" name="Google Shape;806;p14"/>
            <p:cNvSpPr/>
            <p:nvPr/>
          </p:nvSpPr>
          <p:spPr>
            <a:xfrm>
              <a:off x="4381500" y="1714500"/>
              <a:ext cx="7239000" cy="514350"/>
            </a:xfrm>
            <a:custGeom>
              <a:rect b="b" l="l" r="r" t="t"/>
              <a:pathLst>
                <a:path extrusionOk="0" h="514350" w="7239000">
                  <a:moveTo>
                    <a:pt x="76200" y="0"/>
                  </a:moveTo>
                  <a:lnTo>
                    <a:pt x="7162800" y="0"/>
                  </a:lnTo>
                  <a:cubicBezTo>
                    <a:pt x="7204884" y="0"/>
                    <a:pt x="7239000" y="34116"/>
                    <a:pt x="7239000" y="76200"/>
                  </a:cubicBezTo>
                  <a:lnTo>
                    <a:pt x="7239000" y="438150"/>
                  </a:lnTo>
                  <a:cubicBezTo>
                    <a:pt x="7239000" y="480234"/>
                    <a:pt x="7204884" y="514350"/>
                    <a:pt x="7162800" y="514350"/>
                  </a:cubicBezTo>
                  <a:lnTo>
                    <a:pt x="76200" y="514350"/>
                  </a:lnTo>
                  <a:cubicBezTo>
                    <a:pt x="34116" y="514350"/>
                    <a:pt x="0" y="480234"/>
                    <a:pt x="0" y="438150"/>
                  </a:cubicBezTo>
                  <a:lnTo>
                    <a:pt x="0" y="76200"/>
                  </a:lnTo>
                  <a:cubicBezTo>
                    <a:pt x="0" y="34116"/>
                    <a:pt x="34116" y="0"/>
                    <a:pt x="7620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txBox="1"/>
            <p:nvPr/>
          </p:nvSpPr>
          <p:spPr>
            <a:xfrm>
              <a:off x="4652962" y="1916906"/>
              <a:ext cx="102057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Customer ID</a:t>
              </a:r>
              <a:endParaRPr/>
            </a:p>
          </p:txBody>
        </p:sp>
        <p:sp>
          <p:nvSpPr>
            <p:cNvPr id="808" name="Google Shape;808;p14"/>
            <p:cNvSpPr txBox="1"/>
            <p:nvPr/>
          </p:nvSpPr>
          <p:spPr>
            <a:xfrm>
              <a:off x="6987495" y="1916906"/>
              <a:ext cx="50300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Churn</a:t>
              </a:r>
              <a:endParaRPr/>
            </a:p>
          </p:txBody>
        </p:sp>
        <p:sp>
          <p:nvSpPr>
            <p:cNvPr id="809" name="Google Shape;809;p14"/>
            <p:cNvSpPr txBox="1"/>
            <p:nvPr/>
          </p:nvSpPr>
          <p:spPr>
            <a:xfrm>
              <a:off x="8215348" y="1916906"/>
              <a:ext cx="942939"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Probability</a:t>
              </a:r>
              <a:endParaRPr/>
            </a:p>
          </p:txBody>
        </p:sp>
        <p:sp>
          <p:nvSpPr>
            <p:cNvPr id="810" name="Google Shape;810;p14"/>
            <p:cNvSpPr txBox="1"/>
            <p:nvPr/>
          </p:nvSpPr>
          <p:spPr>
            <a:xfrm>
              <a:off x="10964995" y="1916906"/>
              <a:ext cx="364992" cy="2286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Risk</a:t>
              </a:r>
              <a:endParaRPr/>
            </a:p>
          </p:txBody>
        </p:sp>
        <p:sp>
          <p:nvSpPr>
            <p:cNvPr id="811" name="Google Shape;811;p14"/>
            <p:cNvSpPr/>
            <p:nvPr/>
          </p:nvSpPr>
          <p:spPr>
            <a:xfrm>
              <a:off x="4381500" y="2228850"/>
              <a:ext cx="7239000" cy="857250"/>
            </a:xfrm>
            <a:prstGeom prst="rect">
              <a:avLst/>
            </a:pr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txBox="1"/>
            <p:nvPr/>
          </p:nvSpPr>
          <p:spPr>
            <a:xfrm>
              <a:off x="4650105" y="2587942"/>
              <a:ext cx="95555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CUST10001</a:t>
              </a:r>
              <a:endParaRPr/>
            </a:p>
          </p:txBody>
        </p:sp>
        <p:sp>
          <p:nvSpPr>
            <p:cNvPr id="813" name="Google Shape;813;p14"/>
            <p:cNvSpPr txBox="1"/>
            <p:nvPr/>
          </p:nvSpPr>
          <p:spPr>
            <a:xfrm>
              <a:off x="7192280" y="2587942"/>
              <a:ext cx="9344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1</a:t>
              </a:r>
              <a:endParaRPr/>
            </a:p>
          </p:txBody>
        </p:sp>
        <p:sp>
          <p:nvSpPr>
            <p:cNvPr id="814" name="Google Shape;814;p14"/>
            <p:cNvSpPr txBox="1"/>
            <p:nvPr/>
          </p:nvSpPr>
          <p:spPr>
            <a:xfrm>
              <a:off x="8785262" y="2587942"/>
              <a:ext cx="375883"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350" u="none" cap="none" strike="noStrike">
                  <a:solidFill>
                    <a:srgbClr val="52606D"/>
                  </a:solidFill>
                  <a:latin typeface="Quattrocento Sans"/>
                  <a:ea typeface="Quattrocento Sans"/>
                  <a:cs typeface="Quattrocento Sans"/>
                  <a:sym typeface="Quattrocento Sans"/>
                </a:rPr>
                <a:t>97%</a:t>
              </a:r>
              <a:endParaRPr/>
            </a:p>
          </p:txBody>
        </p:sp>
        <p:sp>
          <p:nvSpPr>
            <p:cNvPr id="815" name="Google Shape;815;p14"/>
            <p:cNvSpPr/>
            <p:nvPr/>
          </p:nvSpPr>
          <p:spPr>
            <a:xfrm>
              <a:off x="10191750" y="2533650"/>
              <a:ext cx="1123950" cy="323850"/>
            </a:xfrm>
            <a:custGeom>
              <a:rect b="b" l="l" r="r" t="t"/>
              <a:pathLst>
                <a:path extrusionOk="0" h="323850" w="1123950">
                  <a:moveTo>
                    <a:pt x="161925" y="0"/>
                  </a:moveTo>
                  <a:lnTo>
                    <a:pt x="962025" y="0"/>
                  </a:lnTo>
                  <a:cubicBezTo>
                    <a:pt x="1051454" y="0"/>
                    <a:pt x="1123950" y="72496"/>
                    <a:pt x="1123950" y="161925"/>
                  </a:cubicBezTo>
                  <a:lnTo>
                    <a:pt x="1123950" y="161925"/>
                  </a:lnTo>
                  <a:cubicBezTo>
                    <a:pt x="1123950" y="251354"/>
                    <a:pt x="1051454" y="323850"/>
                    <a:pt x="962025" y="323850"/>
                  </a:cubicBezTo>
                  <a:lnTo>
                    <a:pt x="161925" y="323850"/>
                  </a:lnTo>
                  <a:cubicBezTo>
                    <a:pt x="72496" y="323850"/>
                    <a:pt x="0" y="251354"/>
                    <a:pt x="0" y="161925"/>
                  </a:cubicBezTo>
                  <a:lnTo>
                    <a:pt x="0" y="161925"/>
                  </a:lnTo>
                  <a:cubicBezTo>
                    <a:pt x="0" y="72496"/>
                    <a:pt x="72496" y="0"/>
                    <a:pt x="161925" y="0"/>
                  </a:cubicBezTo>
                  <a:close/>
                </a:path>
              </a:pathLst>
            </a:custGeom>
            <a:solidFill>
              <a:srgbClr val="C62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4"/>
            <p:cNvSpPr txBox="1"/>
            <p:nvPr/>
          </p:nvSpPr>
          <p:spPr>
            <a:xfrm>
              <a:off x="10571229" y="2631281"/>
              <a:ext cx="364992"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High</a:t>
              </a:r>
              <a:endParaRPr/>
            </a:p>
          </p:txBody>
        </p:sp>
        <p:sp>
          <p:nvSpPr>
            <p:cNvPr id="817" name="Google Shape;817;p14"/>
            <p:cNvSpPr/>
            <p:nvPr/>
          </p:nvSpPr>
          <p:spPr>
            <a:xfrm>
              <a:off x="4381500" y="3086100"/>
              <a:ext cx="7239000" cy="9525"/>
            </a:xfrm>
            <a:custGeom>
              <a:rect b="b" l="l" r="r" t="t"/>
              <a:pathLst>
                <a:path extrusionOk="0" h="9525" w="7239000">
                  <a:moveTo>
                    <a:pt x="0" y="0"/>
                  </a:moveTo>
                  <a:lnTo>
                    <a:pt x="7239000" y="0"/>
                  </a:lnTo>
                </a:path>
              </a:pathLst>
            </a:custGeom>
            <a:noFill/>
            <a:ln cap="flat" cmpd="sng" w="9525">
              <a:solidFill>
                <a:srgbClr val="E3E8EF"/>
              </a:solidFill>
              <a:prstDash val="solid"/>
              <a:round/>
              <a:headEnd len="sm" w="sm" type="none"/>
              <a:tailEnd len="sm" w="sm" type="none"/>
            </a:ln>
          </p:spPr>
        </p:sp>
        <p:sp>
          <p:nvSpPr>
            <p:cNvPr id="818" name="Google Shape;818;p14"/>
            <p:cNvSpPr/>
            <p:nvPr/>
          </p:nvSpPr>
          <p:spPr>
            <a:xfrm>
              <a:off x="4381500" y="3086100"/>
              <a:ext cx="7239000" cy="85725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4"/>
            <p:cNvSpPr txBox="1"/>
            <p:nvPr/>
          </p:nvSpPr>
          <p:spPr>
            <a:xfrm>
              <a:off x="4650105" y="3445192"/>
              <a:ext cx="10073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CUST10002</a:t>
              </a:r>
              <a:endParaRPr/>
            </a:p>
          </p:txBody>
        </p:sp>
        <p:sp>
          <p:nvSpPr>
            <p:cNvPr id="820" name="Google Shape;820;p14"/>
            <p:cNvSpPr txBox="1"/>
            <p:nvPr/>
          </p:nvSpPr>
          <p:spPr>
            <a:xfrm>
              <a:off x="7167634" y="3445192"/>
              <a:ext cx="142732"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0</a:t>
              </a:r>
              <a:endParaRPr/>
            </a:p>
          </p:txBody>
        </p:sp>
        <p:sp>
          <p:nvSpPr>
            <p:cNvPr id="821" name="Google Shape;821;p14"/>
            <p:cNvSpPr txBox="1"/>
            <p:nvPr/>
          </p:nvSpPr>
          <p:spPr>
            <a:xfrm>
              <a:off x="8785262" y="3445192"/>
              <a:ext cx="375883"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350" u="none" cap="none" strike="noStrike">
                  <a:solidFill>
                    <a:srgbClr val="52606D"/>
                  </a:solidFill>
                  <a:latin typeface="Quattrocento Sans"/>
                  <a:ea typeface="Quattrocento Sans"/>
                  <a:cs typeface="Quattrocento Sans"/>
                  <a:sym typeface="Quattrocento Sans"/>
                </a:rPr>
                <a:t>39%</a:t>
              </a:r>
              <a:endParaRPr/>
            </a:p>
          </p:txBody>
        </p:sp>
        <p:sp>
          <p:nvSpPr>
            <p:cNvPr id="822" name="Google Shape;822;p14"/>
            <p:cNvSpPr/>
            <p:nvPr/>
          </p:nvSpPr>
          <p:spPr>
            <a:xfrm>
              <a:off x="10191750" y="3390900"/>
              <a:ext cx="1123950" cy="323850"/>
            </a:xfrm>
            <a:custGeom>
              <a:rect b="b" l="l" r="r" t="t"/>
              <a:pathLst>
                <a:path extrusionOk="0" h="323850" w="1123950">
                  <a:moveTo>
                    <a:pt x="161925" y="0"/>
                  </a:moveTo>
                  <a:lnTo>
                    <a:pt x="962025" y="0"/>
                  </a:lnTo>
                  <a:cubicBezTo>
                    <a:pt x="1051454" y="0"/>
                    <a:pt x="1123950" y="72496"/>
                    <a:pt x="1123950" y="161925"/>
                  </a:cubicBezTo>
                  <a:lnTo>
                    <a:pt x="1123950" y="161925"/>
                  </a:lnTo>
                  <a:cubicBezTo>
                    <a:pt x="1123950" y="251354"/>
                    <a:pt x="1051454" y="323850"/>
                    <a:pt x="962025" y="323850"/>
                  </a:cubicBezTo>
                  <a:lnTo>
                    <a:pt x="161925" y="323850"/>
                  </a:lnTo>
                  <a:cubicBezTo>
                    <a:pt x="72496" y="323850"/>
                    <a:pt x="0" y="251354"/>
                    <a:pt x="0" y="161925"/>
                  </a:cubicBezTo>
                  <a:lnTo>
                    <a:pt x="0" y="161925"/>
                  </a:lnTo>
                  <a:cubicBezTo>
                    <a:pt x="0" y="72496"/>
                    <a:pt x="72496" y="0"/>
                    <a:pt x="161925" y="0"/>
                  </a:cubicBezTo>
                  <a:close/>
                </a:path>
              </a:pathLst>
            </a:custGeom>
            <a:solidFill>
              <a:srgbClr val="F57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4"/>
            <p:cNvSpPr txBox="1"/>
            <p:nvPr/>
          </p:nvSpPr>
          <p:spPr>
            <a:xfrm>
              <a:off x="10441838" y="3488531"/>
              <a:ext cx="62377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Medium</a:t>
              </a:r>
              <a:endParaRPr/>
            </a:p>
          </p:txBody>
        </p:sp>
        <p:sp>
          <p:nvSpPr>
            <p:cNvPr id="824" name="Google Shape;824;p14"/>
            <p:cNvSpPr/>
            <p:nvPr/>
          </p:nvSpPr>
          <p:spPr>
            <a:xfrm>
              <a:off x="4381500" y="3943350"/>
              <a:ext cx="7239000" cy="9525"/>
            </a:xfrm>
            <a:custGeom>
              <a:rect b="b" l="l" r="r" t="t"/>
              <a:pathLst>
                <a:path extrusionOk="0" h="9525" w="7239000">
                  <a:moveTo>
                    <a:pt x="0" y="0"/>
                  </a:moveTo>
                  <a:lnTo>
                    <a:pt x="7239000" y="0"/>
                  </a:lnTo>
                </a:path>
              </a:pathLst>
            </a:custGeom>
            <a:noFill/>
            <a:ln cap="flat" cmpd="sng" w="9525">
              <a:solidFill>
                <a:srgbClr val="E3E8EF"/>
              </a:solidFill>
              <a:prstDash val="solid"/>
              <a:round/>
              <a:headEnd len="sm" w="sm" type="none"/>
              <a:tailEnd len="sm" w="sm" type="none"/>
            </a:ln>
          </p:spPr>
        </p:sp>
        <p:sp>
          <p:nvSpPr>
            <p:cNvPr id="825" name="Google Shape;825;p14"/>
            <p:cNvSpPr/>
            <p:nvPr/>
          </p:nvSpPr>
          <p:spPr>
            <a:xfrm>
              <a:off x="4381500" y="3943350"/>
              <a:ext cx="7239000" cy="857250"/>
            </a:xfrm>
            <a:prstGeom prst="rect">
              <a:avLst/>
            </a:pr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4"/>
            <p:cNvSpPr txBox="1"/>
            <p:nvPr/>
          </p:nvSpPr>
          <p:spPr>
            <a:xfrm>
              <a:off x="4650105" y="4302442"/>
              <a:ext cx="100731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CUST10003</a:t>
              </a:r>
              <a:endParaRPr/>
            </a:p>
          </p:txBody>
        </p:sp>
        <p:sp>
          <p:nvSpPr>
            <p:cNvPr id="827" name="Google Shape;827;p14"/>
            <p:cNvSpPr txBox="1"/>
            <p:nvPr/>
          </p:nvSpPr>
          <p:spPr>
            <a:xfrm>
              <a:off x="7167634" y="4302442"/>
              <a:ext cx="142732"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350" u="none" cap="none" strike="noStrike">
                  <a:solidFill>
                    <a:srgbClr val="1F2933"/>
                  </a:solidFill>
                  <a:latin typeface="Quattrocento Sans"/>
                  <a:ea typeface="Quattrocento Sans"/>
                  <a:cs typeface="Quattrocento Sans"/>
                  <a:sym typeface="Quattrocento Sans"/>
                </a:rPr>
                <a:t>0</a:t>
              </a:r>
              <a:endParaRPr/>
            </a:p>
          </p:txBody>
        </p:sp>
        <p:sp>
          <p:nvSpPr>
            <p:cNvPr id="828" name="Google Shape;828;p14"/>
            <p:cNvSpPr txBox="1"/>
            <p:nvPr/>
          </p:nvSpPr>
          <p:spPr>
            <a:xfrm>
              <a:off x="8899127" y="4302442"/>
              <a:ext cx="262018"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zh-CN" sz="1350" u="none" cap="none" strike="noStrike">
                  <a:solidFill>
                    <a:srgbClr val="52606D"/>
                  </a:solidFill>
                  <a:latin typeface="Quattrocento Sans"/>
                  <a:ea typeface="Quattrocento Sans"/>
                  <a:cs typeface="Quattrocento Sans"/>
                  <a:sym typeface="Quattrocento Sans"/>
                </a:rPr>
                <a:t>5%</a:t>
              </a:r>
              <a:endParaRPr/>
            </a:p>
          </p:txBody>
        </p:sp>
        <p:sp>
          <p:nvSpPr>
            <p:cNvPr id="829" name="Google Shape;829;p14"/>
            <p:cNvSpPr/>
            <p:nvPr/>
          </p:nvSpPr>
          <p:spPr>
            <a:xfrm>
              <a:off x="10191750" y="4248150"/>
              <a:ext cx="1123950" cy="323850"/>
            </a:xfrm>
            <a:custGeom>
              <a:rect b="b" l="l" r="r" t="t"/>
              <a:pathLst>
                <a:path extrusionOk="0" h="323850" w="1123950">
                  <a:moveTo>
                    <a:pt x="161925" y="0"/>
                  </a:moveTo>
                  <a:lnTo>
                    <a:pt x="962025" y="0"/>
                  </a:lnTo>
                  <a:cubicBezTo>
                    <a:pt x="1051454" y="0"/>
                    <a:pt x="1123950" y="72496"/>
                    <a:pt x="1123950" y="161925"/>
                  </a:cubicBezTo>
                  <a:lnTo>
                    <a:pt x="1123950" y="161925"/>
                  </a:lnTo>
                  <a:cubicBezTo>
                    <a:pt x="1123950" y="251354"/>
                    <a:pt x="1051454" y="323850"/>
                    <a:pt x="962025" y="323850"/>
                  </a:cubicBezTo>
                  <a:lnTo>
                    <a:pt x="161925" y="323850"/>
                  </a:lnTo>
                  <a:cubicBezTo>
                    <a:pt x="72496" y="323850"/>
                    <a:pt x="0" y="251354"/>
                    <a:pt x="0" y="161925"/>
                  </a:cubicBezTo>
                  <a:lnTo>
                    <a:pt x="0" y="161925"/>
                  </a:lnTo>
                  <a:cubicBezTo>
                    <a:pt x="0" y="72496"/>
                    <a:pt x="72496" y="0"/>
                    <a:pt x="161925" y="0"/>
                  </a:cubicBezTo>
                  <a:close/>
                </a:path>
              </a:pathLst>
            </a:cu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4"/>
            <p:cNvSpPr txBox="1"/>
            <p:nvPr/>
          </p:nvSpPr>
          <p:spPr>
            <a:xfrm>
              <a:off x="10579855" y="4345781"/>
              <a:ext cx="347740"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Low</a:t>
              </a:r>
              <a:endParaRPr/>
            </a:p>
          </p:txBody>
        </p:sp>
        <p:sp>
          <p:nvSpPr>
            <p:cNvPr id="831" name="Google Shape;831;p14"/>
            <p:cNvSpPr/>
            <p:nvPr/>
          </p:nvSpPr>
          <p:spPr>
            <a:xfrm>
              <a:off x="4381500" y="4800600"/>
              <a:ext cx="7239000" cy="9525"/>
            </a:xfrm>
            <a:custGeom>
              <a:rect b="b" l="l" r="r" t="t"/>
              <a:pathLst>
                <a:path extrusionOk="0" h="9525" w="7239000">
                  <a:moveTo>
                    <a:pt x="0" y="0"/>
                  </a:moveTo>
                  <a:lnTo>
                    <a:pt x="7239000" y="0"/>
                  </a:lnTo>
                </a:path>
              </a:pathLst>
            </a:custGeom>
            <a:noFill/>
            <a:ln cap="flat" cmpd="sng" w="9525">
              <a:solidFill>
                <a:srgbClr val="E3E8EF"/>
              </a:solidFill>
              <a:prstDash val="solid"/>
              <a:round/>
              <a:headEnd len="sm" w="sm" type="none"/>
              <a:tailEnd len="sm" w="sm" type="none"/>
            </a:ln>
          </p:spPr>
        </p:sp>
        <p:sp>
          <p:nvSpPr>
            <p:cNvPr id="832" name="Google Shape;832;p14"/>
            <p:cNvSpPr txBox="1"/>
            <p:nvPr/>
          </p:nvSpPr>
          <p:spPr>
            <a:xfrm>
              <a:off x="4367212" y="5079206"/>
              <a:ext cx="545889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125" u="none" cap="none" strike="noStrike">
                  <a:solidFill>
                    <a:srgbClr val="52606D"/>
                  </a:solidFill>
                  <a:latin typeface="Quattrocento Sans"/>
                  <a:ea typeface="Quattrocento Sans"/>
                  <a:cs typeface="Quattrocento Sans"/>
                  <a:sym typeface="Quattrocento Sans"/>
                </a:rPr>
                <a:t>Columns: Customer ID · Actual Churn · Churn Probability · Risk Level</a:t>
              </a:r>
              <a:endParaRPr/>
            </a:p>
          </p:txBody>
        </p:sp>
      </p:grpSp>
      <p:grpSp>
        <p:nvGrpSpPr>
          <p:cNvPr id="833" name="Google Shape;833;p14"/>
          <p:cNvGrpSpPr/>
          <p:nvPr/>
        </p:nvGrpSpPr>
        <p:grpSpPr>
          <a:xfrm>
            <a:off x="561022" y="6381750"/>
            <a:ext cx="11069955" cy="345281"/>
            <a:chOff x="561022" y="6381750"/>
            <a:chExt cx="11069955" cy="345281"/>
          </a:xfrm>
        </p:grpSpPr>
        <p:sp>
          <p:nvSpPr>
            <p:cNvPr id="834" name="Google Shape;834;p14"/>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835" name="Google Shape;835;p14"/>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836" name="Google Shape;836;p14"/>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14 / 18</a:t>
              </a:r>
              <a:endParaRPr/>
            </a:p>
          </p:txBody>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5"/>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3" name="Google Shape;843;p15"/>
          <p:cNvGrpSpPr/>
          <p:nvPr/>
        </p:nvGrpSpPr>
        <p:grpSpPr>
          <a:xfrm>
            <a:off x="541020" y="483870"/>
            <a:ext cx="3723018" cy="487680"/>
            <a:chOff x="541020" y="483870"/>
            <a:chExt cx="3723018" cy="487680"/>
          </a:xfrm>
        </p:grpSpPr>
        <p:sp>
          <p:nvSpPr>
            <p:cNvPr id="844" name="Google Shape;844;p15"/>
            <p:cNvSpPr txBox="1"/>
            <p:nvPr/>
          </p:nvSpPr>
          <p:spPr>
            <a:xfrm>
              <a:off x="541020" y="483870"/>
              <a:ext cx="3723018"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How This Can Be Used</a:t>
              </a:r>
              <a:endParaRPr/>
            </a:p>
          </p:txBody>
        </p:sp>
        <p:sp>
          <p:nvSpPr>
            <p:cNvPr id="845" name="Google Shape;845;p15"/>
            <p:cNvSpPr/>
            <p:nvPr/>
          </p:nvSpPr>
          <p:spPr>
            <a:xfrm>
              <a:off x="571500" y="8953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15"/>
          <p:cNvGrpSpPr/>
          <p:nvPr/>
        </p:nvGrpSpPr>
        <p:grpSpPr>
          <a:xfrm>
            <a:off x="554355" y="1540669"/>
            <a:ext cx="4155091" cy="3617119"/>
            <a:chOff x="554355" y="1540669"/>
            <a:chExt cx="4155091" cy="3617119"/>
          </a:xfrm>
        </p:grpSpPr>
        <p:grpSp>
          <p:nvGrpSpPr>
            <p:cNvPr id="847" name="Google Shape;847;p15"/>
            <p:cNvGrpSpPr/>
            <p:nvPr/>
          </p:nvGrpSpPr>
          <p:grpSpPr>
            <a:xfrm>
              <a:off x="571500" y="1540669"/>
              <a:ext cx="266700" cy="233362"/>
              <a:chOff x="571500" y="1540669"/>
              <a:chExt cx="266700" cy="233362"/>
            </a:xfrm>
          </p:grpSpPr>
          <p:sp>
            <p:nvSpPr>
              <p:cNvPr id="848" name="Google Shape;848;p15"/>
              <p:cNvSpPr/>
              <p:nvPr/>
            </p:nvSpPr>
            <p:spPr>
              <a:xfrm>
                <a:off x="621506" y="1540669"/>
                <a:ext cx="83344" cy="83344"/>
              </a:xfrm>
              <a:custGeom>
                <a:rect b="b" l="l" r="r" t="t"/>
                <a:pathLst>
                  <a:path extrusionOk="0" h="83344" w="83344">
                    <a:moveTo>
                      <a:pt x="83344" y="41672"/>
                    </a:moveTo>
                    <a:cubicBezTo>
                      <a:pt x="83344" y="64687"/>
                      <a:pt x="64687" y="83344"/>
                      <a:pt x="41672" y="83344"/>
                    </a:cubicBezTo>
                    <a:cubicBezTo>
                      <a:pt x="18657" y="83344"/>
                      <a:pt x="0" y="64687"/>
                      <a:pt x="0" y="41672"/>
                    </a:cubicBezTo>
                    <a:cubicBezTo>
                      <a:pt x="0" y="18657"/>
                      <a:pt x="18657" y="0"/>
                      <a:pt x="41672" y="0"/>
                    </a:cubicBezTo>
                    <a:cubicBezTo>
                      <a:pt x="64687" y="0"/>
                      <a:pt x="83344" y="18657"/>
                      <a:pt x="83344" y="41672"/>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5"/>
              <p:cNvSpPr/>
              <p:nvPr/>
            </p:nvSpPr>
            <p:spPr>
              <a:xfrm>
                <a:off x="571500" y="1657350"/>
                <a:ext cx="133350" cy="116681"/>
              </a:xfrm>
              <a:custGeom>
                <a:rect b="b" l="l" r="r" t="t"/>
                <a:pathLst>
                  <a:path extrusionOk="0" h="116681" w="133350">
                    <a:moveTo>
                      <a:pt x="50006" y="0"/>
                    </a:moveTo>
                    <a:cubicBezTo>
                      <a:pt x="22389" y="0"/>
                      <a:pt x="0" y="22389"/>
                      <a:pt x="0" y="50006"/>
                    </a:cubicBezTo>
                    <a:lnTo>
                      <a:pt x="0" y="116681"/>
                    </a:lnTo>
                    <a:lnTo>
                      <a:pt x="133350" y="116681"/>
                    </a:lnTo>
                    <a:lnTo>
                      <a:pt x="133350" y="0"/>
                    </a:lnTo>
                    <a:lnTo>
                      <a:pt x="50006" y="0"/>
                    </a:ln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5"/>
              <p:cNvSpPr/>
              <p:nvPr/>
            </p:nvSpPr>
            <p:spPr>
              <a:xfrm>
                <a:off x="738188" y="1657350"/>
                <a:ext cx="100012" cy="116681"/>
              </a:xfrm>
              <a:custGeom>
                <a:rect b="b" l="l" r="r" t="t"/>
                <a:pathLst>
                  <a:path extrusionOk="0" h="116681" w="100012">
                    <a:moveTo>
                      <a:pt x="50006" y="0"/>
                    </a:moveTo>
                    <a:lnTo>
                      <a:pt x="0" y="0"/>
                    </a:lnTo>
                    <a:lnTo>
                      <a:pt x="0" y="116681"/>
                    </a:lnTo>
                    <a:lnTo>
                      <a:pt x="100012" y="116681"/>
                    </a:lnTo>
                    <a:lnTo>
                      <a:pt x="100012" y="50006"/>
                    </a:lnTo>
                    <a:cubicBezTo>
                      <a:pt x="100012" y="22389"/>
                      <a:pt x="77625" y="0"/>
                      <a:pt x="50006"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5"/>
              <p:cNvSpPr/>
              <p:nvPr/>
            </p:nvSpPr>
            <p:spPr>
              <a:xfrm>
                <a:off x="738188" y="1557338"/>
                <a:ext cx="66675" cy="66675"/>
              </a:xfrm>
              <a:custGeom>
                <a:rect b="b" l="l" r="r" t="t"/>
                <a:pathLst>
                  <a:path extrusionOk="0" h="66675" w="66675">
                    <a:moveTo>
                      <a:pt x="33338" y="66675"/>
                    </a:moveTo>
                    <a:cubicBezTo>
                      <a:pt x="51750" y="66675"/>
                      <a:pt x="66675" y="51749"/>
                      <a:pt x="66675" y="33338"/>
                    </a:cubicBezTo>
                    <a:cubicBezTo>
                      <a:pt x="66675" y="14926"/>
                      <a:pt x="51750" y="0"/>
                      <a:pt x="33338" y="0"/>
                    </a:cubicBezTo>
                    <a:cubicBezTo>
                      <a:pt x="14925" y="0"/>
                      <a:pt x="0" y="14926"/>
                      <a:pt x="0" y="33338"/>
                    </a:cubicBezTo>
                    <a:cubicBezTo>
                      <a:pt x="0" y="51749"/>
                      <a:pt x="14925" y="66675"/>
                      <a:pt x="33338" y="66675"/>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2" name="Google Shape;852;p15"/>
            <p:cNvSpPr txBox="1"/>
            <p:nvPr/>
          </p:nvSpPr>
          <p:spPr>
            <a:xfrm>
              <a:off x="952500" y="1571625"/>
              <a:ext cx="14412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500" u="none" cap="none" strike="noStrike">
                  <a:solidFill>
                    <a:srgbClr val="1565C0"/>
                  </a:solidFill>
                  <a:latin typeface="Quattrocento Sans"/>
                  <a:ea typeface="Quattrocento Sans"/>
                  <a:cs typeface="Quattrocento Sans"/>
                  <a:sym typeface="Quattrocento Sans"/>
                </a:rPr>
                <a:t>Business Use</a:t>
              </a:r>
              <a:endParaRPr/>
            </a:p>
          </p:txBody>
        </p:sp>
        <p:sp>
          <p:nvSpPr>
            <p:cNvPr id="853" name="Google Shape;853;p15"/>
            <p:cNvSpPr txBox="1"/>
            <p:nvPr/>
          </p:nvSpPr>
          <p:spPr>
            <a:xfrm>
              <a:off x="554355" y="2368868"/>
              <a:ext cx="281435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Identify high-risk customers</a:t>
              </a:r>
              <a:endParaRPr/>
            </a:p>
          </p:txBody>
        </p:sp>
        <p:sp>
          <p:nvSpPr>
            <p:cNvPr id="854" name="Google Shape;854;p15"/>
            <p:cNvSpPr/>
            <p:nvPr/>
          </p:nvSpPr>
          <p:spPr>
            <a:xfrm>
              <a:off x="571500" y="2743200"/>
              <a:ext cx="3905250" cy="9525"/>
            </a:xfrm>
            <a:custGeom>
              <a:rect b="b" l="l" r="r" t="t"/>
              <a:pathLst>
                <a:path extrusionOk="0" h="9525" w="3905250">
                  <a:moveTo>
                    <a:pt x="0" y="0"/>
                  </a:moveTo>
                  <a:lnTo>
                    <a:pt x="3905250" y="0"/>
                  </a:lnTo>
                </a:path>
              </a:pathLst>
            </a:custGeom>
            <a:noFill/>
            <a:ln cap="flat" cmpd="sng" w="9525">
              <a:solidFill>
                <a:srgbClr val="E3E8EF"/>
              </a:solidFill>
              <a:prstDash val="solid"/>
              <a:round/>
              <a:headEnd len="sm" w="sm" type="none"/>
              <a:tailEnd len="sm" w="sm" type="none"/>
            </a:ln>
          </p:spPr>
        </p:sp>
        <p:sp>
          <p:nvSpPr>
            <p:cNvPr id="855" name="Google Shape;855;p15"/>
            <p:cNvSpPr txBox="1"/>
            <p:nvPr/>
          </p:nvSpPr>
          <p:spPr>
            <a:xfrm>
              <a:off x="554355" y="2997518"/>
              <a:ext cx="415509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Give attention to customers who may leave</a:t>
              </a:r>
              <a:endParaRPr/>
            </a:p>
          </p:txBody>
        </p:sp>
        <p:sp>
          <p:nvSpPr>
            <p:cNvPr id="856" name="Google Shape;856;p15"/>
            <p:cNvSpPr/>
            <p:nvPr/>
          </p:nvSpPr>
          <p:spPr>
            <a:xfrm>
              <a:off x="571500" y="3371850"/>
              <a:ext cx="3905250" cy="9525"/>
            </a:xfrm>
            <a:custGeom>
              <a:rect b="b" l="l" r="r" t="t"/>
              <a:pathLst>
                <a:path extrusionOk="0" h="9525" w="3905250">
                  <a:moveTo>
                    <a:pt x="0" y="0"/>
                  </a:moveTo>
                  <a:lnTo>
                    <a:pt x="3905250" y="0"/>
                  </a:lnTo>
                </a:path>
              </a:pathLst>
            </a:custGeom>
            <a:noFill/>
            <a:ln cap="flat" cmpd="sng" w="9525">
              <a:solidFill>
                <a:srgbClr val="E3E8EF"/>
              </a:solidFill>
              <a:prstDash val="solid"/>
              <a:round/>
              <a:headEnd len="sm" w="sm" type="none"/>
              <a:tailEnd len="sm" w="sm" type="none"/>
            </a:ln>
          </p:spPr>
        </p:sp>
        <p:sp>
          <p:nvSpPr>
            <p:cNvPr id="857" name="Google Shape;857;p15"/>
            <p:cNvSpPr txBox="1"/>
            <p:nvPr/>
          </p:nvSpPr>
          <p:spPr>
            <a:xfrm>
              <a:off x="554355" y="3626168"/>
              <a:ext cx="296222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Understand customer behavior</a:t>
              </a:r>
              <a:endParaRPr/>
            </a:p>
          </p:txBody>
        </p:sp>
        <p:sp>
          <p:nvSpPr>
            <p:cNvPr id="858" name="Google Shape;858;p15"/>
            <p:cNvSpPr/>
            <p:nvPr/>
          </p:nvSpPr>
          <p:spPr>
            <a:xfrm>
              <a:off x="571500" y="4000500"/>
              <a:ext cx="3905250" cy="9525"/>
            </a:xfrm>
            <a:custGeom>
              <a:rect b="b" l="l" r="r" t="t"/>
              <a:pathLst>
                <a:path extrusionOk="0" h="9525" w="3905250">
                  <a:moveTo>
                    <a:pt x="0" y="0"/>
                  </a:moveTo>
                  <a:lnTo>
                    <a:pt x="3905250" y="0"/>
                  </a:lnTo>
                </a:path>
              </a:pathLst>
            </a:custGeom>
            <a:noFill/>
            <a:ln cap="flat" cmpd="sng" w="9525">
              <a:solidFill>
                <a:srgbClr val="E3E8EF"/>
              </a:solidFill>
              <a:prstDash val="solid"/>
              <a:round/>
              <a:headEnd len="sm" w="sm" type="none"/>
              <a:tailEnd len="sm" w="sm" type="none"/>
            </a:ln>
          </p:spPr>
        </p:sp>
        <p:sp>
          <p:nvSpPr>
            <p:cNvPr id="859" name="Google Shape;859;p15"/>
            <p:cNvSpPr txBox="1"/>
            <p:nvPr/>
          </p:nvSpPr>
          <p:spPr>
            <a:xfrm>
              <a:off x="554355" y="4254818"/>
              <a:ext cx="211440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Plan retention offers</a:t>
              </a:r>
              <a:endParaRPr/>
            </a:p>
          </p:txBody>
        </p:sp>
        <p:sp>
          <p:nvSpPr>
            <p:cNvPr id="860" name="Google Shape;860;p15"/>
            <p:cNvSpPr/>
            <p:nvPr/>
          </p:nvSpPr>
          <p:spPr>
            <a:xfrm>
              <a:off x="571500" y="4629150"/>
              <a:ext cx="3905250" cy="9525"/>
            </a:xfrm>
            <a:custGeom>
              <a:rect b="b" l="l" r="r" t="t"/>
              <a:pathLst>
                <a:path extrusionOk="0" h="9525" w="3905250">
                  <a:moveTo>
                    <a:pt x="0" y="0"/>
                  </a:moveTo>
                  <a:lnTo>
                    <a:pt x="3905250" y="0"/>
                  </a:lnTo>
                </a:path>
              </a:pathLst>
            </a:custGeom>
            <a:noFill/>
            <a:ln cap="flat" cmpd="sng" w="9525">
              <a:solidFill>
                <a:srgbClr val="E3E8EF"/>
              </a:solidFill>
              <a:prstDash val="solid"/>
              <a:round/>
              <a:headEnd len="sm" w="sm" type="none"/>
              <a:tailEnd len="sm" w="sm" type="none"/>
            </a:ln>
          </p:spPr>
        </p:sp>
        <p:sp>
          <p:nvSpPr>
            <p:cNvPr id="861" name="Google Shape;861;p15"/>
            <p:cNvSpPr txBox="1"/>
            <p:nvPr/>
          </p:nvSpPr>
          <p:spPr>
            <a:xfrm>
              <a:off x="554355" y="4883468"/>
              <a:ext cx="3455146"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Make decisions using customer data</a:t>
              </a:r>
              <a:endParaRPr/>
            </a:p>
          </p:txBody>
        </p:sp>
      </p:grpSp>
      <p:grpSp>
        <p:nvGrpSpPr>
          <p:cNvPr id="862" name="Google Shape;862;p15"/>
          <p:cNvGrpSpPr/>
          <p:nvPr/>
        </p:nvGrpSpPr>
        <p:grpSpPr>
          <a:xfrm>
            <a:off x="5129212" y="1612106"/>
            <a:ext cx="6491288" cy="3436144"/>
            <a:chOff x="5129212" y="1612106"/>
            <a:chExt cx="6491288" cy="3436144"/>
          </a:xfrm>
        </p:grpSpPr>
        <p:sp>
          <p:nvSpPr>
            <p:cNvPr id="863" name="Google Shape;863;p15"/>
            <p:cNvSpPr txBox="1"/>
            <p:nvPr/>
          </p:nvSpPr>
          <p:spPr>
            <a:xfrm>
              <a:off x="5129212" y="1612106"/>
              <a:ext cx="72728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125" u="none" cap="none" strike="noStrike">
                  <a:solidFill>
                    <a:srgbClr val="FF8F00"/>
                  </a:solidFill>
                  <a:latin typeface="Quattrocento Sans"/>
                  <a:ea typeface="Quattrocento Sans"/>
                  <a:cs typeface="Quattrocento Sans"/>
                  <a:sym typeface="Quattrocento Sans"/>
                </a:rPr>
                <a:t>EXAMPLE</a:t>
              </a:r>
              <a:endParaRPr/>
            </a:p>
          </p:txBody>
        </p:sp>
        <p:sp>
          <p:nvSpPr>
            <p:cNvPr id="864" name="Google Shape;864;p15"/>
            <p:cNvSpPr/>
            <p:nvPr/>
          </p:nvSpPr>
          <p:spPr>
            <a:xfrm>
              <a:off x="5143500" y="1943100"/>
              <a:ext cx="6477000" cy="3105150"/>
            </a:xfrm>
            <a:custGeom>
              <a:rect b="b" l="l" r="r" t="t"/>
              <a:pathLst>
                <a:path extrusionOk="0" h="3105150" w="6477000">
                  <a:moveTo>
                    <a:pt x="114300" y="0"/>
                  </a:moveTo>
                  <a:lnTo>
                    <a:pt x="6362700" y="0"/>
                  </a:lnTo>
                  <a:cubicBezTo>
                    <a:pt x="6425826" y="0"/>
                    <a:pt x="6477000" y="51174"/>
                    <a:pt x="6477000" y="114300"/>
                  </a:cubicBezTo>
                  <a:lnTo>
                    <a:pt x="6477000" y="2990850"/>
                  </a:lnTo>
                  <a:cubicBezTo>
                    <a:pt x="6477000" y="3053976"/>
                    <a:pt x="6425826" y="3105150"/>
                    <a:pt x="6362700" y="3105150"/>
                  </a:cubicBezTo>
                  <a:lnTo>
                    <a:pt x="114300" y="3105150"/>
                  </a:lnTo>
                  <a:cubicBezTo>
                    <a:pt x="51174" y="3105150"/>
                    <a:pt x="0" y="3053976"/>
                    <a:pt x="0" y="2990850"/>
                  </a:cubicBezTo>
                  <a:lnTo>
                    <a:pt x="0" y="114300"/>
                  </a:lnTo>
                  <a:cubicBezTo>
                    <a:pt x="0" y="51174"/>
                    <a:pt x="51174" y="0"/>
                    <a:pt x="114300" y="0"/>
                  </a:cubicBezTo>
                  <a:close/>
                </a:path>
              </a:pathLst>
            </a:custGeom>
            <a:solidFill>
              <a:srgbClr val="1565C0">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5"/>
            <p:cNvSpPr/>
            <p:nvPr/>
          </p:nvSpPr>
          <p:spPr>
            <a:xfrm>
              <a:off x="5143500" y="1943100"/>
              <a:ext cx="57150" cy="3105150"/>
            </a:xfrm>
            <a:custGeom>
              <a:rect b="b" l="l" r="r" t="t"/>
              <a:pathLst>
                <a:path extrusionOk="0" h="3105150" w="57150">
                  <a:moveTo>
                    <a:pt x="28575" y="0"/>
                  </a:moveTo>
                  <a:lnTo>
                    <a:pt x="28575" y="0"/>
                  </a:lnTo>
                  <a:cubicBezTo>
                    <a:pt x="44357" y="0"/>
                    <a:pt x="57150" y="12793"/>
                    <a:pt x="57150" y="28575"/>
                  </a:cubicBezTo>
                  <a:lnTo>
                    <a:pt x="57150" y="3076575"/>
                  </a:lnTo>
                  <a:cubicBezTo>
                    <a:pt x="57150" y="3092357"/>
                    <a:pt x="44357" y="3105150"/>
                    <a:pt x="28575" y="3105150"/>
                  </a:cubicBezTo>
                  <a:lnTo>
                    <a:pt x="28575" y="3105150"/>
                  </a:lnTo>
                  <a:cubicBezTo>
                    <a:pt x="12793" y="3105150"/>
                    <a:pt x="0" y="3092357"/>
                    <a:pt x="0" y="3076575"/>
                  </a:cubicBezTo>
                  <a:lnTo>
                    <a:pt x="0" y="28575"/>
                  </a:lnTo>
                  <a:cubicBezTo>
                    <a:pt x="0" y="12793"/>
                    <a:pt x="12793" y="0"/>
                    <a:pt x="28575"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5"/>
            <p:cNvSpPr txBox="1"/>
            <p:nvPr/>
          </p:nvSpPr>
          <p:spPr>
            <a:xfrm>
              <a:off x="5577840" y="2453640"/>
              <a:ext cx="4103427"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800" u="none" cap="none" strike="noStrike">
                  <a:solidFill>
                    <a:srgbClr val="1565C0"/>
                  </a:solidFill>
                  <a:latin typeface="Quattrocento Sans"/>
                  <a:ea typeface="Quattrocento Sans"/>
                  <a:cs typeface="Quattrocento Sans"/>
                  <a:sym typeface="Quattrocento Sans"/>
                </a:rPr>
                <a:t>If a customer has a high churn</a:t>
              </a:r>
              <a:endParaRPr/>
            </a:p>
          </p:txBody>
        </p:sp>
        <p:sp>
          <p:nvSpPr>
            <p:cNvPr id="867" name="Google Shape;867;p15"/>
            <p:cNvSpPr txBox="1"/>
            <p:nvPr/>
          </p:nvSpPr>
          <p:spPr>
            <a:xfrm>
              <a:off x="5577840" y="2796540"/>
              <a:ext cx="3937806"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800" u="none" cap="none" strike="noStrike">
                  <a:solidFill>
                    <a:srgbClr val="1565C0"/>
                  </a:solidFill>
                  <a:latin typeface="Quattrocento Sans"/>
                  <a:ea typeface="Quattrocento Sans"/>
                  <a:cs typeface="Quattrocento Sans"/>
                  <a:sym typeface="Quattrocento Sans"/>
                </a:rPr>
                <a:t>probability, the company can</a:t>
              </a:r>
              <a:endParaRPr/>
            </a:p>
          </p:txBody>
        </p:sp>
        <p:sp>
          <p:nvSpPr>
            <p:cNvPr id="868" name="Google Shape;868;p15"/>
            <p:cNvSpPr txBox="1"/>
            <p:nvPr/>
          </p:nvSpPr>
          <p:spPr>
            <a:xfrm>
              <a:off x="5577840" y="3139440"/>
              <a:ext cx="396541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800" u="none" cap="none" strike="noStrike">
                  <a:solidFill>
                    <a:srgbClr val="1565C0"/>
                  </a:solidFill>
                  <a:latin typeface="Quattrocento Sans"/>
                  <a:ea typeface="Quattrocento Sans"/>
                  <a:cs typeface="Quattrocento Sans"/>
                  <a:sym typeface="Quattrocento Sans"/>
                </a:rPr>
                <a:t>check their issues and try to</a:t>
              </a:r>
              <a:endParaRPr/>
            </a:p>
          </p:txBody>
        </p:sp>
        <p:sp>
          <p:nvSpPr>
            <p:cNvPr id="869" name="Google Shape;869;p15"/>
            <p:cNvSpPr txBox="1"/>
            <p:nvPr/>
          </p:nvSpPr>
          <p:spPr>
            <a:xfrm>
              <a:off x="5577840" y="3482340"/>
              <a:ext cx="1784737"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800" u="none" cap="none" strike="noStrike">
                  <a:solidFill>
                    <a:srgbClr val="1565C0"/>
                  </a:solidFill>
                  <a:latin typeface="Quattrocento Sans"/>
                  <a:ea typeface="Quattrocento Sans"/>
                  <a:cs typeface="Quattrocento Sans"/>
                  <a:sym typeface="Quattrocento Sans"/>
                </a:rPr>
                <a:t>retain them.</a:t>
              </a:r>
              <a:endParaRPr/>
            </a:p>
          </p:txBody>
        </p:sp>
        <p:sp>
          <p:nvSpPr>
            <p:cNvPr id="870" name="Google Shape;870;p15"/>
            <p:cNvSpPr/>
            <p:nvPr/>
          </p:nvSpPr>
          <p:spPr>
            <a:xfrm>
              <a:off x="5600700" y="4171950"/>
              <a:ext cx="1143000" cy="38100"/>
            </a:xfrm>
            <a:custGeom>
              <a:rect b="b" l="l" r="r" t="t"/>
              <a:pathLst>
                <a:path extrusionOk="0" h="38100" w="1143000">
                  <a:moveTo>
                    <a:pt x="19050" y="0"/>
                  </a:moveTo>
                  <a:lnTo>
                    <a:pt x="1123950" y="0"/>
                  </a:lnTo>
                  <a:cubicBezTo>
                    <a:pt x="1134471" y="0"/>
                    <a:pt x="1143000" y="8529"/>
                    <a:pt x="1143000" y="19050"/>
                  </a:cubicBezTo>
                  <a:lnTo>
                    <a:pt x="1143000" y="19050"/>
                  </a:lnTo>
                  <a:cubicBezTo>
                    <a:pt x="1143000" y="29571"/>
                    <a:pt x="1134471" y="38100"/>
                    <a:pt x="1123950" y="38100"/>
                  </a:cubicBezTo>
                  <a:lnTo>
                    <a:pt x="19050" y="38100"/>
                  </a:lnTo>
                  <a:cubicBezTo>
                    <a:pt x="8529" y="38100"/>
                    <a:pt x="0" y="29571"/>
                    <a:pt x="0" y="19050"/>
                  </a:cubicBezTo>
                  <a:lnTo>
                    <a:pt x="0" y="19050"/>
                  </a:lnTo>
                  <a:cubicBezTo>
                    <a:pt x="0" y="8529"/>
                    <a:pt x="8529" y="0"/>
                    <a:pt x="19050"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5"/>
            <p:cNvSpPr txBox="1"/>
            <p:nvPr/>
          </p:nvSpPr>
          <p:spPr>
            <a:xfrm>
              <a:off x="5585460" y="4480560"/>
              <a:ext cx="3675888"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52606D"/>
                  </a:solidFill>
                  <a:latin typeface="Quattrocento Sans"/>
                  <a:ea typeface="Quattrocento Sans"/>
                  <a:cs typeface="Quattrocento Sans"/>
                  <a:sym typeface="Quattrocento Sans"/>
                </a:rPr>
                <a:t>Turn model output into a retention action.</a:t>
              </a:r>
              <a:endParaRPr/>
            </a:p>
          </p:txBody>
        </p:sp>
      </p:grpSp>
      <p:grpSp>
        <p:nvGrpSpPr>
          <p:cNvPr id="872" name="Google Shape;872;p15"/>
          <p:cNvGrpSpPr/>
          <p:nvPr/>
        </p:nvGrpSpPr>
        <p:grpSpPr>
          <a:xfrm>
            <a:off x="561022" y="6381750"/>
            <a:ext cx="11069955" cy="345281"/>
            <a:chOff x="561022" y="6381750"/>
            <a:chExt cx="11069955" cy="345281"/>
          </a:xfrm>
        </p:grpSpPr>
        <p:sp>
          <p:nvSpPr>
            <p:cNvPr id="873" name="Google Shape;873;p15"/>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874" name="Google Shape;874;p15"/>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875" name="Google Shape;875;p15"/>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15 / 18</a:t>
              </a:r>
              <a:endParaRPr/>
            </a:p>
          </p:txBody>
        </p:sp>
      </p:gr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6"/>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16"/>
          <p:cNvGrpSpPr/>
          <p:nvPr/>
        </p:nvGrpSpPr>
        <p:grpSpPr>
          <a:xfrm>
            <a:off x="541020" y="426720"/>
            <a:ext cx="3202305" cy="697230"/>
            <a:chOff x="541020" y="426720"/>
            <a:chExt cx="3202305" cy="697230"/>
          </a:xfrm>
        </p:grpSpPr>
        <p:sp>
          <p:nvSpPr>
            <p:cNvPr id="883" name="Google Shape;883;p16"/>
            <p:cNvSpPr txBox="1"/>
            <p:nvPr/>
          </p:nvSpPr>
          <p:spPr>
            <a:xfrm>
              <a:off x="541020" y="426720"/>
              <a:ext cx="2692489"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What I Learned</a:t>
              </a:r>
              <a:endParaRPr/>
            </a:p>
          </p:txBody>
        </p:sp>
        <p:sp>
          <p:nvSpPr>
            <p:cNvPr id="884" name="Google Shape;884;p16"/>
            <p:cNvSpPr txBox="1"/>
            <p:nvPr/>
          </p:nvSpPr>
          <p:spPr>
            <a:xfrm>
              <a:off x="554355" y="806768"/>
              <a:ext cx="318897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What I Learned From This Project</a:t>
              </a:r>
              <a:endParaRPr/>
            </a:p>
          </p:txBody>
        </p:sp>
        <p:sp>
          <p:nvSpPr>
            <p:cNvPr id="885" name="Google Shape;885;p16"/>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 name="Google Shape;886;p16"/>
          <p:cNvGrpSpPr/>
          <p:nvPr/>
        </p:nvGrpSpPr>
        <p:grpSpPr>
          <a:xfrm>
            <a:off x="571500" y="1371600"/>
            <a:ext cx="3524250" cy="1314450"/>
            <a:chOff x="571500" y="1371600"/>
            <a:chExt cx="3524250" cy="1314450"/>
          </a:xfrm>
        </p:grpSpPr>
        <p:sp>
          <p:nvSpPr>
            <p:cNvPr id="887" name="Google Shape;887;p16"/>
            <p:cNvSpPr/>
            <p:nvPr/>
          </p:nvSpPr>
          <p:spPr>
            <a:xfrm>
              <a:off x="571500" y="13716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6"/>
            <p:cNvSpPr/>
            <p:nvPr/>
          </p:nvSpPr>
          <p:spPr>
            <a:xfrm>
              <a:off x="571500" y="13716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p:nvPr/>
          </p:nvSpPr>
          <p:spPr>
            <a:xfrm>
              <a:off x="838200" y="17430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6"/>
            <p:cNvSpPr/>
            <p:nvPr/>
          </p:nvSpPr>
          <p:spPr>
            <a:xfrm>
              <a:off x="971550" y="1876425"/>
              <a:ext cx="266700" cy="304800"/>
            </a:xfrm>
            <a:custGeom>
              <a:rect b="b" l="l" r="r" t="t"/>
              <a:pathLst>
                <a:path extrusionOk="0" h="304800" w="266700">
                  <a:moveTo>
                    <a:pt x="209550" y="114300"/>
                  </a:moveTo>
                  <a:cubicBezTo>
                    <a:pt x="241114" y="114300"/>
                    <a:pt x="266700" y="88713"/>
                    <a:pt x="266700" y="57150"/>
                  </a:cubicBezTo>
                  <a:cubicBezTo>
                    <a:pt x="266700" y="25587"/>
                    <a:pt x="241114" y="0"/>
                    <a:pt x="209550" y="0"/>
                  </a:cubicBezTo>
                  <a:cubicBezTo>
                    <a:pt x="177987" y="0"/>
                    <a:pt x="152400" y="25587"/>
                    <a:pt x="152400" y="57150"/>
                  </a:cubicBezTo>
                  <a:cubicBezTo>
                    <a:pt x="152400" y="61412"/>
                    <a:pt x="152867" y="65564"/>
                    <a:pt x="153751" y="69560"/>
                  </a:cubicBezTo>
                  <a:lnTo>
                    <a:pt x="92747" y="107687"/>
                  </a:lnTo>
                  <a:cubicBezTo>
                    <a:pt x="82982" y="99903"/>
                    <a:pt x="70609" y="95250"/>
                    <a:pt x="57150" y="95250"/>
                  </a:cubicBezTo>
                  <a:cubicBezTo>
                    <a:pt x="25587" y="95250"/>
                    <a:pt x="0" y="120837"/>
                    <a:pt x="0" y="152400"/>
                  </a:cubicBezTo>
                  <a:cubicBezTo>
                    <a:pt x="0" y="183963"/>
                    <a:pt x="25587" y="209550"/>
                    <a:pt x="57150" y="209550"/>
                  </a:cubicBezTo>
                  <a:cubicBezTo>
                    <a:pt x="70609" y="209550"/>
                    <a:pt x="82982" y="204898"/>
                    <a:pt x="92747" y="197112"/>
                  </a:cubicBezTo>
                  <a:lnTo>
                    <a:pt x="153751" y="235241"/>
                  </a:lnTo>
                  <a:cubicBezTo>
                    <a:pt x="152867" y="239236"/>
                    <a:pt x="152400" y="243389"/>
                    <a:pt x="152400" y="247650"/>
                  </a:cubicBezTo>
                  <a:cubicBezTo>
                    <a:pt x="152400" y="279214"/>
                    <a:pt x="177987" y="304800"/>
                    <a:pt x="209550" y="304800"/>
                  </a:cubicBezTo>
                  <a:cubicBezTo>
                    <a:pt x="241114" y="304800"/>
                    <a:pt x="266700" y="279214"/>
                    <a:pt x="266700" y="247650"/>
                  </a:cubicBezTo>
                  <a:cubicBezTo>
                    <a:pt x="266700" y="216086"/>
                    <a:pt x="241114" y="190500"/>
                    <a:pt x="209550" y="190500"/>
                  </a:cubicBezTo>
                  <a:cubicBezTo>
                    <a:pt x="196091" y="190500"/>
                    <a:pt x="183718" y="195152"/>
                    <a:pt x="173953" y="202938"/>
                  </a:cubicBezTo>
                  <a:lnTo>
                    <a:pt x="112949" y="164810"/>
                  </a:lnTo>
                  <a:cubicBezTo>
                    <a:pt x="113833" y="160814"/>
                    <a:pt x="114300" y="156662"/>
                    <a:pt x="114300" y="152400"/>
                  </a:cubicBezTo>
                  <a:cubicBezTo>
                    <a:pt x="114300" y="148138"/>
                    <a:pt x="113833" y="143986"/>
                    <a:pt x="112949" y="139990"/>
                  </a:cubicBezTo>
                  <a:lnTo>
                    <a:pt x="173953" y="101863"/>
                  </a:lnTo>
                  <a:cubicBezTo>
                    <a:pt x="183718" y="109647"/>
                    <a:pt x="196091" y="114300"/>
                    <a:pt x="209550" y="11430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6"/>
            <p:cNvSpPr txBox="1"/>
            <p:nvPr/>
          </p:nvSpPr>
          <p:spPr>
            <a:xfrm>
              <a:off x="1604010" y="1851660"/>
              <a:ext cx="1651635"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work with a</a:t>
              </a:r>
              <a:endParaRPr/>
            </a:p>
          </p:txBody>
        </p:sp>
        <p:sp>
          <p:nvSpPr>
            <p:cNvPr id="892" name="Google Shape;892;p16"/>
            <p:cNvSpPr txBox="1"/>
            <p:nvPr/>
          </p:nvSpPr>
          <p:spPr>
            <a:xfrm>
              <a:off x="1604010" y="2061210"/>
              <a:ext cx="1502664"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real ML workflow</a:t>
              </a:r>
              <a:endParaRPr/>
            </a:p>
          </p:txBody>
        </p:sp>
      </p:grpSp>
      <p:grpSp>
        <p:nvGrpSpPr>
          <p:cNvPr id="893" name="Google Shape;893;p16"/>
          <p:cNvGrpSpPr/>
          <p:nvPr/>
        </p:nvGrpSpPr>
        <p:grpSpPr>
          <a:xfrm>
            <a:off x="4333875" y="1371600"/>
            <a:ext cx="3524250" cy="1314450"/>
            <a:chOff x="4333875" y="1371600"/>
            <a:chExt cx="3524250" cy="1314450"/>
          </a:xfrm>
        </p:grpSpPr>
        <p:sp>
          <p:nvSpPr>
            <p:cNvPr id="894" name="Google Shape;894;p16"/>
            <p:cNvSpPr/>
            <p:nvPr/>
          </p:nvSpPr>
          <p:spPr>
            <a:xfrm>
              <a:off x="4333875" y="13716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6"/>
            <p:cNvSpPr/>
            <p:nvPr/>
          </p:nvSpPr>
          <p:spPr>
            <a:xfrm>
              <a:off x="4333875" y="13716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6"/>
            <p:cNvSpPr/>
            <p:nvPr/>
          </p:nvSpPr>
          <p:spPr>
            <a:xfrm>
              <a:off x="4600575" y="17430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7" name="Google Shape;897;p16"/>
            <p:cNvGrpSpPr/>
            <p:nvPr/>
          </p:nvGrpSpPr>
          <p:grpSpPr>
            <a:xfrm>
              <a:off x="4733925" y="1895475"/>
              <a:ext cx="304800" cy="266700"/>
              <a:chOff x="4733925" y="1895475"/>
              <a:chExt cx="304800" cy="266700"/>
            </a:xfrm>
          </p:grpSpPr>
          <p:sp>
            <p:nvSpPr>
              <p:cNvPr id="898" name="Google Shape;898;p16"/>
              <p:cNvSpPr/>
              <p:nvPr/>
            </p:nvSpPr>
            <p:spPr>
              <a:xfrm>
                <a:off x="4733925" y="1895475"/>
                <a:ext cx="304800" cy="38100"/>
              </a:xfrm>
              <a:custGeom>
                <a:rect b="b" l="l" r="r" t="t"/>
                <a:pathLst>
                  <a:path extrusionOk="0" h="38100" w="304800">
                    <a:moveTo>
                      <a:pt x="0" y="38100"/>
                    </a:moveTo>
                    <a:lnTo>
                      <a:pt x="304800" y="38100"/>
                    </a:lnTo>
                    <a:lnTo>
                      <a:pt x="304800" y="0"/>
                    </a:lnTo>
                    <a:lnTo>
                      <a:pt x="0" y="0"/>
                    </a:lnTo>
                    <a:lnTo>
                      <a:pt x="0" y="38100"/>
                    </a:lnTo>
                    <a:close/>
                  </a:path>
                </a:pathLst>
              </a:custGeom>
              <a:solidFill>
                <a:srgbClr val="1565C0"/>
              </a:solidFill>
              <a:ln>
                <a:noFill/>
              </a:ln>
            </p:spPr>
          </p:sp>
          <p:sp>
            <p:nvSpPr>
              <p:cNvPr id="899" name="Google Shape;899;p16"/>
              <p:cNvSpPr/>
              <p:nvPr/>
            </p:nvSpPr>
            <p:spPr>
              <a:xfrm>
                <a:off x="4772025" y="1971675"/>
                <a:ext cx="228600" cy="38100"/>
              </a:xfrm>
              <a:custGeom>
                <a:rect b="b" l="l" r="r" t="t"/>
                <a:pathLst>
                  <a:path extrusionOk="0" h="38100" w="228600">
                    <a:moveTo>
                      <a:pt x="0" y="38100"/>
                    </a:moveTo>
                    <a:lnTo>
                      <a:pt x="228600" y="38100"/>
                    </a:lnTo>
                    <a:lnTo>
                      <a:pt x="228600" y="0"/>
                    </a:lnTo>
                    <a:lnTo>
                      <a:pt x="0" y="0"/>
                    </a:lnTo>
                    <a:lnTo>
                      <a:pt x="0" y="38100"/>
                    </a:lnTo>
                    <a:close/>
                  </a:path>
                </a:pathLst>
              </a:custGeom>
              <a:solidFill>
                <a:srgbClr val="1565C0"/>
              </a:solidFill>
              <a:ln>
                <a:noFill/>
              </a:ln>
            </p:spPr>
          </p:sp>
          <p:sp>
            <p:nvSpPr>
              <p:cNvPr id="900" name="Google Shape;900;p16"/>
              <p:cNvSpPr/>
              <p:nvPr/>
            </p:nvSpPr>
            <p:spPr>
              <a:xfrm>
                <a:off x="4810125" y="2047875"/>
                <a:ext cx="152400" cy="38100"/>
              </a:xfrm>
              <a:custGeom>
                <a:rect b="b" l="l" r="r" t="t"/>
                <a:pathLst>
                  <a:path extrusionOk="0" h="38100" w="152400">
                    <a:moveTo>
                      <a:pt x="0" y="38100"/>
                    </a:moveTo>
                    <a:lnTo>
                      <a:pt x="152400" y="38100"/>
                    </a:lnTo>
                    <a:lnTo>
                      <a:pt x="152400" y="0"/>
                    </a:lnTo>
                    <a:lnTo>
                      <a:pt x="0" y="0"/>
                    </a:lnTo>
                    <a:lnTo>
                      <a:pt x="0" y="38100"/>
                    </a:lnTo>
                    <a:close/>
                  </a:path>
                </a:pathLst>
              </a:custGeom>
              <a:solidFill>
                <a:srgbClr val="1565C0"/>
              </a:solidFill>
              <a:ln>
                <a:noFill/>
              </a:ln>
            </p:spPr>
          </p:sp>
          <p:sp>
            <p:nvSpPr>
              <p:cNvPr id="901" name="Google Shape;901;p16"/>
              <p:cNvSpPr/>
              <p:nvPr/>
            </p:nvSpPr>
            <p:spPr>
              <a:xfrm>
                <a:off x="4848225" y="2124075"/>
                <a:ext cx="76200" cy="38100"/>
              </a:xfrm>
              <a:custGeom>
                <a:rect b="b" l="l" r="r" t="t"/>
                <a:pathLst>
                  <a:path extrusionOk="0" h="38100" w="76200">
                    <a:moveTo>
                      <a:pt x="76200" y="38100"/>
                    </a:moveTo>
                    <a:lnTo>
                      <a:pt x="0" y="38100"/>
                    </a:lnTo>
                    <a:lnTo>
                      <a:pt x="0" y="0"/>
                    </a:lnTo>
                    <a:lnTo>
                      <a:pt x="76200" y="0"/>
                    </a:lnTo>
                    <a:lnTo>
                      <a:pt x="76200" y="38100"/>
                    </a:lnTo>
                    <a:close/>
                  </a:path>
                </a:pathLst>
              </a:custGeom>
              <a:solidFill>
                <a:srgbClr val="1565C0"/>
              </a:solidFill>
              <a:ln>
                <a:noFill/>
              </a:ln>
            </p:spPr>
          </p:sp>
        </p:grpSp>
        <p:sp>
          <p:nvSpPr>
            <p:cNvPr id="902" name="Google Shape;902;p16"/>
            <p:cNvSpPr txBox="1"/>
            <p:nvPr/>
          </p:nvSpPr>
          <p:spPr>
            <a:xfrm>
              <a:off x="5366385" y="1851660"/>
              <a:ext cx="1432560"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clean and</a:t>
              </a:r>
              <a:endParaRPr/>
            </a:p>
          </p:txBody>
        </p:sp>
        <p:sp>
          <p:nvSpPr>
            <p:cNvPr id="903" name="Google Shape;903;p16"/>
            <p:cNvSpPr txBox="1"/>
            <p:nvPr/>
          </p:nvSpPr>
          <p:spPr>
            <a:xfrm>
              <a:off x="5366385" y="2061210"/>
              <a:ext cx="1143381"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prepare data</a:t>
              </a:r>
              <a:endParaRPr/>
            </a:p>
          </p:txBody>
        </p:sp>
      </p:grpSp>
      <p:grpSp>
        <p:nvGrpSpPr>
          <p:cNvPr id="904" name="Google Shape;904;p16"/>
          <p:cNvGrpSpPr/>
          <p:nvPr/>
        </p:nvGrpSpPr>
        <p:grpSpPr>
          <a:xfrm>
            <a:off x="8096250" y="1371600"/>
            <a:ext cx="3524250" cy="1314450"/>
            <a:chOff x="8096250" y="1371600"/>
            <a:chExt cx="3524250" cy="1314450"/>
          </a:xfrm>
        </p:grpSpPr>
        <p:sp>
          <p:nvSpPr>
            <p:cNvPr id="905" name="Google Shape;905;p16"/>
            <p:cNvSpPr/>
            <p:nvPr/>
          </p:nvSpPr>
          <p:spPr>
            <a:xfrm>
              <a:off x="8096250" y="13716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6"/>
            <p:cNvSpPr/>
            <p:nvPr/>
          </p:nvSpPr>
          <p:spPr>
            <a:xfrm>
              <a:off x="8096250" y="13716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6"/>
            <p:cNvSpPr/>
            <p:nvPr/>
          </p:nvSpPr>
          <p:spPr>
            <a:xfrm>
              <a:off x="8362950" y="17430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8" name="Google Shape;908;p16"/>
            <p:cNvGrpSpPr/>
            <p:nvPr/>
          </p:nvGrpSpPr>
          <p:grpSpPr>
            <a:xfrm>
              <a:off x="8496300" y="1895475"/>
              <a:ext cx="304800" cy="266700"/>
              <a:chOff x="8496300" y="1895475"/>
              <a:chExt cx="304800" cy="266700"/>
            </a:xfrm>
          </p:grpSpPr>
          <p:sp>
            <p:nvSpPr>
              <p:cNvPr id="909" name="Google Shape;909;p16"/>
              <p:cNvSpPr/>
              <p:nvPr/>
            </p:nvSpPr>
            <p:spPr>
              <a:xfrm>
                <a:off x="8724900" y="1895475"/>
                <a:ext cx="76200" cy="266700"/>
              </a:xfrm>
              <a:custGeom>
                <a:rect b="b" l="l" r="r" t="t"/>
                <a:pathLst>
                  <a:path extrusionOk="0" h="266700" w="76200">
                    <a:moveTo>
                      <a:pt x="76200" y="0"/>
                    </a:moveTo>
                    <a:lnTo>
                      <a:pt x="0" y="0"/>
                    </a:lnTo>
                    <a:lnTo>
                      <a:pt x="0" y="266700"/>
                    </a:lnTo>
                    <a:lnTo>
                      <a:pt x="76200" y="266700"/>
                    </a:lnTo>
                    <a:lnTo>
                      <a:pt x="76200" y="0"/>
                    </a:lnTo>
                    <a:close/>
                  </a:path>
                </a:pathLst>
              </a:custGeom>
              <a:solidFill>
                <a:srgbClr val="1565C0"/>
              </a:solidFill>
              <a:ln>
                <a:noFill/>
              </a:ln>
            </p:spPr>
          </p:sp>
          <p:sp>
            <p:nvSpPr>
              <p:cNvPr id="910" name="Google Shape;910;p16"/>
              <p:cNvSpPr/>
              <p:nvPr/>
            </p:nvSpPr>
            <p:spPr>
              <a:xfrm>
                <a:off x="8610600" y="1971675"/>
                <a:ext cx="76200" cy="190500"/>
              </a:xfrm>
              <a:custGeom>
                <a:rect b="b" l="l" r="r" t="t"/>
                <a:pathLst>
                  <a:path extrusionOk="0" h="190500" w="76200">
                    <a:moveTo>
                      <a:pt x="0" y="0"/>
                    </a:moveTo>
                    <a:lnTo>
                      <a:pt x="76200" y="0"/>
                    </a:lnTo>
                    <a:lnTo>
                      <a:pt x="76200" y="190500"/>
                    </a:lnTo>
                    <a:lnTo>
                      <a:pt x="0" y="190500"/>
                    </a:lnTo>
                    <a:lnTo>
                      <a:pt x="0" y="0"/>
                    </a:lnTo>
                    <a:close/>
                  </a:path>
                </a:pathLst>
              </a:custGeom>
              <a:solidFill>
                <a:srgbClr val="1565C0"/>
              </a:solidFill>
              <a:ln>
                <a:noFill/>
              </a:ln>
            </p:spPr>
          </p:sp>
          <p:sp>
            <p:nvSpPr>
              <p:cNvPr id="911" name="Google Shape;911;p16"/>
              <p:cNvSpPr/>
              <p:nvPr/>
            </p:nvSpPr>
            <p:spPr>
              <a:xfrm>
                <a:off x="8496300" y="2047875"/>
                <a:ext cx="76200" cy="114300"/>
              </a:xfrm>
              <a:custGeom>
                <a:rect b="b" l="l" r="r" t="t"/>
                <a:pathLst>
                  <a:path extrusionOk="0" h="114300" w="76200">
                    <a:moveTo>
                      <a:pt x="0" y="0"/>
                    </a:moveTo>
                    <a:lnTo>
                      <a:pt x="76200" y="0"/>
                    </a:lnTo>
                    <a:lnTo>
                      <a:pt x="76200" y="114300"/>
                    </a:lnTo>
                    <a:lnTo>
                      <a:pt x="0" y="114300"/>
                    </a:lnTo>
                    <a:lnTo>
                      <a:pt x="0" y="0"/>
                    </a:lnTo>
                    <a:close/>
                  </a:path>
                </a:pathLst>
              </a:custGeom>
              <a:solidFill>
                <a:srgbClr val="1565C0"/>
              </a:solidFill>
              <a:ln>
                <a:noFill/>
              </a:ln>
            </p:spPr>
          </p:sp>
        </p:grpSp>
        <p:sp>
          <p:nvSpPr>
            <p:cNvPr id="912" name="Google Shape;912;p16"/>
            <p:cNvSpPr txBox="1"/>
            <p:nvPr/>
          </p:nvSpPr>
          <p:spPr>
            <a:xfrm>
              <a:off x="9128760" y="1956435"/>
              <a:ext cx="1704213"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perform EDA</a:t>
              </a:r>
              <a:endParaRPr/>
            </a:p>
          </p:txBody>
        </p:sp>
      </p:grpSp>
      <p:grpSp>
        <p:nvGrpSpPr>
          <p:cNvPr id="913" name="Google Shape;913;p16"/>
          <p:cNvGrpSpPr/>
          <p:nvPr/>
        </p:nvGrpSpPr>
        <p:grpSpPr>
          <a:xfrm>
            <a:off x="571500" y="2990850"/>
            <a:ext cx="3524250" cy="1314450"/>
            <a:chOff x="571500" y="2990850"/>
            <a:chExt cx="3524250" cy="1314450"/>
          </a:xfrm>
        </p:grpSpPr>
        <p:sp>
          <p:nvSpPr>
            <p:cNvPr id="914" name="Google Shape;914;p16"/>
            <p:cNvSpPr/>
            <p:nvPr/>
          </p:nvSpPr>
          <p:spPr>
            <a:xfrm>
              <a:off x="571500" y="299085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6"/>
            <p:cNvSpPr/>
            <p:nvPr/>
          </p:nvSpPr>
          <p:spPr>
            <a:xfrm>
              <a:off x="571500" y="299085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
            <p:cNvSpPr/>
            <p:nvPr/>
          </p:nvSpPr>
          <p:spPr>
            <a:xfrm>
              <a:off x="838200" y="336232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7" name="Google Shape;917;p16"/>
            <p:cNvGrpSpPr/>
            <p:nvPr/>
          </p:nvGrpSpPr>
          <p:grpSpPr>
            <a:xfrm>
              <a:off x="990600" y="3514725"/>
              <a:ext cx="266700" cy="266700"/>
              <a:chOff x="990600" y="3514725"/>
              <a:chExt cx="266700" cy="266700"/>
            </a:xfrm>
          </p:grpSpPr>
          <p:sp>
            <p:nvSpPr>
              <p:cNvPr id="918" name="Google Shape;918;p16"/>
              <p:cNvSpPr/>
              <p:nvPr/>
            </p:nvSpPr>
            <p:spPr>
              <a:xfrm>
                <a:off x="990600" y="3514725"/>
                <a:ext cx="266700" cy="114300"/>
              </a:xfrm>
              <a:custGeom>
                <a:rect b="b" l="l" r="r" t="t"/>
                <a:pathLst>
                  <a:path extrusionOk="0" h="114300" w="266700">
                    <a:moveTo>
                      <a:pt x="38100" y="0"/>
                    </a:moveTo>
                    <a:lnTo>
                      <a:pt x="133350" y="0"/>
                    </a:lnTo>
                    <a:lnTo>
                      <a:pt x="133350" y="38100"/>
                    </a:lnTo>
                    <a:lnTo>
                      <a:pt x="266700" y="38100"/>
                    </a:lnTo>
                    <a:lnTo>
                      <a:pt x="266700" y="76200"/>
                    </a:lnTo>
                    <a:lnTo>
                      <a:pt x="133350" y="76200"/>
                    </a:lnTo>
                    <a:lnTo>
                      <a:pt x="133350" y="114300"/>
                    </a:lnTo>
                    <a:lnTo>
                      <a:pt x="38100" y="114300"/>
                    </a:lnTo>
                    <a:lnTo>
                      <a:pt x="38100" y="76200"/>
                    </a:lnTo>
                    <a:lnTo>
                      <a:pt x="0" y="76200"/>
                    </a:lnTo>
                    <a:lnTo>
                      <a:pt x="0" y="38100"/>
                    </a:lnTo>
                    <a:lnTo>
                      <a:pt x="38100" y="38100"/>
                    </a:lnTo>
                    <a:lnTo>
                      <a:pt x="38100" y="0"/>
                    </a:lnTo>
                    <a:close/>
                  </a:path>
                </a:pathLst>
              </a:custGeom>
              <a:solidFill>
                <a:srgbClr val="1565C0"/>
              </a:solidFill>
              <a:ln>
                <a:noFill/>
              </a:ln>
            </p:spPr>
          </p:sp>
          <p:sp>
            <p:nvSpPr>
              <p:cNvPr id="919" name="Google Shape;919;p16"/>
              <p:cNvSpPr/>
              <p:nvPr/>
            </p:nvSpPr>
            <p:spPr>
              <a:xfrm>
                <a:off x="990600" y="3667125"/>
                <a:ext cx="266700" cy="114300"/>
              </a:xfrm>
              <a:custGeom>
                <a:rect b="b" l="l" r="r" t="t"/>
                <a:pathLst>
                  <a:path extrusionOk="0" h="114300" w="266700">
                    <a:moveTo>
                      <a:pt x="228600" y="76200"/>
                    </a:moveTo>
                    <a:lnTo>
                      <a:pt x="266700" y="76200"/>
                    </a:lnTo>
                    <a:lnTo>
                      <a:pt x="266700" y="38100"/>
                    </a:lnTo>
                    <a:lnTo>
                      <a:pt x="228600" y="38100"/>
                    </a:lnTo>
                    <a:lnTo>
                      <a:pt x="228600" y="0"/>
                    </a:lnTo>
                    <a:lnTo>
                      <a:pt x="133350" y="0"/>
                    </a:lnTo>
                    <a:lnTo>
                      <a:pt x="133350" y="38100"/>
                    </a:lnTo>
                    <a:lnTo>
                      <a:pt x="0" y="38100"/>
                    </a:lnTo>
                    <a:lnTo>
                      <a:pt x="0" y="76200"/>
                    </a:lnTo>
                    <a:lnTo>
                      <a:pt x="133350" y="76200"/>
                    </a:lnTo>
                    <a:lnTo>
                      <a:pt x="133350" y="114300"/>
                    </a:lnTo>
                    <a:lnTo>
                      <a:pt x="228600" y="114300"/>
                    </a:lnTo>
                    <a:lnTo>
                      <a:pt x="228600" y="76200"/>
                    </a:lnTo>
                    <a:close/>
                  </a:path>
                </a:pathLst>
              </a:custGeom>
              <a:solidFill>
                <a:srgbClr val="1565C0"/>
              </a:solidFill>
              <a:ln>
                <a:noFill/>
              </a:ln>
            </p:spPr>
          </p:sp>
        </p:grpSp>
        <p:sp>
          <p:nvSpPr>
            <p:cNvPr id="920" name="Google Shape;920;p16"/>
            <p:cNvSpPr txBox="1"/>
            <p:nvPr/>
          </p:nvSpPr>
          <p:spPr>
            <a:xfrm>
              <a:off x="1604010" y="3366135"/>
              <a:ext cx="1818132"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categorical data</a:t>
              </a:r>
              <a:endParaRPr/>
            </a:p>
          </p:txBody>
        </p:sp>
        <p:sp>
          <p:nvSpPr>
            <p:cNvPr id="921" name="Google Shape;921;p16"/>
            <p:cNvSpPr txBox="1"/>
            <p:nvPr/>
          </p:nvSpPr>
          <p:spPr>
            <a:xfrm>
              <a:off x="1604010" y="3575685"/>
              <a:ext cx="1493901"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is converted into</a:t>
              </a:r>
              <a:endParaRPr/>
            </a:p>
          </p:txBody>
        </p:sp>
        <p:sp>
          <p:nvSpPr>
            <p:cNvPr id="922" name="Google Shape;922;p16"/>
            <p:cNvSpPr txBox="1"/>
            <p:nvPr/>
          </p:nvSpPr>
          <p:spPr>
            <a:xfrm>
              <a:off x="1604010" y="3785235"/>
              <a:ext cx="1283589"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numerical data</a:t>
              </a:r>
              <a:endParaRPr/>
            </a:p>
          </p:txBody>
        </p:sp>
      </p:grpSp>
      <p:grpSp>
        <p:nvGrpSpPr>
          <p:cNvPr id="923" name="Google Shape;923;p16"/>
          <p:cNvGrpSpPr/>
          <p:nvPr/>
        </p:nvGrpSpPr>
        <p:grpSpPr>
          <a:xfrm>
            <a:off x="4333875" y="2990850"/>
            <a:ext cx="3524250" cy="1314450"/>
            <a:chOff x="4333875" y="2990850"/>
            <a:chExt cx="3524250" cy="1314450"/>
          </a:xfrm>
        </p:grpSpPr>
        <p:sp>
          <p:nvSpPr>
            <p:cNvPr id="924" name="Google Shape;924;p16"/>
            <p:cNvSpPr/>
            <p:nvPr/>
          </p:nvSpPr>
          <p:spPr>
            <a:xfrm>
              <a:off x="4333875" y="299085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6"/>
            <p:cNvSpPr/>
            <p:nvPr/>
          </p:nvSpPr>
          <p:spPr>
            <a:xfrm>
              <a:off x="4333875" y="299085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6"/>
            <p:cNvSpPr/>
            <p:nvPr/>
          </p:nvSpPr>
          <p:spPr>
            <a:xfrm>
              <a:off x="4600575" y="336232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7" name="Google Shape;927;p16"/>
            <p:cNvGrpSpPr/>
            <p:nvPr/>
          </p:nvGrpSpPr>
          <p:grpSpPr>
            <a:xfrm>
              <a:off x="4752975" y="3514725"/>
              <a:ext cx="266700" cy="266700"/>
              <a:chOff x="4752975" y="3514725"/>
              <a:chExt cx="266700" cy="266700"/>
            </a:xfrm>
          </p:grpSpPr>
          <p:sp>
            <p:nvSpPr>
              <p:cNvPr id="928" name="Google Shape;928;p16"/>
              <p:cNvSpPr/>
              <p:nvPr/>
            </p:nvSpPr>
            <p:spPr>
              <a:xfrm>
                <a:off x="4752975" y="3514725"/>
                <a:ext cx="114300" cy="266700"/>
              </a:xfrm>
              <a:custGeom>
                <a:rect b="b" l="l" r="r" t="t"/>
                <a:pathLst>
                  <a:path extrusionOk="0" h="266700" w="114300">
                    <a:moveTo>
                      <a:pt x="114300" y="0"/>
                    </a:moveTo>
                    <a:lnTo>
                      <a:pt x="0" y="0"/>
                    </a:lnTo>
                    <a:lnTo>
                      <a:pt x="0" y="266700"/>
                    </a:lnTo>
                    <a:lnTo>
                      <a:pt x="114300" y="266700"/>
                    </a:lnTo>
                    <a:lnTo>
                      <a:pt x="114300" y="0"/>
                    </a:lnTo>
                    <a:close/>
                  </a:path>
                </a:pathLst>
              </a:custGeom>
              <a:solidFill>
                <a:srgbClr val="1565C0"/>
              </a:solidFill>
              <a:ln>
                <a:noFill/>
              </a:ln>
            </p:spPr>
          </p:sp>
          <p:sp>
            <p:nvSpPr>
              <p:cNvPr id="929" name="Google Shape;929;p16"/>
              <p:cNvSpPr/>
              <p:nvPr/>
            </p:nvSpPr>
            <p:spPr>
              <a:xfrm>
                <a:off x="4905375" y="3514725"/>
                <a:ext cx="114300" cy="266700"/>
              </a:xfrm>
              <a:custGeom>
                <a:rect b="b" l="l" r="r" t="t"/>
                <a:pathLst>
                  <a:path extrusionOk="0" h="266700" w="114300">
                    <a:moveTo>
                      <a:pt x="114300" y="0"/>
                    </a:moveTo>
                    <a:lnTo>
                      <a:pt x="0" y="0"/>
                    </a:lnTo>
                    <a:lnTo>
                      <a:pt x="0" y="266700"/>
                    </a:lnTo>
                    <a:lnTo>
                      <a:pt x="114300" y="266700"/>
                    </a:lnTo>
                    <a:lnTo>
                      <a:pt x="114300" y="0"/>
                    </a:lnTo>
                    <a:close/>
                  </a:path>
                </a:pathLst>
              </a:custGeom>
              <a:solidFill>
                <a:srgbClr val="1565C0"/>
              </a:solidFill>
              <a:ln>
                <a:noFill/>
              </a:ln>
            </p:spPr>
          </p:sp>
        </p:grpSp>
        <p:sp>
          <p:nvSpPr>
            <p:cNvPr id="930" name="Google Shape;930;p16"/>
            <p:cNvSpPr txBox="1"/>
            <p:nvPr/>
          </p:nvSpPr>
          <p:spPr>
            <a:xfrm>
              <a:off x="5366385" y="3366135"/>
              <a:ext cx="1879473"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split data into</a:t>
              </a:r>
              <a:endParaRPr/>
            </a:p>
          </p:txBody>
        </p:sp>
        <p:sp>
          <p:nvSpPr>
            <p:cNvPr id="931" name="Google Shape;931;p16"/>
            <p:cNvSpPr txBox="1"/>
            <p:nvPr/>
          </p:nvSpPr>
          <p:spPr>
            <a:xfrm>
              <a:off x="5366385" y="3575685"/>
              <a:ext cx="1739265"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training and testing</a:t>
              </a:r>
              <a:endParaRPr/>
            </a:p>
          </p:txBody>
        </p:sp>
        <p:sp>
          <p:nvSpPr>
            <p:cNvPr id="932" name="Google Shape;932;p16"/>
            <p:cNvSpPr txBox="1"/>
            <p:nvPr/>
          </p:nvSpPr>
          <p:spPr>
            <a:xfrm>
              <a:off x="5366385" y="3785235"/>
              <a:ext cx="416052"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sets</a:t>
              </a:r>
              <a:endParaRPr/>
            </a:p>
          </p:txBody>
        </p:sp>
      </p:grpSp>
      <p:grpSp>
        <p:nvGrpSpPr>
          <p:cNvPr id="933" name="Google Shape;933;p16"/>
          <p:cNvGrpSpPr/>
          <p:nvPr/>
        </p:nvGrpSpPr>
        <p:grpSpPr>
          <a:xfrm>
            <a:off x="8096250" y="2990850"/>
            <a:ext cx="3524250" cy="1314450"/>
            <a:chOff x="8096250" y="2990850"/>
            <a:chExt cx="3524250" cy="1314450"/>
          </a:xfrm>
        </p:grpSpPr>
        <p:sp>
          <p:nvSpPr>
            <p:cNvPr id="934" name="Google Shape;934;p16"/>
            <p:cNvSpPr/>
            <p:nvPr/>
          </p:nvSpPr>
          <p:spPr>
            <a:xfrm>
              <a:off x="8096250" y="299085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6"/>
            <p:cNvSpPr/>
            <p:nvPr/>
          </p:nvSpPr>
          <p:spPr>
            <a:xfrm>
              <a:off x="8096250" y="299085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6"/>
            <p:cNvSpPr/>
            <p:nvPr/>
          </p:nvSpPr>
          <p:spPr>
            <a:xfrm>
              <a:off x="8362950" y="336232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6"/>
            <p:cNvSpPr/>
            <p:nvPr/>
          </p:nvSpPr>
          <p:spPr>
            <a:xfrm>
              <a:off x="8496300" y="3495675"/>
              <a:ext cx="304800" cy="285750"/>
            </a:xfrm>
            <a:custGeom>
              <a:rect b="b" l="l" r="r" t="t"/>
              <a:pathLst>
                <a:path extrusionOk="0" h="285750" w="304800">
                  <a:moveTo>
                    <a:pt x="171450" y="0"/>
                  </a:moveTo>
                  <a:lnTo>
                    <a:pt x="171450" y="38100"/>
                  </a:lnTo>
                  <a:lnTo>
                    <a:pt x="247650" y="38100"/>
                  </a:lnTo>
                  <a:lnTo>
                    <a:pt x="304800" y="161925"/>
                  </a:lnTo>
                  <a:lnTo>
                    <a:pt x="247650" y="285750"/>
                  </a:lnTo>
                  <a:lnTo>
                    <a:pt x="57150" y="285750"/>
                  </a:lnTo>
                  <a:lnTo>
                    <a:pt x="0" y="161925"/>
                  </a:lnTo>
                  <a:lnTo>
                    <a:pt x="57150" y="38100"/>
                  </a:lnTo>
                  <a:lnTo>
                    <a:pt x="133350" y="38100"/>
                  </a:lnTo>
                  <a:lnTo>
                    <a:pt x="133350" y="0"/>
                  </a:lnTo>
                  <a:lnTo>
                    <a:pt x="171450" y="0"/>
                  </a:lnTo>
                  <a:close/>
                  <a:moveTo>
                    <a:pt x="87591" y="223617"/>
                  </a:moveTo>
                  <a:lnTo>
                    <a:pt x="152400" y="233587"/>
                  </a:lnTo>
                  <a:lnTo>
                    <a:pt x="217210" y="223617"/>
                  </a:lnTo>
                  <a:lnTo>
                    <a:pt x="211415" y="185959"/>
                  </a:lnTo>
                  <a:lnTo>
                    <a:pt x="152400" y="195038"/>
                  </a:lnTo>
                  <a:lnTo>
                    <a:pt x="93384" y="185959"/>
                  </a:lnTo>
                  <a:lnTo>
                    <a:pt x="87591" y="223617"/>
                  </a:lnTo>
                  <a:close/>
                  <a:moveTo>
                    <a:pt x="133350" y="128588"/>
                  </a:moveTo>
                  <a:cubicBezTo>
                    <a:pt x="133350" y="141739"/>
                    <a:pt x="122689" y="152400"/>
                    <a:pt x="109538" y="152400"/>
                  </a:cubicBezTo>
                  <a:cubicBezTo>
                    <a:pt x="96386" y="152400"/>
                    <a:pt x="85725" y="141739"/>
                    <a:pt x="85725" y="128588"/>
                  </a:cubicBezTo>
                  <a:cubicBezTo>
                    <a:pt x="85725" y="115436"/>
                    <a:pt x="96386" y="104775"/>
                    <a:pt x="109538" y="104775"/>
                  </a:cubicBezTo>
                  <a:cubicBezTo>
                    <a:pt x="122689" y="104775"/>
                    <a:pt x="133350" y="115436"/>
                    <a:pt x="133350" y="128588"/>
                  </a:cubicBezTo>
                  <a:close/>
                  <a:moveTo>
                    <a:pt x="195262" y="152400"/>
                  </a:moveTo>
                  <a:cubicBezTo>
                    <a:pt x="208415" y="152400"/>
                    <a:pt x="219075" y="141739"/>
                    <a:pt x="219075" y="128588"/>
                  </a:cubicBezTo>
                  <a:cubicBezTo>
                    <a:pt x="219075" y="115436"/>
                    <a:pt x="208415" y="104775"/>
                    <a:pt x="195262" y="104775"/>
                  </a:cubicBezTo>
                  <a:cubicBezTo>
                    <a:pt x="182111" y="104775"/>
                    <a:pt x="171450" y="115436"/>
                    <a:pt x="171450" y="128588"/>
                  </a:cubicBezTo>
                  <a:cubicBezTo>
                    <a:pt x="171450" y="141739"/>
                    <a:pt x="182111" y="152400"/>
                    <a:pt x="195262" y="15240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6"/>
            <p:cNvSpPr txBox="1"/>
            <p:nvPr/>
          </p:nvSpPr>
          <p:spPr>
            <a:xfrm>
              <a:off x="9128760" y="3470910"/>
              <a:ext cx="1511427"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different ML</a:t>
              </a:r>
              <a:endParaRPr/>
            </a:p>
          </p:txBody>
        </p:sp>
        <p:sp>
          <p:nvSpPr>
            <p:cNvPr id="939" name="Google Shape;939;p16"/>
            <p:cNvSpPr txBox="1"/>
            <p:nvPr/>
          </p:nvSpPr>
          <p:spPr>
            <a:xfrm>
              <a:off x="9128760" y="3680460"/>
              <a:ext cx="1073277"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models work</a:t>
              </a:r>
              <a:endParaRPr/>
            </a:p>
          </p:txBody>
        </p:sp>
      </p:grpSp>
      <p:grpSp>
        <p:nvGrpSpPr>
          <p:cNvPr id="940" name="Google Shape;940;p16"/>
          <p:cNvGrpSpPr/>
          <p:nvPr/>
        </p:nvGrpSpPr>
        <p:grpSpPr>
          <a:xfrm>
            <a:off x="571500" y="4610100"/>
            <a:ext cx="3524250" cy="1314450"/>
            <a:chOff x="571500" y="4610100"/>
            <a:chExt cx="3524250" cy="1314450"/>
          </a:xfrm>
        </p:grpSpPr>
        <p:sp>
          <p:nvSpPr>
            <p:cNvPr id="941" name="Google Shape;941;p16"/>
            <p:cNvSpPr/>
            <p:nvPr/>
          </p:nvSpPr>
          <p:spPr>
            <a:xfrm>
              <a:off x="571500" y="46101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6"/>
            <p:cNvSpPr/>
            <p:nvPr/>
          </p:nvSpPr>
          <p:spPr>
            <a:xfrm>
              <a:off x="571500" y="46101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6"/>
            <p:cNvSpPr/>
            <p:nvPr/>
          </p:nvSpPr>
          <p:spPr>
            <a:xfrm>
              <a:off x="838200" y="49815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4" name="Google Shape;944;p16"/>
            <p:cNvGrpSpPr/>
            <p:nvPr/>
          </p:nvGrpSpPr>
          <p:grpSpPr>
            <a:xfrm>
              <a:off x="990600" y="5133975"/>
              <a:ext cx="266700" cy="266700"/>
              <a:chOff x="990600" y="5133975"/>
              <a:chExt cx="266700" cy="266700"/>
            </a:xfrm>
          </p:grpSpPr>
          <p:sp>
            <p:nvSpPr>
              <p:cNvPr id="945" name="Google Shape;945;p16"/>
              <p:cNvSpPr/>
              <p:nvPr/>
            </p:nvSpPr>
            <p:spPr>
              <a:xfrm>
                <a:off x="990600" y="5133975"/>
                <a:ext cx="266700" cy="266700"/>
              </a:xfrm>
              <a:custGeom>
                <a:rect b="b" l="l" r="r" t="t"/>
                <a:pathLst>
                  <a:path extrusionOk="0" h="266700" w="266700">
                    <a:moveTo>
                      <a:pt x="0" y="0"/>
                    </a:moveTo>
                    <a:lnTo>
                      <a:pt x="0" y="266700"/>
                    </a:lnTo>
                    <a:lnTo>
                      <a:pt x="266700" y="266700"/>
                    </a:lnTo>
                    <a:lnTo>
                      <a:pt x="266700" y="228600"/>
                    </a:lnTo>
                    <a:lnTo>
                      <a:pt x="38100" y="228600"/>
                    </a:lnTo>
                    <a:lnTo>
                      <a:pt x="38100" y="0"/>
                    </a:lnTo>
                    <a:lnTo>
                      <a:pt x="0" y="0"/>
                    </a:lnTo>
                    <a:close/>
                  </a:path>
                </a:pathLst>
              </a:custGeom>
              <a:solidFill>
                <a:srgbClr val="1565C0"/>
              </a:solidFill>
              <a:ln>
                <a:noFill/>
              </a:ln>
            </p:spPr>
          </p:sp>
          <p:sp>
            <p:nvSpPr>
              <p:cNvPr id="946" name="Google Shape;946;p16"/>
              <p:cNvSpPr/>
              <p:nvPr/>
            </p:nvSpPr>
            <p:spPr>
              <a:xfrm>
                <a:off x="1066800" y="5172075"/>
                <a:ext cx="190500" cy="152400"/>
              </a:xfrm>
              <a:custGeom>
                <a:rect b="b" l="l" r="r" t="t"/>
                <a:pathLst>
                  <a:path extrusionOk="0" h="152400" w="190500">
                    <a:moveTo>
                      <a:pt x="0" y="76200"/>
                    </a:moveTo>
                    <a:lnTo>
                      <a:pt x="38100" y="38100"/>
                    </a:lnTo>
                    <a:lnTo>
                      <a:pt x="95250" y="95250"/>
                    </a:lnTo>
                    <a:lnTo>
                      <a:pt x="190500" y="0"/>
                    </a:lnTo>
                    <a:lnTo>
                      <a:pt x="190500" y="152400"/>
                    </a:lnTo>
                    <a:lnTo>
                      <a:pt x="0" y="152400"/>
                    </a:lnTo>
                    <a:lnTo>
                      <a:pt x="0" y="76200"/>
                    </a:lnTo>
                    <a:close/>
                  </a:path>
                </a:pathLst>
              </a:custGeom>
              <a:solidFill>
                <a:srgbClr val="1565C0"/>
              </a:solidFill>
              <a:ln>
                <a:noFill/>
              </a:ln>
            </p:spPr>
          </p:sp>
        </p:grpSp>
        <p:sp>
          <p:nvSpPr>
            <p:cNvPr id="947" name="Google Shape;947;p16"/>
            <p:cNvSpPr txBox="1"/>
            <p:nvPr/>
          </p:nvSpPr>
          <p:spPr>
            <a:xfrm>
              <a:off x="1604010" y="4985385"/>
              <a:ext cx="1379982"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evaluate</a:t>
              </a:r>
              <a:endParaRPr/>
            </a:p>
          </p:txBody>
        </p:sp>
        <p:sp>
          <p:nvSpPr>
            <p:cNvPr id="948" name="Google Shape;948;p16"/>
            <p:cNvSpPr txBox="1"/>
            <p:nvPr/>
          </p:nvSpPr>
          <p:spPr>
            <a:xfrm>
              <a:off x="1604010" y="5194935"/>
              <a:ext cx="2010918"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models using accuracy,</a:t>
              </a:r>
              <a:endParaRPr/>
            </a:p>
          </p:txBody>
        </p:sp>
        <p:sp>
          <p:nvSpPr>
            <p:cNvPr id="949" name="Google Shape;949;p16"/>
            <p:cNvSpPr txBox="1"/>
            <p:nvPr/>
          </p:nvSpPr>
          <p:spPr>
            <a:xfrm>
              <a:off x="1604010" y="5404485"/>
              <a:ext cx="1800606"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precision, recall &amp; F1</a:t>
              </a:r>
              <a:endParaRPr/>
            </a:p>
          </p:txBody>
        </p:sp>
      </p:grpSp>
      <p:grpSp>
        <p:nvGrpSpPr>
          <p:cNvPr id="950" name="Google Shape;950;p16"/>
          <p:cNvGrpSpPr/>
          <p:nvPr/>
        </p:nvGrpSpPr>
        <p:grpSpPr>
          <a:xfrm>
            <a:off x="4333875" y="4610100"/>
            <a:ext cx="3524250" cy="1314450"/>
            <a:chOff x="4333875" y="4610100"/>
            <a:chExt cx="3524250" cy="1314450"/>
          </a:xfrm>
        </p:grpSpPr>
        <p:sp>
          <p:nvSpPr>
            <p:cNvPr id="951" name="Google Shape;951;p16"/>
            <p:cNvSpPr/>
            <p:nvPr/>
          </p:nvSpPr>
          <p:spPr>
            <a:xfrm>
              <a:off x="4333875" y="46101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6"/>
            <p:cNvSpPr/>
            <p:nvPr/>
          </p:nvSpPr>
          <p:spPr>
            <a:xfrm>
              <a:off x="4333875" y="46101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6"/>
            <p:cNvSpPr/>
            <p:nvPr/>
          </p:nvSpPr>
          <p:spPr>
            <a:xfrm>
              <a:off x="4600575" y="49815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6"/>
            <p:cNvSpPr/>
            <p:nvPr/>
          </p:nvSpPr>
          <p:spPr>
            <a:xfrm>
              <a:off x="4733925" y="5133975"/>
              <a:ext cx="304800" cy="247650"/>
            </a:xfrm>
            <a:custGeom>
              <a:rect b="b" l="l" r="r" t="t"/>
              <a:pathLst>
                <a:path extrusionOk="0" h="247650" w="304800">
                  <a:moveTo>
                    <a:pt x="33426" y="247650"/>
                  </a:moveTo>
                  <a:cubicBezTo>
                    <a:pt x="12510" y="221559"/>
                    <a:pt x="0" y="188441"/>
                    <a:pt x="0" y="152400"/>
                  </a:cubicBezTo>
                  <a:cubicBezTo>
                    <a:pt x="0" y="68232"/>
                    <a:pt x="68232" y="0"/>
                    <a:pt x="152400" y="0"/>
                  </a:cubicBezTo>
                  <a:cubicBezTo>
                    <a:pt x="236569" y="0"/>
                    <a:pt x="304800" y="68232"/>
                    <a:pt x="304800" y="152400"/>
                  </a:cubicBezTo>
                  <a:cubicBezTo>
                    <a:pt x="304800" y="188441"/>
                    <a:pt x="292290" y="221559"/>
                    <a:pt x="271375" y="247650"/>
                  </a:cubicBezTo>
                  <a:lnTo>
                    <a:pt x="175293" y="247650"/>
                  </a:lnTo>
                  <a:lnTo>
                    <a:pt x="242588" y="174858"/>
                  </a:lnTo>
                  <a:lnTo>
                    <a:pt x="214612" y="148993"/>
                  </a:lnTo>
                  <a:lnTo>
                    <a:pt x="123406" y="247650"/>
                  </a:lnTo>
                  <a:lnTo>
                    <a:pt x="33426" y="247650"/>
                  </a:lnTo>
                  <a:close/>
                  <a:moveTo>
                    <a:pt x="133350" y="57150"/>
                  </a:moveTo>
                  <a:cubicBezTo>
                    <a:pt x="133350" y="67671"/>
                    <a:pt x="141879" y="76200"/>
                    <a:pt x="152400" y="76200"/>
                  </a:cubicBezTo>
                  <a:cubicBezTo>
                    <a:pt x="162921" y="76200"/>
                    <a:pt x="171450" y="67671"/>
                    <a:pt x="171450" y="57150"/>
                  </a:cubicBezTo>
                  <a:cubicBezTo>
                    <a:pt x="171450" y="46629"/>
                    <a:pt x="162921" y="38100"/>
                    <a:pt x="152400" y="38100"/>
                  </a:cubicBezTo>
                  <a:cubicBezTo>
                    <a:pt x="141879" y="38100"/>
                    <a:pt x="133350" y="46629"/>
                    <a:pt x="133350" y="57150"/>
                  </a:cubicBezTo>
                  <a:close/>
                  <a:moveTo>
                    <a:pt x="219075" y="104775"/>
                  </a:moveTo>
                  <a:cubicBezTo>
                    <a:pt x="208554" y="104775"/>
                    <a:pt x="200025" y="96246"/>
                    <a:pt x="200025" y="85725"/>
                  </a:cubicBezTo>
                  <a:cubicBezTo>
                    <a:pt x="200025" y="75204"/>
                    <a:pt x="208554" y="66675"/>
                    <a:pt x="219075" y="66675"/>
                  </a:cubicBezTo>
                  <a:cubicBezTo>
                    <a:pt x="229596" y="66675"/>
                    <a:pt x="238125" y="75204"/>
                    <a:pt x="238125" y="85725"/>
                  </a:cubicBezTo>
                  <a:cubicBezTo>
                    <a:pt x="238125" y="96246"/>
                    <a:pt x="229596" y="104775"/>
                    <a:pt x="219075" y="104775"/>
                  </a:cubicBezTo>
                  <a:close/>
                  <a:moveTo>
                    <a:pt x="38100" y="152400"/>
                  </a:moveTo>
                  <a:cubicBezTo>
                    <a:pt x="38100" y="162921"/>
                    <a:pt x="46629" y="171450"/>
                    <a:pt x="57150" y="171450"/>
                  </a:cubicBezTo>
                  <a:cubicBezTo>
                    <a:pt x="67671" y="171450"/>
                    <a:pt x="76200" y="162921"/>
                    <a:pt x="76200" y="152400"/>
                  </a:cubicBezTo>
                  <a:cubicBezTo>
                    <a:pt x="76200" y="141879"/>
                    <a:pt x="67671" y="133350"/>
                    <a:pt x="57150" y="133350"/>
                  </a:cubicBezTo>
                  <a:cubicBezTo>
                    <a:pt x="46629" y="133350"/>
                    <a:pt x="38100" y="141879"/>
                    <a:pt x="38100" y="152400"/>
                  </a:cubicBezTo>
                  <a:close/>
                  <a:moveTo>
                    <a:pt x="85725" y="104775"/>
                  </a:moveTo>
                  <a:cubicBezTo>
                    <a:pt x="75204" y="104775"/>
                    <a:pt x="66675" y="96246"/>
                    <a:pt x="66675" y="85725"/>
                  </a:cubicBezTo>
                  <a:cubicBezTo>
                    <a:pt x="66675" y="75204"/>
                    <a:pt x="75204" y="66675"/>
                    <a:pt x="85725" y="66675"/>
                  </a:cubicBezTo>
                  <a:cubicBezTo>
                    <a:pt x="96246" y="66675"/>
                    <a:pt x="104775" y="75204"/>
                    <a:pt x="104775" y="85725"/>
                  </a:cubicBezTo>
                  <a:cubicBezTo>
                    <a:pt x="104775" y="96246"/>
                    <a:pt x="96246" y="104775"/>
                    <a:pt x="85725" y="104775"/>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6"/>
            <p:cNvSpPr txBox="1"/>
            <p:nvPr/>
          </p:nvSpPr>
          <p:spPr>
            <a:xfrm>
              <a:off x="5366385" y="4985385"/>
              <a:ext cx="1423797"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to generate</a:t>
              </a:r>
              <a:endParaRPr/>
            </a:p>
          </p:txBody>
        </p:sp>
        <p:sp>
          <p:nvSpPr>
            <p:cNvPr id="956" name="Google Shape;956;p16"/>
            <p:cNvSpPr txBox="1"/>
            <p:nvPr/>
          </p:nvSpPr>
          <p:spPr>
            <a:xfrm>
              <a:off x="5366385" y="5194935"/>
              <a:ext cx="1625346"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predictions from a</a:t>
              </a:r>
              <a:endParaRPr/>
            </a:p>
          </p:txBody>
        </p:sp>
        <p:sp>
          <p:nvSpPr>
            <p:cNvPr id="957" name="Google Shape;957;p16"/>
            <p:cNvSpPr txBox="1"/>
            <p:nvPr/>
          </p:nvSpPr>
          <p:spPr>
            <a:xfrm>
              <a:off x="5366385" y="5404485"/>
              <a:ext cx="1187196"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trained model</a:t>
              </a:r>
              <a:endParaRPr/>
            </a:p>
          </p:txBody>
        </p:sp>
      </p:grpSp>
      <p:grpSp>
        <p:nvGrpSpPr>
          <p:cNvPr id="958" name="Google Shape;958;p16"/>
          <p:cNvGrpSpPr/>
          <p:nvPr/>
        </p:nvGrpSpPr>
        <p:grpSpPr>
          <a:xfrm>
            <a:off x="8096250" y="4610100"/>
            <a:ext cx="3524250" cy="1314450"/>
            <a:chOff x="8096250" y="4610100"/>
            <a:chExt cx="3524250" cy="1314450"/>
          </a:xfrm>
        </p:grpSpPr>
        <p:sp>
          <p:nvSpPr>
            <p:cNvPr id="959" name="Google Shape;959;p16"/>
            <p:cNvSpPr/>
            <p:nvPr/>
          </p:nvSpPr>
          <p:spPr>
            <a:xfrm>
              <a:off x="8096250" y="4610100"/>
              <a:ext cx="3524250" cy="1314450"/>
            </a:xfrm>
            <a:custGeom>
              <a:rect b="b" l="l" r="r" t="t"/>
              <a:pathLst>
                <a:path extrusionOk="0" h="1314450" w="3524250">
                  <a:moveTo>
                    <a:pt x="95250" y="0"/>
                  </a:moveTo>
                  <a:lnTo>
                    <a:pt x="3429000" y="0"/>
                  </a:lnTo>
                  <a:cubicBezTo>
                    <a:pt x="3481605" y="0"/>
                    <a:pt x="3524250" y="42645"/>
                    <a:pt x="3524250" y="95250"/>
                  </a:cubicBezTo>
                  <a:lnTo>
                    <a:pt x="3524250" y="1219200"/>
                  </a:lnTo>
                  <a:cubicBezTo>
                    <a:pt x="3524250" y="1271805"/>
                    <a:pt x="3481605" y="1314450"/>
                    <a:pt x="3429000" y="1314450"/>
                  </a:cubicBezTo>
                  <a:lnTo>
                    <a:pt x="95250" y="1314450"/>
                  </a:lnTo>
                  <a:cubicBezTo>
                    <a:pt x="42645" y="1314450"/>
                    <a:pt x="0" y="1271805"/>
                    <a:pt x="0" y="1219200"/>
                  </a:cubicBezTo>
                  <a:lnTo>
                    <a:pt x="0" y="95250"/>
                  </a:lnTo>
                  <a:cubicBezTo>
                    <a:pt x="0" y="42645"/>
                    <a:pt x="42645" y="0"/>
                    <a:pt x="95250" y="0"/>
                  </a:cubicBezTo>
                  <a:close/>
                </a:path>
              </a:pathLst>
            </a:custGeom>
            <a:solidFill>
              <a:srgbClr val="FFFFFF"/>
            </a:solidFill>
            <a:ln cap="flat" cmpd="sng" w="9525">
              <a:solidFill>
                <a:srgbClr val="E3E8EF"/>
              </a:solidFill>
              <a:prstDash val="solid"/>
              <a:round/>
              <a:headEnd len="sm" w="sm" type="none"/>
              <a:tailEnd len="sm" w="sm" type="none"/>
            </a:ln>
            <a:effectLst>
              <a:outerShdw blurRad="152400" rotWithShape="0" algn="ctr" dir="5400000" dist="38100">
                <a:srgbClr val="000000">
                  <a:alpha val="745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6"/>
            <p:cNvSpPr/>
            <p:nvPr/>
          </p:nvSpPr>
          <p:spPr>
            <a:xfrm>
              <a:off x="8096250" y="4610100"/>
              <a:ext cx="38100" cy="1314450"/>
            </a:xfrm>
            <a:custGeom>
              <a:rect b="b" l="l" r="r" t="t"/>
              <a:pathLst>
                <a:path extrusionOk="0" h="1314450" w="38100">
                  <a:moveTo>
                    <a:pt x="19050" y="0"/>
                  </a:moveTo>
                  <a:lnTo>
                    <a:pt x="19050" y="0"/>
                  </a:lnTo>
                  <a:cubicBezTo>
                    <a:pt x="29571" y="0"/>
                    <a:pt x="38100" y="8529"/>
                    <a:pt x="38100" y="19050"/>
                  </a:cubicBezTo>
                  <a:lnTo>
                    <a:pt x="38100" y="1295400"/>
                  </a:lnTo>
                  <a:cubicBezTo>
                    <a:pt x="38100" y="1305921"/>
                    <a:pt x="29571" y="1314450"/>
                    <a:pt x="19050" y="1314450"/>
                  </a:cubicBezTo>
                  <a:lnTo>
                    <a:pt x="19050" y="1314450"/>
                  </a:lnTo>
                  <a:cubicBezTo>
                    <a:pt x="8529" y="1314450"/>
                    <a:pt x="0" y="1305921"/>
                    <a:pt x="0" y="129540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6"/>
            <p:cNvSpPr/>
            <p:nvPr/>
          </p:nvSpPr>
          <p:spPr>
            <a:xfrm>
              <a:off x="8362950" y="4981575"/>
              <a:ext cx="571500" cy="571500"/>
            </a:xfrm>
            <a:prstGeom prst="ellipse">
              <a:avLst/>
            </a:prstGeom>
            <a:solidFill>
              <a:srgbClr val="1565C0">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2" name="Google Shape;962;p16"/>
            <p:cNvGrpSpPr/>
            <p:nvPr/>
          </p:nvGrpSpPr>
          <p:grpSpPr>
            <a:xfrm>
              <a:off x="8534400" y="5114925"/>
              <a:ext cx="228600" cy="304800"/>
              <a:chOff x="8534400" y="5114925"/>
              <a:chExt cx="228600" cy="304800"/>
            </a:xfrm>
          </p:grpSpPr>
          <p:sp>
            <p:nvSpPr>
              <p:cNvPr id="963" name="Google Shape;963;p16"/>
              <p:cNvSpPr/>
              <p:nvPr/>
            </p:nvSpPr>
            <p:spPr>
              <a:xfrm>
                <a:off x="8610600" y="5114925"/>
                <a:ext cx="76200" cy="57150"/>
              </a:xfrm>
              <a:custGeom>
                <a:rect b="b" l="l" r="r" t="t"/>
                <a:pathLst>
                  <a:path extrusionOk="0" h="57150" w="76200">
                    <a:moveTo>
                      <a:pt x="76200" y="0"/>
                    </a:moveTo>
                    <a:lnTo>
                      <a:pt x="0" y="0"/>
                    </a:lnTo>
                    <a:lnTo>
                      <a:pt x="0" y="57150"/>
                    </a:lnTo>
                    <a:lnTo>
                      <a:pt x="76200" y="57150"/>
                    </a:lnTo>
                    <a:lnTo>
                      <a:pt x="76200" y="0"/>
                    </a:lnTo>
                    <a:close/>
                  </a:path>
                </a:pathLst>
              </a:custGeom>
              <a:solidFill>
                <a:srgbClr val="1565C0"/>
              </a:solidFill>
              <a:ln>
                <a:noFill/>
              </a:ln>
            </p:spPr>
          </p:sp>
          <p:sp>
            <p:nvSpPr>
              <p:cNvPr id="964" name="Google Shape;964;p16"/>
              <p:cNvSpPr/>
              <p:nvPr/>
            </p:nvSpPr>
            <p:spPr>
              <a:xfrm>
                <a:off x="8534400" y="5153025"/>
                <a:ext cx="228600" cy="266700"/>
              </a:xfrm>
              <a:custGeom>
                <a:rect b="b" l="l" r="r" t="t"/>
                <a:pathLst>
                  <a:path extrusionOk="0" h="266700" w="228600">
                    <a:moveTo>
                      <a:pt x="38100" y="0"/>
                    </a:moveTo>
                    <a:lnTo>
                      <a:pt x="0" y="0"/>
                    </a:lnTo>
                    <a:lnTo>
                      <a:pt x="0" y="266700"/>
                    </a:lnTo>
                    <a:lnTo>
                      <a:pt x="228600" y="266700"/>
                    </a:lnTo>
                    <a:lnTo>
                      <a:pt x="228600" y="0"/>
                    </a:lnTo>
                    <a:lnTo>
                      <a:pt x="190500" y="0"/>
                    </a:lnTo>
                    <a:lnTo>
                      <a:pt x="190500" y="57150"/>
                    </a:lnTo>
                    <a:lnTo>
                      <a:pt x="38100" y="57150"/>
                    </a:lnTo>
                    <a:lnTo>
                      <a:pt x="38100" y="0"/>
                    </a:lnTo>
                    <a:close/>
                  </a:path>
                </a:pathLst>
              </a:custGeom>
              <a:solidFill>
                <a:srgbClr val="1565C0"/>
              </a:solidFill>
              <a:ln>
                <a:noFill/>
              </a:ln>
            </p:spPr>
          </p:sp>
        </p:grpSp>
        <p:sp>
          <p:nvSpPr>
            <p:cNvPr id="965" name="Google Shape;965;p16"/>
            <p:cNvSpPr txBox="1"/>
            <p:nvPr/>
          </p:nvSpPr>
          <p:spPr>
            <a:xfrm>
              <a:off x="9128760" y="4985385"/>
              <a:ext cx="1853184"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How ML output can be</a:t>
              </a:r>
              <a:endParaRPr/>
            </a:p>
          </p:txBody>
        </p:sp>
        <p:sp>
          <p:nvSpPr>
            <p:cNvPr id="966" name="Google Shape;966;p16"/>
            <p:cNvSpPr txBox="1"/>
            <p:nvPr/>
          </p:nvSpPr>
          <p:spPr>
            <a:xfrm>
              <a:off x="9128760" y="5194935"/>
              <a:ext cx="2028444"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converted into a useful</a:t>
              </a:r>
              <a:endParaRPr/>
            </a:p>
          </p:txBody>
        </p:sp>
        <p:sp>
          <p:nvSpPr>
            <p:cNvPr id="967" name="Google Shape;967;p16"/>
            <p:cNvSpPr txBox="1"/>
            <p:nvPr/>
          </p:nvSpPr>
          <p:spPr>
            <a:xfrm>
              <a:off x="9128760" y="5404485"/>
              <a:ext cx="1388745" cy="243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200" u="none" cap="none" strike="noStrike">
                  <a:solidFill>
                    <a:srgbClr val="1F2933"/>
                  </a:solidFill>
                  <a:latin typeface="Quattrocento Sans"/>
                  <a:ea typeface="Quattrocento Sans"/>
                  <a:cs typeface="Quattrocento Sans"/>
                  <a:sym typeface="Quattrocento Sans"/>
                </a:rPr>
                <a:t>business report</a:t>
              </a:r>
              <a:endParaRPr/>
            </a:p>
          </p:txBody>
        </p:sp>
      </p:grpSp>
      <p:grpSp>
        <p:nvGrpSpPr>
          <p:cNvPr id="968" name="Google Shape;968;p16"/>
          <p:cNvGrpSpPr/>
          <p:nvPr/>
        </p:nvGrpSpPr>
        <p:grpSpPr>
          <a:xfrm>
            <a:off x="561022" y="6381750"/>
            <a:ext cx="11069955" cy="345281"/>
            <a:chOff x="561022" y="6381750"/>
            <a:chExt cx="11069955" cy="345281"/>
          </a:xfrm>
        </p:grpSpPr>
        <p:sp>
          <p:nvSpPr>
            <p:cNvPr id="969" name="Google Shape;969;p16"/>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970" name="Google Shape;970;p16"/>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971" name="Google Shape;971;p16"/>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16 / 18</a:t>
              </a:r>
              <a:endParaRPr/>
            </a:p>
          </p:txBody>
        </p:sp>
      </p:gr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7"/>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7"/>
          <p:cNvSpPr/>
          <p:nvPr/>
        </p:nvSpPr>
        <p:spPr>
          <a:xfrm>
            <a:off x="0" y="0"/>
            <a:ext cx="12192000" cy="6858000"/>
          </a:xfrm>
          <a:prstGeom prst="rect">
            <a:avLst/>
          </a:prstGeom>
          <a:gradFill>
            <a:gsLst>
              <a:gs pos="0">
                <a:srgbClr val="1565C0">
                  <a:alpha val="5098"/>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8" name="Google Shape;978;p17"/>
          <p:cNvGrpSpPr/>
          <p:nvPr/>
        </p:nvGrpSpPr>
        <p:grpSpPr>
          <a:xfrm>
            <a:off x="541020" y="426720"/>
            <a:ext cx="2443210" cy="697230"/>
            <a:chOff x="541020" y="426720"/>
            <a:chExt cx="2443210" cy="697230"/>
          </a:xfrm>
        </p:grpSpPr>
        <p:sp>
          <p:nvSpPr>
            <p:cNvPr id="979" name="Google Shape;979;p17"/>
            <p:cNvSpPr txBox="1"/>
            <p:nvPr/>
          </p:nvSpPr>
          <p:spPr>
            <a:xfrm>
              <a:off x="541020" y="426720"/>
              <a:ext cx="2398052" cy="48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2400" u="none" cap="none" strike="noStrike">
                  <a:solidFill>
                    <a:srgbClr val="1F2933"/>
                  </a:solidFill>
                  <a:latin typeface="Quattrocento Sans"/>
                  <a:ea typeface="Quattrocento Sans"/>
                  <a:cs typeface="Quattrocento Sans"/>
                  <a:sym typeface="Quattrocento Sans"/>
                </a:rPr>
                <a:t>Future Scope</a:t>
              </a:r>
              <a:endParaRPr/>
            </a:p>
          </p:txBody>
        </p:sp>
        <p:sp>
          <p:nvSpPr>
            <p:cNvPr id="980" name="Google Shape;980;p17"/>
            <p:cNvSpPr txBox="1"/>
            <p:nvPr/>
          </p:nvSpPr>
          <p:spPr>
            <a:xfrm>
              <a:off x="554355" y="806768"/>
              <a:ext cx="242987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1350" u="none" cap="none" strike="noStrike">
                  <a:solidFill>
                    <a:srgbClr val="52606D"/>
                  </a:solidFill>
                  <a:latin typeface="Quattrocento Sans"/>
                  <a:ea typeface="Quattrocento Sans"/>
                  <a:cs typeface="Quattrocento Sans"/>
                  <a:sym typeface="Quattrocento Sans"/>
                </a:rPr>
                <a:t>What can be added later?</a:t>
              </a:r>
              <a:endParaRPr/>
            </a:p>
          </p:txBody>
        </p:sp>
        <p:sp>
          <p:nvSpPr>
            <p:cNvPr id="981" name="Google Shape;981;p17"/>
            <p:cNvSpPr/>
            <p:nvPr/>
          </p:nvSpPr>
          <p:spPr>
            <a:xfrm>
              <a:off x="571500" y="1085850"/>
              <a:ext cx="609600" cy="38100"/>
            </a:xfrm>
            <a:custGeom>
              <a:rect b="b" l="l" r="r" t="t"/>
              <a:pathLst>
                <a:path extrusionOk="0" h="38100" w="609600">
                  <a:moveTo>
                    <a:pt x="19050" y="0"/>
                  </a:moveTo>
                  <a:lnTo>
                    <a:pt x="590550" y="0"/>
                  </a:lnTo>
                  <a:cubicBezTo>
                    <a:pt x="601071" y="0"/>
                    <a:pt x="609600" y="8529"/>
                    <a:pt x="609600" y="19050"/>
                  </a:cubicBezTo>
                  <a:lnTo>
                    <a:pt x="609600" y="19050"/>
                  </a:lnTo>
                  <a:cubicBezTo>
                    <a:pt x="609600" y="29571"/>
                    <a:pt x="601071" y="38100"/>
                    <a:pt x="590550" y="38100"/>
                  </a:cubicBezTo>
                  <a:lnTo>
                    <a:pt x="19050" y="38100"/>
                  </a:lnTo>
                  <a:cubicBezTo>
                    <a:pt x="8529" y="38100"/>
                    <a:pt x="0" y="29571"/>
                    <a:pt x="0" y="190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2" name="Google Shape;982;p17"/>
          <p:cNvSpPr/>
          <p:nvPr/>
        </p:nvSpPr>
        <p:spPr>
          <a:xfrm>
            <a:off x="1428750" y="1266825"/>
            <a:ext cx="9525" cy="4800600"/>
          </a:xfrm>
          <a:custGeom>
            <a:rect b="b" l="l" r="r" t="t"/>
            <a:pathLst>
              <a:path extrusionOk="0" h="4800600" w="9525">
                <a:moveTo>
                  <a:pt x="0" y="0"/>
                </a:moveTo>
                <a:lnTo>
                  <a:pt x="0" y="4800600"/>
                </a:lnTo>
              </a:path>
            </a:pathLst>
          </a:custGeom>
          <a:noFill/>
          <a:ln cap="rnd" cmpd="sng" w="28575">
            <a:solidFill>
              <a:srgbClr val="E3E8EF"/>
            </a:solidFill>
            <a:prstDash val="solid"/>
            <a:round/>
            <a:headEnd len="sm" w="sm" type="none"/>
            <a:tailEnd len="sm" w="sm" type="none"/>
          </a:ln>
        </p:spPr>
      </p:sp>
      <p:grpSp>
        <p:nvGrpSpPr>
          <p:cNvPr id="983" name="Google Shape;983;p17"/>
          <p:cNvGrpSpPr/>
          <p:nvPr/>
        </p:nvGrpSpPr>
        <p:grpSpPr>
          <a:xfrm>
            <a:off x="1238250" y="1266825"/>
            <a:ext cx="10191750" cy="609600"/>
            <a:chOff x="1238250" y="1266825"/>
            <a:chExt cx="10191750" cy="609600"/>
          </a:xfrm>
        </p:grpSpPr>
        <p:sp>
          <p:nvSpPr>
            <p:cNvPr id="984" name="Google Shape;984;p17"/>
            <p:cNvSpPr/>
            <p:nvPr/>
          </p:nvSpPr>
          <p:spPr>
            <a:xfrm>
              <a:off x="1238250" y="1381125"/>
              <a:ext cx="381000" cy="381000"/>
            </a:xfrm>
            <a:prstGeom prst="ellipse">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7"/>
            <p:cNvSpPr txBox="1"/>
            <p:nvPr/>
          </p:nvSpPr>
          <p:spPr>
            <a:xfrm>
              <a:off x="1341141" y="1507331"/>
              <a:ext cx="17521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01</a:t>
              </a:r>
              <a:endParaRPr/>
            </a:p>
          </p:txBody>
        </p:sp>
        <p:sp>
          <p:nvSpPr>
            <p:cNvPr id="986" name="Google Shape;986;p17"/>
            <p:cNvSpPr/>
            <p:nvPr/>
          </p:nvSpPr>
          <p:spPr>
            <a:xfrm>
              <a:off x="2000250" y="12668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7"/>
            <p:cNvSpPr/>
            <p:nvPr/>
          </p:nvSpPr>
          <p:spPr>
            <a:xfrm>
              <a:off x="2000250" y="12668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8" name="Google Shape;988;p17"/>
            <p:cNvGrpSpPr/>
            <p:nvPr/>
          </p:nvGrpSpPr>
          <p:grpSpPr>
            <a:xfrm>
              <a:off x="2286000" y="1444228"/>
              <a:ext cx="247650" cy="216694"/>
              <a:chOff x="2286000" y="1444228"/>
              <a:chExt cx="247650" cy="216694"/>
            </a:xfrm>
          </p:grpSpPr>
          <p:sp>
            <p:nvSpPr>
              <p:cNvPr id="989" name="Google Shape;989;p17"/>
              <p:cNvSpPr/>
              <p:nvPr/>
            </p:nvSpPr>
            <p:spPr>
              <a:xfrm>
                <a:off x="2471738" y="1444228"/>
                <a:ext cx="61912" cy="216694"/>
              </a:xfrm>
              <a:custGeom>
                <a:rect b="b" l="l" r="r" t="t"/>
                <a:pathLst>
                  <a:path extrusionOk="0" h="216694" w="61912">
                    <a:moveTo>
                      <a:pt x="61912" y="0"/>
                    </a:moveTo>
                    <a:lnTo>
                      <a:pt x="0" y="0"/>
                    </a:lnTo>
                    <a:lnTo>
                      <a:pt x="0" y="216694"/>
                    </a:lnTo>
                    <a:lnTo>
                      <a:pt x="61912" y="216694"/>
                    </a:lnTo>
                    <a:lnTo>
                      <a:pt x="61912" y="0"/>
                    </a:lnTo>
                    <a:close/>
                  </a:path>
                </a:pathLst>
              </a:custGeom>
              <a:solidFill>
                <a:srgbClr val="1565C0"/>
              </a:solidFill>
              <a:ln>
                <a:noFill/>
              </a:ln>
            </p:spPr>
          </p:sp>
          <p:sp>
            <p:nvSpPr>
              <p:cNvPr id="990" name="Google Shape;990;p17"/>
              <p:cNvSpPr/>
              <p:nvPr/>
            </p:nvSpPr>
            <p:spPr>
              <a:xfrm>
                <a:off x="2378869" y="1506141"/>
                <a:ext cx="61912" cy="154781"/>
              </a:xfrm>
              <a:custGeom>
                <a:rect b="b" l="l" r="r" t="t"/>
                <a:pathLst>
                  <a:path extrusionOk="0" h="154781" w="61912">
                    <a:moveTo>
                      <a:pt x="0" y="0"/>
                    </a:moveTo>
                    <a:lnTo>
                      <a:pt x="61912" y="0"/>
                    </a:lnTo>
                    <a:lnTo>
                      <a:pt x="61912" y="154781"/>
                    </a:lnTo>
                    <a:lnTo>
                      <a:pt x="0" y="154781"/>
                    </a:lnTo>
                    <a:lnTo>
                      <a:pt x="0" y="0"/>
                    </a:lnTo>
                    <a:close/>
                  </a:path>
                </a:pathLst>
              </a:custGeom>
              <a:solidFill>
                <a:srgbClr val="1565C0"/>
              </a:solidFill>
              <a:ln>
                <a:noFill/>
              </a:ln>
            </p:spPr>
          </p:sp>
          <p:sp>
            <p:nvSpPr>
              <p:cNvPr id="991" name="Google Shape;991;p17"/>
              <p:cNvSpPr/>
              <p:nvPr/>
            </p:nvSpPr>
            <p:spPr>
              <a:xfrm>
                <a:off x="2286000" y="1568053"/>
                <a:ext cx="61912" cy="92869"/>
              </a:xfrm>
              <a:custGeom>
                <a:rect b="b" l="l" r="r" t="t"/>
                <a:pathLst>
                  <a:path extrusionOk="0" h="92869" w="61912">
                    <a:moveTo>
                      <a:pt x="0" y="0"/>
                    </a:moveTo>
                    <a:lnTo>
                      <a:pt x="61912" y="0"/>
                    </a:lnTo>
                    <a:lnTo>
                      <a:pt x="61912" y="92869"/>
                    </a:lnTo>
                    <a:lnTo>
                      <a:pt x="0" y="92869"/>
                    </a:lnTo>
                    <a:lnTo>
                      <a:pt x="0" y="0"/>
                    </a:lnTo>
                    <a:close/>
                  </a:path>
                </a:pathLst>
              </a:custGeom>
              <a:solidFill>
                <a:srgbClr val="1565C0"/>
              </a:solidFill>
              <a:ln>
                <a:noFill/>
              </a:ln>
            </p:spPr>
          </p:sp>
        </p:grpSp>
        <p:sp>
          <p:nvSpPr>
            <p:cNvPr id="992" name="Google Shape;992;p17"/>
            <p:cNvSpPr txBox="1"/>
            <p:nvPr/>
          </p:nvSpPr>
          <p:spPr>
            <a:xfrm>
              <a:off x="2764155" y="1530668"/>
              <a:ext cx="276703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Simple Streamlit dashboard</a:t>
              </a:r>
              <a:endParaRPr/>
            </a:p>
          </p:txBody>
        </p:sp>
      </p:grpSp>
      <p:grpSp>
        <p:nvGrpSpPr>
          <p:cNvPr id="993" name="Google Shape;993;p17"/>
          <p:cNvGrpSpPr/>
          <p:nvPr/>
        </p:nvGrpSpPr>
        <p:grpSpPr>
          <a:xfrm>
            <a:off x="1238250" y="2105025"/>
            <a:ext cx="10191750" cy="609600"/>
            <a:chOff x="1238250" y="2105025"/>
            <a:chExt cx="10191750" cy="609600"/>
          </a:xfrm>
        </p:grpSpPr>
        <p:sp>
          <p:nvSpPr>
            <p:cNvPr id="994" name="Google Shape;994;p17"/>
            <p:cNvSpPr/>
            <p:nvPr/>
          </p:nvSpPr>
          <p:spPr>
            <a:xfrm>
              <a:off x="1238250" y="2219325"/>
              <a:ext cx="381000" cy="381000"/>
            </a:xfrm>
            <a:prstGeom prst="ellipse">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7"/>
            <p:cNvSpPr txBox="1"/>
            <p:nvPr/>
          </p:nvSpPr>
          <p:spPr>
            <a:xfrm>
              <a:off x="1319576" y="2345531"/>
              <a:ext cx="21834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02</a:t>
              </a:r>
              <a:endParaRPr/>
            </a:p>
          </p:txBody>
        </p:sp>
        <p:sp>
          <p:nvSpPr>
            <p:cNvPr id="996" name="Google Shape;996;p17"/>
            <p:cNvSpPr/>
            <p:nvPr/>
          </p:nvSpPr>
          <p:spPr>
            <a:xfrm>
              <a:off x="2000250" y="21050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7"/>
            <p:cNvSpPr/>
            <p:nvPr/>
          </p:nvSpPr>
          <p:spPr>
            <a:xfrm>
              <a:off x="2000250" y="21050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8" name="Google Shape;998;p17"/>
            <p:cNvGrpSpPr/>
            <p:nvPr/>
          </p:nvGrpSpPr>
          <p:grpSpPr>
            <a:xfrm>
              <a:off x="2286000" y="2282428"/>
              <a:ext cx="247650" cy="216694"/>
              <a:chOff x="2286000" y="2282428"/>
              <a:chExt cx="247650" cy="216694"/>
            </a:xfrm>
          </p:grpSpPr>
          <p:sp>
            <p:nvSpPr>
              <p:cNvPr id="999" name="Google Shape;999;p17"/>
              <p:cNvSpPr/>
              <p:nvPr/>
            </p:nvSpPr>
            <p:spPr>
              <a:xfrm>
                <a:off x="2332434" y="2282428"/>
                <a:ext cx="77391" cy="77391"/>
              </a:xfrm>
              <a:custGeom>
                <a:rect b="b" l="l" r="r" t="t"/>
                <a:pathLst>
                  <a:path extrusionOk="0" h="77391" w="77391">
                    <a:moveTo>
                      <a:pt x="77391" y="38695"/>
                    </a:moveTo>
                    <a:cubicBezTo>
                      <a:pt x="77391" y="60066"/>
                      <a:pt x="60066" y="77391"/>
                      <a:pt x="38695" y="77391"/>
                    </a:cubicBezTo>
                    <a:cubicBezTo>
                      <a:pt x="17325" y="77391"/>
                      <a:pt x="0" y="60066"/>
                      <a:pt x="0" y="38695"/>
                    </a:cubicBezTo>
                    <a:cubicBezTo>
                      <a:pt x="0" y="17325"/>
                      <a:pt x="17325" y="0"/>
                      <a:pt x="38695" y="0"/>
                    </a:cubicBezTo>
                    <a:cubicBezTo>
                      <a:pt x="60066" y="0"/>
                      <a:pt x="77391" y="17325"/>
                      <a:pt x="77391" y="38695"/>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7"/>
              <p:cNvSpPr/>
              <p:nvPr/>
            </p:nvSpPr>
            <p:spPr>
              <a:xfrm>
                <a:off x="2286000" y="2390775"/>
                <a:ext cx="123825" cy="108347"/>
              </a:xfrm>
              <a:custGeom>
                <a:rect b="b" l="l" r="r" t="t"/>
                <a:pathLst>
                  <a:path extrusionOk="0" h="108347" w="123825">
                    <a:moveTo>
                      <a:pt x="46434" y="0"/>
                    </a:moveTo>
                    <a:cubicBezTo>
                      <a:pt x="20789" y="0"/>
                      <a:pt x="0" y="20789"/>
                      <a:pt x="0" y="46434"/>
                    </a:cubicBezTo>
                    <a:lnTo>
                      <a:pt x="0" y="108347"/>
                    </a:lnTo>
                    <a:lnTo>
                      <a:pt x="123825" y="108347"/>
                    </a:lnTo>
                    <a:lnTo>
                      <a:pt x="123825" y="0"/>
                    </a:lnTo>
                    <a:lnTo>
                      <a:pt x="46434" y="0"/>
                    </a:ln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7"/>
              <p:cNvSpPr/>
              <p:nvPr/>
            </p:nvSpPr>
            <p:spPr>
              <a:xfrm>
                <a:off x="2440781" y="2390775"/>
                <a:ext cx="92869" cy="108347"/>
              </a:xfrm>
              <a:custGeom>
                <a:rect b="b" l="l" r="r" t="t"/>
                <a:pathLst>
                  <a:path extrusionOk="0" h="108347" w="92869">
                    <a:moveTo>
                      <a:pt x="46434" y="0"/>
                    </a:moveTo>
                    <a:lnTo>
                      <a:pt x="0" y="0"/>
                    </a:lnTo>
                    <a:lnTo>
                      <a:pt x="0" y="108347"/>
                    </a:lnTo>
                    <a:lnTo>
                      <a:pt x="92869" y="108347"/>
                    </a:lnTo>
                    <a:lnTo>
                      <a:pt x="92869" y="46434"/>
                    </a:lnTo>
                    <a:cubicBezTo>
                      <a:pt x="92869" y="20789"/>
                      <a:pt x="72080" y="0"/>
                      <a:pt x="46434"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7"/>
              <p:cNvSpPr/>
              <p:nvPr/>
            </p:nvSpPr>
            <p:spPr>
              <a:xfrm>
                <a:off x="2440781" y="2297906"/>
                <a:ext cx="61912" cy="61912"/>
              </a:xfrm>
              <a:custGeom>
                <a:rect b="b" l="l" r="r" t="t"/>
                <a:pathLst>
                  <a:path extrusionOk="0" h="61912" w="61912">
                    <a:moveTo>
                      <a:pt x="30956" y="61912"/>
                    </a:moveTo>
                    <a:cubicBezTo>
                      <a:pt x="48053" y="61912"/>
                      <a:pt x="61912" y="48053"/>
                      <a:pt x="61912" y="30956"/>
                    </a:cubicBezTo>
                    <a:cubicBezTo>
                      <a:pt x="61912" y="13860"/>
                      <a:pt x="48053" y="0"/>
                      <a:pt x="30956" y="0"/>
                    </a:cubicBezTo>
                    <a:cubicBezTo>
                      <a:pt x="13859" y="0"/>
                      <a:pt x="0" y="13860"/>
                      <a:pt x="0" y="30956"/>
                    </a:cubicBezTo>
                    <a:cubicBezTo>
                      <a:pt x="0" y="48053"/>
                      <a:pt x="13859" y="61912"/>
                      <a:pt x="30956" y="61912"/>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3" name="Google Shape;1003;p17"/>
            <p:cNvSpPr txBox="1"/>
            <p:nvPr/>
          </p:nvSpPr>
          <p:spPr>
            <a:xfrm>
              <a:off x="2764155" y="2368868"/>
              <a:ext cx="3160381"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Customer-wise prediction page</a:t>
              </a:r>
              <a:endParaRPr/>
            </a:p>
          </p:txBody>
        </p:sp>
      </p:grpSp>
      <p:grpSp>
        <p:nvGrpSpPr>
          <p:cNvPr id="1004" name="Google Shape;1004;p17"/>
          <p:cNvGrpSpPr/>
          <p:nvPr/>
        </p:nvGrpSpPr>
        <p:grpSpPr>
          <a:xfrm>
            <a:off x="1238250" y="2943225"/>
            <a:ext cx="10191750" cy="609600"/>
            <a:chOff x="1238250" y="2943225"/>
            <a:chExt cx="10191750" cy="609600"/>
          </a:xfrm>
        </p:grpSpPr>
        <p:sp>
          <p:nvSpPr>
            <p:cNvPr id="1005" name="Google Shape;1005;p17"/>
            <p:cNvSpPr/>
            <p:nvPr/>
          </p:nvSpPr>
          <p:spPr>
            <a:xfrm>
              <a:off x="1238250" y="3057525"/>
              <a:ext cx="381000" cy="381000"/>
            </a:xfrm>
            <a:prstGeom prst="ellipse">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7"/>
            <p:cNvSpPr txBox="1"/>
            <p:nvPr/>
          </p:nvSpPr>
          <p:spPr>
            <a:xfrm>
              <a:off x="1319576" y="3183731"/>
              <a:ext cx="21834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03</a:t>
              </a:r>
              <a:endParaRPr/>
            </a:p>
          </p:txBody>
        </p:sp>
        <p:sp>
          <p:nvSpPr>
            <p:cNvPr id="1007" name="Google Shape;1007;p17"/>
            <p:cNvSpPr/>
            <p:nvPr/>
          </p:nvSpPr>
          <p:spPr>
            <a:xfrm>
              <a:off x="2000250" y="29432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2000250" y="29432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9" name="Google Shape;1009;p17"/>
            <p:cNvGrpSpPr/>
            <p:nvPr/>
          </p:nvGrpSpPr>
          <p:grpSpPr>
            <a:xfrm>
              <a:off x="2286000" y="3105150"/>
              <a:ext cx="247650" cy="247650"/>
              <a:chOff x="2286000" y="3105150"/>
              <a:chExt cx="247650" cy="247650"/>
            </a:xfrm>
          </p:grpSpPr>
          <p:sp>
            <p:nvSpPr>
              <p:cNvPr id="1010" name="Google Shape;1010;p17"/>
              <p:cNvSpPr/>
              <p:nvPr/>
            </p:nvSpPr>
            <p:spPr>
              <a:xfrm>
                <a:off x="2347912" y="3167062"/>
                <a:ext cx="123825" cy="123825"/>
              </a:xfrm>
              <a:custGeom>
                <a:rect b="b" l="l" r="r" t="t"/>
                <a:pathLst>
                  <a:path extrusionOk="0" h="123825" w="123825">
                    <a:moveTo>
                      <a:pt x="61912" y="0"/>
                    </a:moveTo>
                    <a:cubicBezTo>
                      <a:pt x="27719" y="0"/>
                      <a:pt x="0" y="27719"/>
                      <a:pt x="0" y="61912"/>
                    </a:cubicBezTo>
                    <a:cubicBezTo>
                      <a:pt x="0" y="96105"/>
                      <a:pt x="27719" y="123825"/>
                      <a:pt x="61912" y="123825"/>
                    </a:cubicBezTo>
                    <a:cubicBezTo>
                      <a:pt x="96105" y="123825"/>
                      <a:pt x="123825" y="96105"/>
                      <a:pt x="123825" y="61912"/>
                    </a:cubicBezTo>
                    <a:cubicBezTo>
                      <a:pt x="123825" y="27719"/>
                      <a:pt x="96105" y="0"/>
                      <a:pt x="61912" y="0"/>
                    </a:cubicBezTo>
                    <a:close/>
                    <a:moveTo>
                      <a:pt x="30956" y="61912"/>
                    </a:moveTo>
                    <a:cubicBezTo>
                      <a:pt x="30956" y="44816"/>
                      <a:pt x="44816" y="30956"/>
                      <a:pt x="61912" y="30956"/>
                    </a:cubicBezTo>
                    <a:cubicBezTo>
                      <a:pt x="79009" y="30956"/>
                      <a:pt x="92869" y="44816"/>
                      <a:pt x="92869" y="61912"/>
                    </a:cubicBezTo>
                    <a:cubicBezTo>
                      <a:pt x="92869" y="79009"/>
                      <a:pt x="79009" y="92869"/>
                      <a:pt x="61912" y="92869"/>
                    </a:cubicBezTo>
                    <a:cubicBezTo>
                      <a:pt x="44816" y="92869"/>
                      <a:pt x="30956" y="79009"/>
                      <a:pt x="30956" y="61912"/>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7"/>
              <p:cNvSpPr/>
              <p:nvPr/>
            </p:nvSpPr>
            <p:spPr>
              <a:xfrm>
                <a:off x="2286000" y="3105150"/>
                <a:ext cx="247650" cy="247650"/>
              </a:xfrm>
              <a:custGeom>
                <a:rect b="b" l="l" r="r" t="t"/>
                <a:pathLst>
                  <a:path extrusionOk="0" h="247650" w="247650">
                    <a:moveTo>
                      <a:pt x="123825" y="0"/>
                    </a:moveTo>
                    <a:cubicBezTo>
                      <a:pt x="55438" y="0"/>
                      <a:pt x="0" y="55438"/>
                      <a:pt x="0" y="123825"/>
                    </a:cubicBezTo>
                    <a:cubicBezTo>
                      <a:pt x="0" y="192212"/>
                      <a:pt x="55438" y="247650"/>
                      <a:pt x="123825" y="247650"/>
                    </a:cubicBezTo>
                    <a:cubicBezTo>
                      <a:pt x="192212" y="247650"/>
                      <a:pt x="247650" y="192212"/>
                      <a:pt x="247650" y="123825"/>
                    </a:cubicBezTo>
                    <a:cubicBezTo>
                      <a:pt x="247650" y="55438"/>
                      <a:pt x="192212" y="0"/>
                      <a:pt x="123825" y="0"/>
                    </a:cubicBezTo>
                    <a:close/>
                    <a:moveTo>
                      <a:pt x="30956" y="123825"/>
                    </a:moveTo>
                    <a:cubicBezTo>
                      <a:pt x="30956" y="72535"/>
                      <a:pt x="72535" y="30956"/>
                      <a:pt x="123825" y="30956"/>
                    </a:cubicBezTo>
                    <a:cubicBezTo>
                      <a:pt x="175115" y="30956"/>
                      <a:pt x="216694" y="72535"/>
                      <a:pt x="216694" y="123825"/>
                    </a:cubicBezTo>
                    <a:cubicBezTo>
                      <a:pt x="216694" y="175115"/>
                      <a:pt x="175115" y="216694"/>
                      <a:pt x="123825" y="216694"/>
                    </a:cubicBezTo>
                    <a:cubicBezTo>
                      <a:pt x="72535" y="216694"/>
                      <a:pt x="30956" y="175115"/>
                      <a:pt x="30956" y="123825"/>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2" name="Google Shape;1012;p17"/>
            <p:cNvSpPr txBox="1"/>
            <p:nvPr/>
          </p:nvSpPr>
          <p:spPr>
            <a:xfrm>
              <a:off x="2764155" y="3207068"/>
              <a:ext cx="339846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Automated retention suggestions</a:t>
              </a:r>
              <a:endParaRPr/>
            </a:p>
          </p:txBody>
        </p:sp>
      </p:grpSp>
      <p:grpSp>
        <p:nvGrpSpPr>
          <p:cNvPr id="1013" name="Google Shape;1013;p17"/>
          <p:cNvGrpSpPr/>
          <p:nvPr/>
        </p:nvGrpSpPr>
        <p:grpSpPr>
          <a:xfrm>
            <a:off x="1238250" y="3781425"/>
            <a:ext cx="10191750" cy="609600"/>
            <a:chOff x="1238250" y="3781425"/>
            <a:chExt cx="10191750" cy="609600"/>
          </a:xfrm>
        </p:grpSpPr>
        <p:sp>
          <p:nvSpPr>
            <p:cNvPr id="1014" name="Google Shape;1014;p17"/>
            <p:cNvSpPr/>
            <p:nvPr/>
          </p:nvSpPr>
          <p:spPr>
            <a:xfrm>
              <a:off x="1238250" y="3895725"/>
              <a:ext cx="381000" cy="381000"/>
            </a:xfrm>
            <a:prstGeom prst="ellipse">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7"/>
            <p:cNvSpPr txBox="1"/>
            <p:nvPr/>
          </p:nvSpPr>
          <p:spPr>
            <a:xfrm>
              <a:off x="1319576" y="4021931"/>
              <a:ext cx="21834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04</a:t>
              </a:r>
              <a:endParaRPr/>
            </a:p>
          </p:txBody>
        </p:sp>
        <p:sp>
          <p:nvSpPr>
            <p:cNvPr id="1016" name="Google Shape;1016;p17"/>
            <p:cNvSpPr/>
            <p:nvPr/>
          </p:nvSpPr>
          <p:spPr>
            <a:xfrm>
              <a:off x="2000250" y="37814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7"/>
            <p:cNvSpPr/>
            <p:nvPr/>
          </p:nvSpPr>
          <p:spPr>
            <a:xfrm>
              <a:off x="2000250" y="37814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8" name="Google Shape;1018;p17"/>
            <p:cNvGrpSpPr/>
            <p:nvPr/>
          </p:nvGrpSpPr>
          <p:grpSpPr>
            <a:xfrm>
              <a:off x="2316956" y="3943350"/>
              <a:ext cx="185738" cy="247650"/>
              <a:chOff x="2316956" y="3943350"/>
              <a:chExt cx="185738" cy="247650"/>
            </a:xfrm>
          </p:grpSpPr>
          <p:sp>
            <p:nvSpPr>
              <p:cNvPr id="1019" name="Google Shape;1019;p17"/>
              <p:cNvSpPr/>
              <p:nvPr/>
            </p:nvSpPr>
            <p:spPr>
              <a:xfrm>
                <a:off x="2316956" y="4042410"/>
                <a:ext cx="185738" cy="71199"/>
              </a:xfrm>
              <a:custGeom>
                <a:rect b="b" l="l" r="r" t="t"/>
                <a:pathLst>
                  <a:path extrusionOk="0" h="71199" w="185738">
                    <a:moveTo>
                      <a:pt x="172381" y="7896"/>
                    </a:moveTo>
                    <a:cubicBezTo>
                      <a:pt x="176735" y="5719"/>
                      <a:pt x="181284" y="3093"/>
                      <a:pt x="185738" y="0"/>
                    </a:cubicBezTo>
                    <a:lnTo>
                      <a:pt x="185738" y="24765"/>
                    </a:lnTo>
                    <a:cubicBezTo>
                      <a:pt x="185738" y="50410"/>
                      <a:pt x="144159" y="71199"/>
                      <a:pt x="92869" y="71199"/>
                    </a:cubicBezTo>
                    <a:cubicBezTo>
                      <a:pt x="41579" y="71199"/>
                      <a:pt x="0" y="50410"/>
                      <a:pt x="0" y="24765"/>
                    </a:cubicBezTo>
                    <a:lnTo>
                      <a:pt x="0" y="0"/>
                    </a:lnTo>
                    <a:cubicBezTo>
                      <a:pt x="4453" y="3093"/>
                      <a:pt x="9002" y="5719"/>
                      <a:pt x="13357" y="7896"/>
                    </a:cubicBezTo>
                    <a:cubicBezTo>
                      <a:pt x="35305" y="18871"/>
                      <a:pt x="63460" y="24765"/>
                      <a:pt x="92869" y="24765"/>
                    </a:cubicBezTo>
                    <a:cubicBezTo>
                      <a:pt x="122277" y="24765"/>
                      <a:pt x="150432" y="18871"/>
                      <a:pt x="172381" y="7896"/>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7"/>
              <p:cNvSpPr/>
              <p:nvPr/>
            </p:nvSpPr>
            <p:spPr>
              <a:xfrm>
                <a:off x="2316956" y="4119801"/>
                <a:ext cx="185738" cy="71199"/>
              </a:xfrm>
              <a:custGeom>
                <a:rect b="b" l="l" r="r" t="t"/>
                <a:pathLst>
                  <a:path extrusionOk="0" h="71199" w="185738">
                    <a:moveTo>
                      <a:pt x="0" y="0"/>
                    </a:moveTo>
                    <a:lnTo>
                      <a:pt x="0" y="24765"/>
                    </a:lnTo>
                    <a:cubicBezTo>
                      <a:pt x="0" y="50411"/>
                      <a:pt x="41579" y="71199"/>
                      <a:pt x="92869" y="71199"/>
                    </a:cubicBezTo>
                    <a:cubicBezTo>
                      <a:pt x="144159" y="71199"/>
                      <a:pt x="185738" y="50411"/>
                      <a:pt x="185738" y="24765"/>
                    </a:cubicBezTo>
                    <a:lnTo>
                      <a:pt x="185738" y="0"/>
                    </a:lnTo>
                    <a:cubicBezTo>
                      <a:pt x="181284" y="3093"/>
                      <a:pt x="176735" y="5719"/>
                      <a:pt x="172381" y="7897"/>
                    </a:cubicBezTo>
                    <a:cubicBezTo>
                      <a:pt x="150432" y="18871"/>
                      <a:pt x="122277" y="24765"/>
                      <a:pt x="92869" y="24765"/>
                    </a:cubicBezTo>
                    <a:cubicBezTo>
                      <a:pt x="63460" y="24765"/>
                      <a:pt x="35305" y="18871"/>
                      <a:pt x="13357" y="7897"/>
                    </a:cubicBezTo>
                    <a:cubicBezTo>
                      <a:pt x="9002" y="5719"/>
                      <a:pt x="4453" y="3093"/>
                      <a:pt x="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7"/>
              <p:cNvSpPr/>
              <p:nvPr/>
            </p:nvSpPr>
            <p:spPr>
              <a:xfrm>
                <a:off x="2316956" y="3943350"/>
                <a:ext cx="185738" cy="92869"/>
              </a:xfrm>
              <a:custGeom>
                <a:rect b="b" l="l" r="r" t="t"/>
                <a:pathLst>
                  <a:path extrusionOk="0" h="92869" w="185738">
                    <a:moveTo>
                      <a:pt x="92869" y="0"/>
                    </a:moveTo>
                    <a:cubicBezTo>
                      <a:pt x="144159" y="0"/>
                      <a:pt x="185738" y="20789"/>
                      <a:pt x="185738" y="46434"/>
                    </a:cubicBezTo>
                    <a:cubicBezTo>
                      <a:pt x="185738" y="72079"/>
                      <a:pt x="144159" y="92869"/>
                      <a:pt x="92869" y="92869"/>
                    </a:cubicBezTo>
                    <a:cubicBezTo>
                      <a:pt x="41579" y="92869"/>
                      <a:pt x="0" y="72079"/>
                      <a:pt x="0" y="46434"/>
                    </a:cubicBezTo>
                    <a:cubicBezTo>
                      <a:pt x="0" y="20789"/>
                      <a:pt x="41579" y="0"/>
                      <a:pt x="92869"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2" name="Google Shape;1022;p17"/>
            <p:cNvSpPr txBox="1"/>
            <p:nvPr/>
          </p:nvSpPr>
          <p:spPr>
            <a:xfrm>
              <a:off x="2764155" y="4045268"/>
              <a:ext cx="215630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Database integration</a:t>
              </a:r>
              <a:endParaRPr/>
            </a:p>
          </p:txBody>
        </p:sp>
      </p:grpSp>
      <p:grpSp>
        <p:nvGrpSpPr>
          <p:cNvPr id="1023" name="Google Shape;1023;p17"/>
          <p:cNvGrpSpPr/>
          <p:nvPr/>
        </p:nvGrpSpPr>
        <p:grpSpPr>
          <a:xfrm>
            <a:off x="1238250" y="4619625"/>
            <a:ext cx="10191750" cy="609600"/>
            <a:chOff x="1238250" y="4619625"/>
            <a:chExt cx="10191750" cy="609600"/>
          </a:xfrm>
        </p:grpSpPr>
        <p:sp>
          <p:nvSpPr>
            <p:cNvPr id="1024" name="Google Shape;1024;p17"/>
            <p:cNvSpPr/>
            <p:nvPr/>
          </p:nvSpPr>
          <p:spPr>
            <a:xfrm>
              <a:off x="1238250" y="4733925"/>
              <a:ext cx="381000" cy="381000"/>
            </a:xfrm>
            <a:prstGeom prst="ellipse">
              <a:avLst/>
            </a:pr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7"/>
            <p:cNvSpPr txBox="1"/>
            <p:nvPr/>
          </p:nvSpPr>
          <p:spPr>
            <a:xfrm>
              <a:off x="1319576" y="4860131"/>
              <a:ext cx="21834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05</a:t>
              </a:r>
              <a:endParaRPr/>
            </a:p>
          </p:txBody>
        </p:sp>
        <p:sp>
          <p:nvSpPr>
            <p:cNvPr id="1026" name="Google Shape;1026;p17"/>
            <p:cNvSpPr/>
            <p:nvPr/>
          </p:nvSpPr>
          <p:spPr>
            <a:xfrm>
              <a:off x="2000250" y="46196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4F7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7"/>
            <p:cNvSpPr/>
            <p:nvPr/>
          </p:nvSpPr>
          <p:spPr>
            <a:xfrm>
              <a:off x="2000250" y="46196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7"/>
            <p:cNvSpPr/>
            <p:nvPr/>
          </p:nvSpPr>
          <p:spPr>
            <a:xfrm>
              <a:off x="2286000" y="4797028"/>
              <a:ext cx="247650" cy="201216"/>
            </a:xfrm>
            <a:custGeom>
              <a:rect b="b" l="l" r="r" t="t"/>
              <a:pathLst>
                <a:path extrusionOk="0" h="201216" w="247650">
                  <a:moveTo>
                    <a:pt x="27158" y="201216"/>
                  </a:moveTo>
                  <a:cubicBezTo>
                    <a:pt x="10165" y="180017"/>
                    <a:pt x="0" y="153108"/>
                    <a:pt x="0" y="123825"/>
                  </a:cubicBezTo>
                  <a:cubicBezTo>
                    <a:pt x="0" y="55438"/>
                    <a:pt x="55438" y="0"/>
                    <a:pt x="123825" y="0"/>
                  </a:cubicBezTo>
                  <a:cubicBezTo>
                    <a:pt x="192212" y="0"/>
                    <a:pt x="247650" y="55438"/>
                    <a:pt x="247650" y="123825"/>
                  </a:cubicBezTo>
                  <a:cubicBezTo>
                    <a:pt x="247650" y="153108"/>
                    <a:pt x="237486" y="180017"/>
                    <a:pt x="220492" y="201216"/>
                  </a:cubicBezTo>
                  <a:lnTo>
                    <a:pt x="142425" y="201216"/>
                  </a:lnTo>
                  <a:lnTo>
                    <a:pt x="197103" y="142072"/>
                  </a:lnTo>
                  <a:lnTo>
                    <a:pt x="174372" y="121057"/>
                  </a:lnTo>
                  <a:lnTo>
                    <a:pt x="100267" y="201216"/>
                  </a:lnTo>
                  <a:lnTo>
                    <a:pt x="27158" y="201216"/>
                  </a:lnTo>
                  <a:close/>
                  <a:moveTo>
                    <a:pt x="108347" y="46434"/>
                  </a:moveTo>
                  <a:cubicBezTo>
                    <a:pt x="108347" y="54983"/>
                    <a:pt x="115277" y="61912"/>
                    <a:pt x="123825" y="61912"/>
                  </a:cubicBezTo>
                  <a:cubicBezTo>
                    <a:pt x="132373" y="61912"/>
                    <a:pt x="139303" y="54983"/>
                    <a:pt x="139303" y="46434"/>
                  </a:cubicBezTo>
                  <a:cubicBezTo>
                    <a:pt x="139303" y="37886"/>
                    <a:pt x="132373" y="30956"/>
                    <a:pt x="123825" y="30956"/>
                  </a:cubicBezTo>
                  <a:cubicBezTo>
                    <a:pt x="115277" y="30956"/>
                    <a:pt x="108347" y="37886"/>
                    <a:pt x="108347" y="46434"/>
                  </a:cubicBezTo>
                  <a:close/>
                  <a:moveTo>
                    <a:pt x="177998" y="85130"/>
                  </a:moveTo>
                  <a:cubicBezTo>
                    <a:pt x="169450" y="85130"/>
                    <a:pt x="162520" y="78200"/>
                    <a:pt x="162520" y="69652"/>
                  </a:cubicBezTo>
                  <a:cubicBezTo>
                    <a:pt x="162520" y="61103"/>
                    <a:pt x="169450" y="54173"/>
                    <a:pt x="177998" y="54173"/>
                  </a:cubicBezTo>
                  <a:cubicBezTo>
                    <a:pt x="186547" y="54173"/>
                    <a:pt x="193477" y="61103"/>
                    <a:pt x="193477" y="69652"/>
                  </a:cubicBezTo>
                  <a:cubicBezTo>
                    <a:pt x="193477" y="78200"/>
                    <a:pt x="186547" y="85130"/>
                    <a:pt x="177998" y="85130"/>
                  </a:cubicBezTo>
                  <a:close/>
                  <a:moveTo>
                    <a:pt x="30956" y="123825"/>
                  </a:moveTo>
                  <a:cubicBezTo>
                    <a:pt x="30956" y="132373"/>
                    <a:pt x="37886" y="139303"/>
                    <a:pt x="46434" y="139303"/>
                  </a:cubicBezTo>
                  <a:cubicBezTo>
                    <a:pt x="54983" y="139303"/>
                    <a:pt x="61912" y="132373"/>
                    <a:pt x="61912" y="123825"/>
                  </a:cubicBezTo>
                  <a:cubicBezTo>
                    <a:pt x="61912" y="115277"/>
                    <a:pt x="54983" y="108347"/>
                    <a:pt x="46434" y="108347"/>
                  </a:cubicBezTo>
                  <a:cubicBezTo>
                    <a:pt x="37886" y="108347"/>
                    <a:pt x="30956" y="115277"/>
                    <a:pt x="30956" y="123825"/>
                  </a:cubicBezTo>
                  <a:close/>
                  <a:moveTo>
                    <a:pt x="69652" y="85130"/>
                  </a:moveTo>
                  <a:cubicBezTo>
                    <a:pt x="61103" y="85130"/>
                    <a:pt x="54173" y="78200"/>
                    <a:pt x="54173" y="69652"/>
                  </a:cubicBezTo>
                  <a:cubicBezTo>
                    <a:pt x="54173" y="61103"/>
                    <a:pt x="61103" y="54173"/>
                    <a:pt x="69652" y="54173"/>
                  </a:cubicBezTo>
                  <a:cubicBezTo>
                    <a:pt x="78200" y="54173"/>
                    <a:pt x="85130" y="61103"/>
                    <a:pt x="85130" y="69652"/>
                  </a:cubicBezTo>
                  <a:cubicBezTo>
                    <a:pt x="85130" y="78200"/>
                    <a:pt x="78200" y="85130"/>
                    <a:pt x="69652" y="85130"/>
                  </a:cubicBezTo>
                  <a:close/>
                </a:path>
              </a:pathLst>
            </a:custGeom>
            <a:solidFill>
              <a:srgbClr val="1565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7"/>
            <p:cNvSpPr txBox="1"/>
            <p:nvPr/>
          </p:nvSpPr>
          <p:spPr>
            <a:xfrm>
              <a:off x="2764155" y="4883468"/>
              <a:ext cx="2094197"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Real-time prediction</a:t>
              </a:r>
              <a:endParaRPr/>
            </a:p>
          </p:txBody>
        </p:sp>
      </p:grpSp>
      <p:grpSp>
        <p:nvGrpSpPr>
          <p:cNvPr id="1030" name="Google Shape;1030;p17"/>
          <p:cNvGrpSpPr/>
          <p:nvPr/>
        </p:nvGrpSpPr>
        <p:grpSpPr>
          <a:xfrm>
            <a:off x="1238250" y="5457825"/>
            <a:ext cx="10191750" cy="609600"/>
            <a:chOff x="1238250" y="5457825"/>
            <a:chExt cx="10191750" cy="609600"/>
          </a:xfrm>
        </p:grpSpPr>
        <p:sp>
          <p:nvSpPr>
            <p:cNvPr id="1031" name="Google Shape;1031;p17"/>
            <p:cNvSpPr/>
            <p:nvPr/>
          </p:nvSpPr>
          <p:spPr>
            <a:xfrm>
              <a:off x="1238250" y="5572125"/>
              <a:ext cx="381000" cy="381000"/>
            </a:xfrm>
            <a:prstGeom prst="ellipse">
              <a:avLst/>
            </a:pr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
            <p:cNvSpPr txBox="1"/>
            <p:nvPr/>
          </p:nvSpPr>
          <p:spPr>
            <a:xfrm>
              <a:off x="1319576" y="5698331"/>
              <a:ext cx="218349"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1125" u="none" cap="none" strike="noStrike">
                  <a:solidFill>
                    <a:srgbClr val="FFFFFF"/>
                  </a:solidFill>
                  <a:latin typeface="Quattrocento Sans"/>
                  <a:ea typeface="Quattrocento Sans"/>
                  <a:cs typeface="Quattrocento Sans"/>
                  <a:sym typeface="Quattrocento Sans"/>
                </a:rPr>
                <a:t>06</a:t>
              </a:r>
              <a:endParaRPr/>
            </a:p>
          </p:txBody>
        </p:sp>
        <p:sp>
          <p:nvSpPr>
            <p:cNvPr id="1033" name="Google Shape;1033;p17"/>
            <p:cNvSpPr/>
            <p:nvPr/>
          </p:nvSpPr>
          <p:spPr>
            <a:xfrm>
              <a:off x="2000250" y="5457825"/>
              <a:ext cx="9429750" cy="609600"/>
            </a:xfrm>
            <a:custGeom>
              <a:rect b="b" l="l" r="r" t="t"/>
              <a:pathLst>
                <a:path extrusionOk="0" h="609600" w="9429750">
                  <a:moveTo>
                    <a:pt x="95250" y="0"/>
                  </a:moveTo>
                  <a:lnTo>
                    <a:pt x="9334500" y="0"/>
                  </a:lnTo>
                  <a:cubicBezTo>
                    <a:pt x="9387105" y="0"/>
                    <a:pt x="9429750" y="42645"/>
                    <a:pt x="9429750" y="95250"/>
                  </a:cubicBezTo>
                  <a:lnTo>
                    <a:pt x="9429750" y="514350"/>
                  </a:lnTo>
                  <a:cubicBezTo>
                    <a:pt x="9429750" y="566955"/>
                    <a:pt x="9387105" y="609600"/>
                    <a:pt x="9334500" y="609600"/>
                  </a:cubicBezTo>
                  <a:lnTo>
                    <a:pt x="95250" y="609600"/>
                  </a:lnTo>
                  <a:cubicBezTo>
                    <a:pt x="42645" y="609600"/>
                    <a:pt x="0" y="566955"/>
                    <a:pt x="0" y="514350"/>
                  </a:cubicBezTo>
                  <a:lnTo>
                    <a:pt x="0" y="95250"/>
                  </a:lnTo>
                  <a:cubicBezTo>
                    <a:pt x="0" y="42645"/>
                    <a:pt x="42645" y="0"/>
                    <a:pt x="95250" y="0"/>
                  </a:cubicBezTo>
                  <a:close/>
                </a:path>
              </a:pathLst>
            </a:custGeom>
            <a:solidFill>
              <a:srgbClr val="FF8F00">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
            <p:cNvSpPr/>
            <p:nvPr/>
          </p:nvSpPr>
          <p:spPr>
            <a:xfrm>
              <a:off x="2000250" y="5457825"/>
              <a:ext cx="38100" cy="609600"/>
            </a:xfrm>
            <a:custGeom>
              <a:rect b="b" l="l" r="r" t="t"/>
              <a:pathLst>
                <a:path extrusionOk="0" h="609600" w="38100">
                  <a:moveTo>
                    <a:pt x="19050" y="0"/>
                  </a:moveTo>
                  <a:lnTo>
                    <a:pt x="19050" y="0"/>
                  </a:lnTo>
                  <a:cubicBezTo>
                    <a:pt x="29571" y="0"/>
                    <a:pt x="38100" y="8529"/>
                    <a:pt x="38100" y="19050"/>
                  </a:cubicBezTo>
                  <a:lnTo>
                    <a:pt x="38100" y="590550"/>
                  </a:lnTo>
                  <a:cubicBezTo>
                    <a:pt x="38100" y="601071"/>
                    <a:pt x="29571" y="609600"/>
                    <a:pt x="19050" y="609600"/>
                  </a:cubicBezTo>
                  <a:lnTo>
                    <a:pt x="19050" y="609600"/>
                  </a:lnTo>
                  <a:cubicBezTo>
                    <a:pt x="8529" y="609600"/>
                    <a:pt x="0" y="601071"/>
                    <a:pt x="0" y="590550"/>
                  </a:cubicBezTo>
                  <a:lnTo>
                    <a:pt x="0" y="19050"/>
                  </a:lnTo>
                  <a:cubicBezTo>
                    <a:pt x="0" y="8529"/>
                    <a:pt x="8529" y="0"/>
                    <a:pt x="19050" y="0"/>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5" name="Google Shape;1035;p17"/>
            <p:cNvGrpSpPr/>
            <p:nvPr/>
          </p:nvGrpSpPr>
          <p:grpSpPr>
            <a:xfrm>
              <a:off x="2286000" y="5619750"/>
              <a:ext cx="247650" cy="247650"/>
              <a:chOff x="2286000" y="5619750"/>
              <a:chExt cx="247650" cy="247650"/>
            </a:xfrm>
          </p:grpSpPr>
          <p:sp>
            <p:nvSpPr>
              <p:cNvPr id="1036" name="Google Shape;1036;p17"/>
              <p:cNvSpPr/>
              <p:nvPr/>
            </p:nvSpPr>
            <p:spPr>
              <a:xfrm>
                <a:off x="2286000" y="5619750"/>
                <a:ext cx="247650" cy="247650"/>
              </a:xfrm>
              <a:custGeom>
                <a:rect b="b" l="l" r="r" t="t"/>
                <a:pathLst>
                  <a:path extrusionOk="0" h="247650" w="247650">
                    <a:moveTo>
                      <a:pt x="154781" y="247650"/>
                    </a:moveTo>
                    <a:lnTo>
                      <a:pt x="185738" y="216694"/>
                    </a:lnTo>
                    <a:lnTo>
                      <a:pt x="185738" y="154781"/>
                    </a:lnTo>
                    <a:lnTo>
                      <a:pt x="211383" y="129136"/>
                    </a:lnTo>
                    <a:cubicBezTo>
                      <a:pt x="234603" y="105914"/>
                      <a:pt x="247650" y="74419"/>
                      <a:pt x="247650" y="41579"/>
                    </a:cubicBezTo>
                    <a:lnTo>
                      <a:pt x="247650" y="0"/>
                    </a:lnTo>
                    <a:lnTo>
                      <a:pt x="206071" y="0"/>
                    </a:lnTo>
                    <a:cubicBezTo>
                      <a:pt x="173231" y="0"/>
                      <a:pt x="141735" y="13046"/>
                      <a:pt x="118514" y="36268"/>
                    </a:cubicBezTo>
                    <a:lnTo>
                      <a:pt x="92869" y="61912"/>
                    </a:lnTo>
                    <a:lnTo>
                      <a:pt x="30956" y="61912"/>
                    </a:lnTo>
                    <a:lnTo>
                      <a:pt x="0" y="92869"/>
                    </a:lnTo>
                    <a:lnTo>
                      <a:pt x="154781" y="247650"/>
                    </a:lnTo>
                    <a:close/>
                    <a:moveTo>
                      <a:pt x="162520" y="108347"/>
                    </a:moveTo>
                    <a:cubicBezTo>
                      <a:pt x="175342" y="108347"/>
                      <a:pt x="185738" y="97952"/>
                      <a:pt x="185738" y="85130"/>
                    </a:cubicBezTo>
                    <a:cubicBezTo>
                      <a:pt x="185738" y="72307"/>
                      <a:pt x="175342" y="61912"/>
                      <a:pt x="162520" y="61912"/>
                    </a:cubicBezTo>
                    <a:cubicBezTo>
                      <a:pt x="149698" y="61912"/>
                      <a:pt x="139303" y="72307"/>
                      <a:pt x="139303" y="85130"/>
                    </a:cubicBezTo>
                    <a:cubicBezTo>
                      <a:pt x="139303" y="97952"/>
                      <a:pt x="149698" y="108347"/>
                      <a:pt x="162520" y="108347"/>
                    </a:cubicBezTo>
                    <a:close/>
                  </a:path>
                </a:pathLst>
              </a:custGeom>
              <a:solidFill>
                <a:srgbClr val="FF8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7"/>
              <p:cNvSpPr/>
              <p:nvPr/>
            </p:nvSpPr>
            <p:spPr>
              <a:xfrm>
                <a:off x="2286000" y="5791133"/>
                <a:ext cx="76267" cy="76267"/>
              </a:xfrm>
              <a:custGeom>
                <a:rect b="b" l="l" r="r" t="t"/>
                <a:pathLst>
                  <a:path extrusionOk="0" h="76267" w="76267">
                    <a:moveTo>
                      <a:pt x="76267" y="41531"/>
                    </a:moveTo>
                    <a:lnTo>
                      <a:pt x="34736" y="0"/>
                    </a:lnTo>
                    <a:lnTo>
                      <a:pt x="0" y="60789"/>
                    </a:lnTo>
                    <a:lnTo>
                      <a:pt x="15478" y="76267"/>
                    </a:lnTo>
                    <a:lnTo>
                      <a:pt x="76267" y="41531"/>
                    </a:lnTo>
                    <a:close/>
                  </a:path>
                </a:pathLst>
              </a:custGeom>
              <a:solidFill>
                <a:srgbClr val="FF8F00"/>
              </a:solidFill>
              <a:ln>
                <a:noFill/>
              </a:ln>
            </p:spPr>
          </p:sp>
        </p:grpSp>
        <p:sp>
          <p:nvSpPr>
            <p:cNvPr id="1038" name="Google Shape;1038;p17"/>
            <p:cNvSpPr txBox="1"/>
            <p:nvPr/>
          </p:nvSpPr>
          <p:spPr>
            <a:xfrm>
              <a:off x="2764155" y="5721668"/>
              <a:ext cx="174225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zh-CN" sz="1350" u="none" cap="none" strike="noStrike">
                  <a:solidFill>
                    <a:srgbClr val="1F2933"/>
                  </a:solidFill>
                  <a:latin typeface="Quattrocento Sans"/>
                  <a:ea typeface="Quattrocento Sans"/>
                  <a:cs typeface="Quattrocento Sans"/>
                  <a:sym typeface="Quattrocento Sans"/>
                </a:rPr>
                <a:t>Cloud deployment</a:t>
              </a:r>
              <a:endParaRPr/>
            </a:p>
          </p:txBody>
        </p:sp>
      </p:grpSp>
      <p:grpSp>
        <p:nvGrpSpPr>
          <p:cNvPr id="1039" name="Google Shape;1039;p17"/>
          <p:cNvGrpSpPr/>
          <p:nvPr/>
        </p:nvGrpSpPr>
        <p:grpSpPr>
          <a:xfrm>
            <a:off x="561022" y="6381750"/>
            <a:ext cx="11069955" cy="345281"/>
            <a:chOff x="561022" y="6381750"/>
            <a:chExt cx="11069955" cy="345281"/>
          </a:xfrm>
        </p:grpSpPr>
        <p:sp>
          <p:nvSpPr>
            <p:cNvPr id="1040" name="Google Shape;1040;p17"/>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1041" name="Google Shape;1041;p17"/>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1042" name="Google Shape;1042;p17"/>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17 / 18</a:t>
              </a:r>
              <a:endParaRPr/>
            </a:p>
          </p:txBody>
        </p:sp>
      </p:gr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8"/>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8"/>
          <p:cNvSpPr/>
          <p:nvPr/>
        </p:nvSpPr>
        <p:spPr>
          <a:xfrm>
            <a:off x="0" y="0"/>
            <a:ext cx="12192000" cy="6858000"/>
          </a:xfrm>
          <a:prstGeom prst="rect">
            <a:avLst/>
          </a:prstGeom>
          <a:gradFill>
            <a:gsLst>
              <a:gs pos="0">
                <a:srgbClr val="1565C0">
                  <a:alpha val="7843"/>
                </a:srgbClr>
              </a:gs>
              <a:gs pos="100000">
                <a:srgbClr val="1565C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8"/>
          <p:cNvSpPr/>
          <p:nvPr/>
        </p:nvSpPr>
        <p:spPr>
          <a:xfrm>
            <a:off x="0" y="0"/>
            <a:ext cx="12192000" cy="6858000"/>
          </a:xfrm>
          <a:prstGeom prst="rect">
            <a:avLst/>
          </a:prstGeom>
          <a:gradFill>
            <a:gsLst>
              <a:gs pos="0">
                <a:srgbClr val="FF8F00">
                  <a:alpha val="7059"/>
                </a:srgbClr>
              </a:gs>
              <a:gs pos="100000">
                <a:srgbClr val="FF8F00">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8"/>
          <p:cNvSpPr/>
          <p:nvPr/>
        </p:nvSpPr>
        <p:spPr>
          <a:xfrm>
            <a:off x="0" y="0"/>
            <a:ext cx="12192000" cy="76200"/>
          </a:xfrm>
          <a:prstGeom prst="rect">
            <a:avLst/>
          </a:prstGeom>
          <a:gradFill>
            <a:gsLst>
              <a:gs pos="0">
                <a:srgbClr val="1565C0"/>
              </a:gs>
              <a:gs pos="100000">
                <a:srgbClr val="FF8F0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1" name="Google Shape;1051;p18"/>
          <p:cNvGrpSpPr/>
          <p:nvPr/>
        </p:nvGrpSpPr>
        <p:grpSpPr>
          <a:xfrm>
            <a:off x="4759226" y="1064419"/>
            <a:ext cx="2673548" cy="685800"/>
            <a:chOff x="4759226" y="1064419"/>
            <a:chExt cx="2673548" cy="685800"/>
          </a:xfrm>
        </p:grpSpPr>
        <p:sp>
          <p:nvSpPr>
            <p:cNvPr id="1052" name="Google Shape;1052;p18"/>
            <p:cNvSpPr txBox="1"/>
            <p:nvPr/>
          </p:nvSpPr>
          <p:spPr>
            <a:xfrm>
              <a:off x="4759226" y="1064419"/>
              <a:ext cx="2673548" cy="685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3375" u="none" cap="none" strike="noStrike">
                  <a:solidFill>
                    <a:srgbClr val="1F2933"/>
                  </a:solidFill>
                  <a:latin typeface="Quattrocento Sans"/>
                  <a:ea typeface="Quattrocento Sans"/>
                  <a:cs typeface="Quattrocento Sans"/>
                  <a:sym typeface="Quattrocento Sans"/>
                </a:rPr>
                <a:t>Conclusion</a:t>
              </a:r>
              <a:endParaRPr/>
            </a:p>
          </p:txBody>
        </p:sp>
        <p:sp>
          <p:nvSpPr>
            <p:cNvPr id="1053" name="Google Shape;1053;p18"/>
            <p:cNvSpPr/>
            <p:nvPr/>
          </p:nvSpPr>
          <p:spPr>
            <a:xfrm>
              <a:off x="5715000" y="1638300"/>
              <a:ext cx="762000" cy="38100"/>
            </a:xfrm>
            <a:custGeom>
              <a:rect b="b" l="l" r="r" t="t"/>
              <a:pathLst>
                <a:path extrusionOk="0" h="38100" w="762000">
                  <a:moveTo>
                    <a:pt x="19050" y="0"/>
                  </a:moveTo>
                  <a:lnTo>
                    <a:pt x="742950" y="0"/>
                  </a:lnTo>
                  <a:cubicBezTo>
                    <a:pt x="753471" y="0"/>
                    <a:pt x="762000" y="8529"/>
                    <a:pt x="762000" y="19050"/>
                  </a:cubicBezTo>
                  <a:lnTo>
                    <a:pt x="762000" y="19050"/>
                  </a:lnTo>
                  <a:cubicBezTo>
                    <a:pt x="762000" y="29571"/>
                    <a:pt x="753471" y="38100"/>
                    <a:pt x="7429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1565C0"/>
                </a:gs>
                <a:gs pos="100000">
                  <a:srgbClr val="42A5F5"/>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4" name="Google Shape;1054;p18"/>
          <p:cNvGrpSpPr/>
          <p:nvPr/>
        </p:nvGrpSpPr>
        <p:grpSpPr>
          <a:xfrm>
            <a:off x="1788557" y="2333625"/>
            <a:ext cx="8614886" cy="1504950"/>
            <a:chOff x="1788557" y="2333625"/>
            <a:chExt cx="8614886" cy="1504950"/>
          </a:xfrm>
        </p:grpSpPr>
        <p:sp>
          <p:nvSpPr>
            <p:cNvPr id="1055" name="Google Shape;1055;p18"/>
            <p:cNvSpPr txBox="1"/>
            <p:nvPr/>
          </p:nvSpPr>
          <p:spPr>
            <a:xfrm>
              <a:off x="2303383" y="2333625"/>
              <a:ext cx="7585234"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I worked on the complete process of customer churn prediction — from</a:t>
              </a:r>
              <a:endParaRPr/>
            </a:p>
          </p:txBody>
        </p:sp>
        <p:sp>
          <p:nvSpPr>
            <p:cNvPr id="1056" name="Google Shape;1056;p18"/>
            <p:cNvSpPr txBox="1"/>
            <p:nvPr/>
          </p:nvSpPr>
          <p:spPr>
            <a:xfrm>
              <a:off x="1788557" y="2638425"/>
              <a:ext cx="8614886"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data cleaning and analysis to Machine Learning and customer risk classification.</a:t>
              </a:r>
              <a:endParaRPr/>
            </a:p>
          </p:txBody>
        </p:sp>
        <p:sp>
          <p:nvSpPr>
            <p:cNvPr id="1057" name="Google Shape;1057;p18"/>
            <p:cNvSpPr txBox="1"/>
            <p:nvPr/>
          </p:nvSpPr>
          <p:spPr>
            <a:xfrm>
              <a:off x="2215753" y="3228975"/>
              <a:ext cx="7760494"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The final system can predict churn probability and divide customers into</a:t>
              </a:r>
              <a:endParaRPr/>
            </a:p>
          </p:txBody>
        </p:sp>
        <p:sp>
          <p:nvSpPr>
            <p:cNvPr id="1058" name="Google Shape;1058;p18"/>
            <p:cNvSpPr txBox="1"/>
            <p:nvPr/>
          </p:nvSpPr>
          <p:spPr>
            <a:xfrm>
              <a:off x="4028599" y="3533775"/>
              <a:ext cx="4134802"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1500" u="none" cap="none" strike="noStrike">
                  <a:solidFill>
                    <a:srgbClr val="1F2933"/>
                  </a:solidFill>
                  <a:latin typeface="Quattrocento Sans"/>
                  <a:ea typeface="Quattrocento Sans"/>
                  <a:cs typeface="Quattrocento Sans"/>
                  <a:sym typeface="Quattrocento Sans"/>
                </a:rPr>
                <a:t>Low, Medium and High risk categories.</a:t>
              </a:r>
              <a:endParaRPr/>
            </a:p>
          </p:txBody>
        </p:sp>
      </p:grpSp>
      <p:sp>
        <p:nvSpPr>
          <p:cNvPr id="1059" name="Google Shape;1059;p18"/>
          <p:cNvSpPr txBox="1"/>
          <p:nvPr/>
        </p:nvSpPr>
        <p:spPr>
          <a:xfrm>
            <a:off x="4400021" y="4175977"/>
            <a:ext cx="3208200" cy="6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zh-CN" sz="4050" u="none" cap="none" strike="noStrike">
                <a:solidFill>
                  <a:srgbClr val="1565C0"/>
                </a:solidFill>
                <a:latin typeface="Quattrocento Sans"/>
                <a:ea typeface="Quattrocento Sans"/>
                <a:cs typeface="Quattrocento Sans"/>
                <a:sym typeface="Quattrocento Sans"/>
              </a:rPr>
              <a:t>Thank You!</a:t>
            </a:r>
            <a:endParaRPr/>
          </a:p>
        </p:txBody>
      </p:sp>
      <p:grpSp>
        <p:nvGrpSpPr>
          <p:cNvPr id="1060" name="Google Shape;1060;p18"/>
          <p:cNvGrpSpPr/>
          <p:nvPr/>
        </p:nvGrpSpPr>
        <p:grpSpPr>
          <a:xfrm>
            <a:off x="561022" y="6381750"/>
            <a:ext cx="11069955" cy="345281"/>
            <a:chOff x="561022" y="6381750"/>
            <a:chExt cx="11069955" cy="345281"/>
          </a:xfrm>
        </p:grpSpPr>
        <p:sp>
          <p:nvSpPr>
            <p:cNvPr id="1061" name="Google Shape;1061;p18"/>
            <p:cNvSpPr/>
            <p:nvPr/>
          </p:nvSpPr>
          <p:spPr>
            <a:xfrm>
              <a:off x="571500" y="6381750"/>
              <a:ext cx="11049000" cy="9525"/>
            </a:xfrm>
            <a:custGeom>
              <a:rect b="b" l="l" r="r" t="t"/>
              <a:pathLst>
                <a:path extrusionOk="0" h="9525" w="11049000">
                  <a:moveTo>
                    <a:pt x="0" y="0"/>
                  </a:moveTo>
                  <a:lnTo>
                    <a:pt x="11049000" y="0"/>
                  </a:lnTo>
                </a:path>
              </a:pathLst>
            </a:custGeom>
            <a:noFill/>
            <a:ln cap="flat" cmpd="sng" w="9525">
              <a:solidFill>
                <a:srgbClr val="E3E8EF"/>
              </a:solidFill>
              <a:prstDash val="solid"/>
              <a:round/>
              <a:headEnd len="sm" w="sm" type="none"/>
              <a:tailEnd len="sm" w="sm" type="none"/>
            </a:ln>
          </p:spPr>
        </p:sp>
        <p:sp>
          <p:nvSpPr>
            <p:cNvPr id="1062" name="Google Shape;1062;p18"/>
            <p:cNvSpPr txBox="1"/>
            <p:nvPr/>
          </p:nvSpPr>
          <p:spPr>
            <a:xfrm>
              <a:off x="561022" y="6559391"/>
              <a:ext cx="2460903" cy="167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Customer Churn Prediction &amp; Risk Analysis</a:t>
              </a:r>
              <a:endParaRPr/>
            </a:p>
          </p:txBody>
        </p:sp>
        <p:sp>
          <p:nvSpPr>
            <p:cNvPr id="1063" name="Google Shape;1063;p18"/>
            <p:cNvSpPr txBox="1"/>
            <p:nvPr/>
          </p:nvSpPr>
          <p:spPr>
            <a:xfrm>
              <a:off x="4600468" y="6559391"/>
              <a:ext cx="2991064" cy="167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Presented by Neha Pandey · AI/ML Developer Intern</a:t>
              </a:r>
              <a:endParaRPr/>
            </a:p>
          </p:txBody>
        </p:sp>
        <p:sp>
          <p:nvSpPr>
            <p:cNvPr id="1064" name="Google Shape;1064;p18"/>
            <p:cNvSpPr txBox="1"/>
            <p:nvPr/>
          </p:nvSpPr>
          <p:spPr>
            <a:xfrm>
              <a:off x="11266622" y="6559391"/>
              <a:ext cx="364355" cy="1676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zh-CN" sz="825" u="none" cap="none" strike="noStrike">
                  <a:solidFill>
                    <a:srgbClr val="9AA5B1"/>
                  </a:solidFill>
                  <a:latin typeface="Quattrocento Sans"/>
                  <a:ea typeface="Quattrocento Sans"/>
                  <a:cs typeface="Quattrocento Sans"/>
                  <a:sym typeface="Quattrocento Sans"/>
                </a:rPr>
                <a:t>18 / 18</a:t>
              </a:r>
              <a:endParaRPr/>
            </a:p>
          </p:txBody>
        </p:sp>
      </p:gr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